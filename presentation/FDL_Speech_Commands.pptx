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3.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cf170f325144849" /><Relationship Type="http://schemas.openxmlformats.org/officeDocument/2006/relationships/extended-properties" Target="/docProps/app.xml" Id="Rfb6ba9af58b64f49" /><Relationship Type="http://schemas.openxmlformats.org/officeDocument/2006/relationships/officeDocument" Target="/ppt/presentation.xml" Id="Rae5ce3a2eb5c4a70" /></Relationships>
</file>

<file path=ppt/presentation.xml><?xml version="1.0" encoding="utf-8"?>
<p:presentation xmlns:p="http://schemas.openxmlformats.org/presentationml/2006/main">
  <p:sldMasterIdLst>
    <p:sldMasterId xmlns:r="http://schemas.openxmlformats.org/officeDocument/2006/relationships" id="2147483648" r:id="R6e1e46ed0e044705"/>
  </p:sldMasterIdLst>
  <p:notesMasterIdLst>
    <p:notesMasterId xmlns:r="http://schemas.openxmlformats.org/officeDocument/2006/relationships" r:id="R00c12bbe653946a4"/>
  </p:notesMasterIdLst>
  <p:sldIdLst>
    <p:sldId xmlns:r="http://schemas.openxmlformats.org/officeDocument/2006/relationships" id="256" r:id="R20e97837912c4476"/>
    <p:sldId xmlns:r="http://schemas.openxmlformats.org/officeDocument/2006/relationships" id="257" r:id="R0a13a1bd606b4000"/>
    <p:sldId xmlns:r="http://schemas.openxmlformats.org/officeDocument/2006/relationships" id="258" r:id="R912122a038014eb8"/>
    <p:sldId xmlns:r="http://schemas.openxmlformats.org/officeDocument/2006/relationships" id="259" r:id="Rae06a53c3f0d4078"/>
    <p:sldId xmlns:r="http://schemas.openxmlformats.org/officeDocument/2006/relationships" id="260" r:id="R34ddeb49ebb9479d"/>
    <p:sldId xmlns:r="http://schemas.openxmlformats.org/officeDocument/2006/relationships" id="261" r:id="Rd968a26a86704715"/>
    <p:sldId xmlns:r="http://schemas.openxmlformats.org/officeDocument/2006/relationships" id="262" r:id="Rca7a804fb5a94b04"/>
    <p:sldId xmlns:r="http://schemas.openxmlformats.org/officeDocument/2006/relationships" id="263" r:id="Rd3ff13df1e0f431b"/>
    <p:sldId xmlns:r="http://schemas.openxmlformats.org/officeDocument/2006/relationships" id="264" r:id="Ra818e8393b9e4adf"/>
    <p:sldId xmlns:r="http://schemas.openxmlformats.org/officeDocument/2006/relationships" id="265" r:id="R0034871587e44e01"/>
    <p:sldId xmlns:r="http://schemas.openxmlformats.org/officeDocument/2006/relationships" id="266" r:id="Rb2b064e62e97459c"/>
    <p:sldId xmlns:r="http://schemas.openxmlformats.org/officeDocument/2006/relationships" id="267" r:id="R6e45e4b7cf9f4b51"/>
    <p:sldId xmlns:r="http://schemas.openxmlformats.org/officeDocument/2006/relationships" id="268" r:id="R2c78f25fbd8b4449"/>
    <p:sldId xmlns:r="http://schemas.openxmlformats.org/officeDocument/2006/relationships" id="269" r:id="R0bdc6425e3ac4360"/>
    <p:sldId xmlns:r="http://schemas.openxmlformats.org/officeDocument/2006/relationships" id="270" r:id="Re286c1f428324b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cb98e4584074411" /><Relationship Type="http://schemas.openxmlformats.org/officeDocument/2006/relationships/slideMaster" Target="/ppt/slideMasters/slideMaster1.xml" Id="R6e1e46ed0e044705" /><Relationship Type="http://schemas.openxmlformats.org/officeDocument/2006/relationships/notesMaster" Target="/ppt/notesMasters/notesMaster1.xml" Id="R00c12bbe653946a4" /><Relationship Type="http://schemas.openxmlformats.org/officeDocument/2006/relationships/presProps" Target="/ppt/presProps.xml" Id="R07f34197f7b74f6c" /><Relationship Type="http://schemas.openxmlformats.org/officeDocument/2006/relationships/tableStyles" Target="/ppt/tableStyles.xml" Id="R419981cea2a746a2" /><Relationship Type="http://schemas.openxmlformats.org/officeDocument/2006/relationships/slide" Target="/ppt/slides/slide1.xml" Id="R20e97837912c4476" /><Relationship Type="http://schemas.openxmlformats.org/officeDocument/2006/relationships/slide" Target="/ppt/slides/slide2.xml" Id="R0a13a1bd606b4000" /><Relationship Type="http://schemas.openxmlformats.org/officeDocument/2006/relationships/slide" Target="/ppt/slides/slide3.xml" Id="R912122a038014eb8" /><Relationship Type="http://schemas.openxmlformats.org/officeDocument/2006/relationships/slide" Target="/ppt/slides/slide4.xml" Id="Rae06a53c3f0d4078" /><Relationship Type="http://schemas.openxmlformats.org/officeDocument/2006/relationships/slide" Target="/ppt/slides/slide5.xml" Id="R34ddeb49ebb9479d" /><Relationship Type="http://schemas.openxmlformats.org/officeDocument/2006/relationships/slide" Target="/ppt/slides/slide6.xml" Id="Rd968a26a86704715" /><Relationship Type="http://schemas.openxmlformats.org/officeDocument/2006/relationships/slide" Target="/ppt/slides/slide7.xml" Id="Rca7a804fb5a94b04" /><Relationship Type="http://schemas.openxmlformats.org/officeDocument/2006/relationships/slide" Target="/ppt/slides/slide8.xml" Id="Rd3ff13df1e0f431b" /><Relationship Type="http://schemas.openxmlformats.org/officeDocument/2006/relationships/slide" Target="/ppt/slides/slide9.xml" Id="Ra818e8393b9e4adf" /><Relationship Type="http://schemas.openxmlformats.org/officeDocument/2006/relationships/slide" Target="/ppt/slides/slide10.xml" Id="R0034871587e44e01" /><Relationship Type="http://schemas.openxmlformats.org/officeDocument/2006/relationships/slide" Target="/ppt/slides/slide11.xml" Id="Rb2b064e62e97459c" /><Relationship Type="http://schemas.openxmlformats.org/officeDocument/2006/relationships/slide" Target="/ppt/slides/slide12.xml" Id="R6e45e4b7cf9f4b51" /><Relationship Type="http://schemas.openxmlformats.org/officeDocument/2006/relationships/slide" Target="/ppt/slides/slide13.xml" Id="R2c78f25fbd8b4449" /><Relationship Type="http://schemas.openxmlformats.org/officeDocument/2006/relationships/slide" Target="/ppt/slides/slide14.xml" Id="R0bdc6425e3ac4360" /><Relationship Type="http://schemas.openxmlformats.org/officeDocument/2006/relationships/slide" Target="/ppt/slides/slide15.xml" Id="Re286c1f428324bc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62f0e358b5401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7c81d8f53614bba" /><Relationship Type="http://schemas.openxmlformats.org/officeDocument/2006/relationships/notesMaster" Target="/ppt/notesMasters/notesMaster1.xml" Id="R5604762e934a4a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8935d3111648bd" /><Relationship Type="http://schemas.openxmlformats.org/officeDocument/2006/relationships/notesMaster" Target="/ppt/notesMasters/notesMaster1.xml" Id="R4e42fc8281bc43bc"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912a65eac64fee" /><Relationship Type="http://schemas.openxmlformats.org/officeDocument/2006/relationships/notesMaster" Target="/ppt/notesMasters/notesMaster1.xml" Id="Rc9a3a5b876404dbd"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e958c14a254560" /><Relationship Type="http://schemas.openxmlformats.org/officeDocument/2006/relationships/notesMaster" Target="/ppt/notesMasters/notesMaster1.xml" Id="R4e3323bad2d847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557aeaad5d4b70" /><Relationship Type="http://schemas.openxmlformats.org/officeDocument/2006/relationships/notesMaster" Target="/ppt/notesMasters/notesMaster1.xml" Id="R24b2b73b088941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1707d1dca19a45a4" /><Relationship Type="http://schemas.openxmlformats.org/officeDocument/2006/relationships/notesMaster" Target="/ppt/notesMasters/notesMaster1.xml" Id="R6252bccdabaa469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41782815834fef" /><Relationship Type="http://schemas.openxmlformats.org/officeDocument/2006/relationships/notesMaster" Target="/ppt/notesMasters/notesMaster1.xml" Id="Rc8788bb4734b4f9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448ff069f543c0" /><Relationship Type="http://schemas.openxmlformats.org/officeDocument/2006/relationships/notesMaster" Target="/ppt/notesMasters/notesMaster1.xml" Id="R5830a27521864e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ff1a271bed24e67" /><Relationship Type="http://schemas.openxmlformats.org/officeDocument/2006/relationships/notesMaster" Target="/ppt/notesMasters/notesMaster1.xml" Id="Rbb2179708656439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7cead6ce524795" /><Relationship Type="http://schemas.openxmlformats.org/officeDocument/2006/relationships/notesMaster" Target="/ppt/notesMasters/notesMaster1.xml" Id="Rdd24f124fb8d4a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4f25cb37724ae7" /><Relationship Type="http://schemas.openxmlformats.org/officeDocument/2006/relationships/notesMaster" Target="/ppt/notesMasters/notesMaster1.xml" Id="Ra226036d0ca1474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c7fe5d45214d5a" /><Relationship Type="http://schemas.openxmlformats.org/officeDocument/2006/relationships/notesMaster" Target="/ppt/notesMasters/notesMaster1.xml" Id="R4e4ab961ffd24b4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e7da3eb34a24361" /><Relationship Type="http://schemas.openxmlformats.org/officeDocument/2006/relationships/notesMaster" Target="/ppt/notesMasters/notesMaster1.xml" Id="R93ce8a9197b042d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ce132f98af4e9f" /><Relationship Type="http://schemas.openxmlformats.org/officeDocument/2006/relationships/notesMaster" Target="/ppt/notesMasters/notesMaster1.xml" Id="R66b6fb2c9be24ff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b9e01213f914162" /><Relationship Type="http://schemas.openxmlformats.org/officeDocument/2006/relationships/notesMaster" Target="/ppt/notesMasters/notesMaster1.xml" Id="Re059b1b5203543c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a complete keyword-spotting system from scratch. The central question is not only which model scores highest, but which design decisions survive a strict speaker-independent protocol and controlled audio corruption.</a:t>
            </a:r>
          </a:p>
          <a:p xmlns:a="http://schemas.openxmlformats.org/drawingml/2006/main">
            <a:r>
              <a:t/>
            </a:r>
          </a:p>
          <a:p xmlns:a="http://schemas.openxmlformats.org/drawingml/2006/main">
            <a:r>
              <a:t>[Sources]</a:t>
            </a:r>
          </a:p>
          <a:p xmlns:a="http://schemas.openxmlformats.org/drawingml/2006/main">
            <a:r>
              <a:t>- Warden, Speech Commands: A Dataset for Limited-Vocabulary Speech Recognition, https://arxiv.org/abs/1804.03209</a:t>
            </a:r>
          </a:p>
          <a:p xmlns:a="http://schemas.openxmlformats.org/drawingml/2006/main">
            <a:r>
              <a:t>- Repository evidence: artifacts/figures/eda/class_spectrogram_examples.png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is 12-way classification. Ten labels are actionable words; unknown catches non-target speech; silence rejects background audio. The modeled dataset is near-balanced rather than exactly balanced, and we intentionally avoid pretrained encoders.</a:t>
            </a:r>
          </a:p>
          <a:p xmlns:a="http://schemas.openxmlformats.org/drawingml/2006/main">
            <a:r>
              <a:t/>
            </a:r>
          </a:p>
          <a:p xmlns:a="http://schemas.openxmlformats.org/drawingml/2006/main">
            <a:r>
              <a:t>[Sources]</a:t>
            </a:r>
          </a:p>
          <a:p xmlns:a="http://schemas.openxmlformats.org/drawingml/2006/main">
            <a:r>
              <a:t>- Repository protocol: docs/experiment_protocol.md</a:t>
            </a:r>
          </a:p>
          <a:p xmlns:a="http://schemas.openxmlformats.org/drawingml/2006/main">
            <a:r>
              <a:t>- Repository configuration: configs/e05_logmel_crnn_aug.yaml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release contains 30 spoken words, but the professor-defined task uses 12 modeled classes. Every target recording is retained. Unknown is sampled deterministically from non-target words and silence is constructed from reserved background regions, producing an approximately balanced, reproducible manifest.</a:t>
            </a:r>
          </a:p>
          <a:p xmlns:a="http://schemas.openxmlformats.org/drawingml/2006/main">
            <a:r>
              <a:t/>
            </a:r>
          </a:p>
          <a:p xmlns:a="http://schemas.openxmlformats.org/drawingml/2006/main">
            <a:r>
              <a:t>[Sources]</a:t>
            </a:r>
          </a:p>
          <a:p xmlns:a="http://schemas.openxmlformats.org/drawingml/2006/main">
            <a:r>
              <a:t>- Warden 2018, https://arxiv.org/abs/1804.03209</a:t>
            </a:r>
          </a:p>
          <a:p xmlns:a="http://schemas.openxmlformats.org/drawingml/2006/main">
            <a:r>
              <a:t>- Repository audit: artifacts/tables/eda_summary.json</a:t>
            </a:r>
          </a:p>
          <a:p xmlns:a="http://schemas.openxmlformats.org/drawingml/2006/main">
            <a:r>
              <a:t>- Repository figure: artifacts/figures/eda/modeling_distribution.png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Duration is nearly standardized, so fixed one-second tensors are natural. Energy is not standardized: quiet and loud speakers overlap across target and unknown classes. This motivates gain perturbation and real background mixing rather than assuming a clean recording level.</a:t>
            </a:r>
          </a:p>
          <a:p xmlns:a="http://schemas.openxmlformats.org/drawingml/2006/main">
            <a:r>
              <a:t/>
            </a:r>
          </a:p>
          <a:p xmlns:a="http://schemas.openxmlformats.org/drawingml/2006/main">
            <a:r>
              <a:t>[Sources]</a:t>
            </a:r>
          </a:p>
          <a:p xmlns:a="http://schemas.openxmlformats.org/drawingml/2006/main">
            <a:r>
              <a:t>- Repository figure: artifacts/figures/eda/duration_and_energy.png</a:t>
            </a:r>
          </a:p>
          <a:p xmlns:a="http://schemas.openxmlformats.org/drawingml/2006/main">
            <a:r>
              <a:t>- Repository table: artifacts/tables/eda_energy_sample.csv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Leakage is the biggest silent risk in audio. Official lists keep speakers disjoint. Synthetic silence uses non-overlapping temporal regions, and background recordings used for augmentation or robustness are reserved by time: the first 80 percent for training, the next 10 for validation, and the final 10 for testing. Automated guards fail on speaker overlap.</a:t>
            </a:r>
          </a:p>
          <a:p xmlns:a="http://schemas.openxmlformats.org/drawingml/2006/main">
            <a:r>
              <a:t/>
            </a:r>
          </a:p>
          <a:p xmlns:a="http://schemas.openxmlformats.org/drawingml/2006/main">
            <a:r>
              <a:t>[Sources]</a:t>
            </a:r>
          </a:p>
          <a:p xmlns:a="http://schemas.openxmlformats.org/drawingml/2006/main">
            <a:r>
              <a:t>- Repository manifest checks: src/fdl_speech_commands/data.py</a:t>
            </a:r>
          </a:p>
          <a:p xmlns:a="http://schemas.openxmlformats.org/drawingml/2006/main">
            <a:r>
              <a:t>- Repository noise partition: src/fdl_speech_commands/audio.py</a:t>
            </a:r>
          </a:p>
          <a:p xmlns:a="http://schemas.openxmlformats.org/drawingml/2006/main">
            <a:r>
              <a:t>- Repository tests: tests/test_data_protocol.py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standardize each clip to 16,000 samples, then apply a 30 millisecond Hann-window STFT with a 10 millisecond stride. Forty Mel filters compress frequency and the logarithm stabilizes amplitude. With no end padding, the implemented neural input is a 40 by 98 map normalized using training statistics only.</a:t>
            </a:r>
          </a:p>
          <a:p xmlns:a="http://schemas.openxmlformats.org/drawingml/2006/main">
            <a:r>
              <a:t/>
            </a:r>
          </a:p>
          <a:p xmlns:a="http://schemas.openxmlformats.org/drawingml/2006/main">
            <a:r>
              <a:t>[Sources]</a:t>
            </a:r>
          </a:p>
          <a:p xmlns:a="http://schemas.openxmlformats.org/drawingml/2006/main">
            <a:r>
              <a:t>- Repository feature implementation: src/fdl_speech_commands/features.py</a:t>
            </a:r>
          </a:p>
          <a:p xmlns:a="http://schemas.openxmlformats.org/drawingml/2006/main">
            <a:r>
              <a:t>- Repository configuration: configs/e05_logmel_crnn_aug.yaml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matrix is deliberately controlled. E01 changes the representation and capacity; E02 introduces convolution; E03 replaces standard convolution with depthwise-separable blocks; E04 changes only augmentation; E05 adds bidirectional temporal modeling. No experiment sees test labels during selection.</a:t>
            </a:r>
          </a:p>
          <a:p xmlns:a="http://schemas.openxmlformats.org/drawingml/2006/main">
            <a:r>
              <a:t/>
            </a:r>
          </a:p>
          <a:p xmlns:a="http://schemas.openxmlformats.org/drawingml/2006/main">
            <a:r>
              <a:t>[Sources]</a:t>
            </a:r>
          </a:p>
          <a:p xmlns:a="http://schemas.openxmlformats.org/drawingml/2006/main">
            <a:r>
              <a:t>- Repository configurations: configs/e01_mfcc_mlp.yaml through configs/e05_logmel_crnn_aug.yaml</a:t>
            </a:r>
          </a:p>
          <a:p xmlns:a="http://schemas.openxmlformats.org/drawingml/2006/main">
            <a:r>
              <a:t>- Repository protocol: docs/experiment_protocol.md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Parameter count is not a reliable proxy for fit. The MLP has the largest count but discards local time-frequency structure. The DS-CNN is six times smaller than the final CRNN yet strong. The CRNN pays a moderate parameter cost to model sequential context explicitly.</a:t>
            </a:r>
          </a:p>
          <a:p xmlns:a="http://schemas.openxmlformats.org/drawingml/2006/main">
            <a:r>
              <a:t/>
            </a:r>
          </a:p>
          <a:p xmlns:a="http://schemas.openxmlformats.org/drawingml/2006/main">
            <a:r>
              <a:t>[Sources]</a:t>
            </a:r>
          </a:p>
          <a:p xmlns:a="http://schemas.openxmlformats.org/drawingml/2006/main">
            <a:r>
              <a:t>- Repository model builders: src/fdl_speech_commands/models.py</a:t>
            </a:r>
          </a:p>
          <a:p xmlns:a="http://schemas.openxmlformats.org/drawingml/2006/main">
            <a:r>
              <a:t>- Repository summaries: artifacts/runs/*/model_summary.txt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five corrected runs use early stopping and the same data protocol. We rank on validation macro-F1 and then repeat the winner on two additional seeds. A protocol audit invalidated earlier artifacts because E04 was not a strict ablation and background noise was not split-aware; those artifacts were superseded, all affected models were retrained, and the corrected seed-42 model was frozen before the final evaluation.</a:t>
            </a:r>
          </a:p>
          <a:p xmlns:a="http://schemas.openxmlformats.org/drawingml/2006/main">
            <a:r>
              <a:t/>
            </a:r>
          </a:p>
          <a:p xmlns:a="http://schemas.openxmlformats.org/drawingml/2006/main">
            <a:r>
              <a:t>[Sources]</a:t>
            </a:r>
          </a:p>
          <a:p xmlns:a="http://schemas.openxmlformats.org/drawingml/2006/main">
            <a:r>
              <a:t>- Repository protocol revision: docs/experiment_protocol.md</a:t>
            </a:r>
          </a:p>
          <a:p xmlns:a="http://schemas.openxmlformats.org/drawingml/2006/main">
            <a:r>
              <a:t>- Repository seed study: artifacts/tables/seed_stability_validation.csv</a:t>
            </a:r>
          </a:p>
          <a:p xmlns:a="http://schemas.openxmlformats.org/drawingml/2006/main">
            <a:r>
              <a:t>- Repository frozen selection: artifacts/models/selection.json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corrected CRNN reaches 0.9399 validation macro-F1, 0.76 percentage points above the clean DS-CNN. The margin is not free: the final model is 6.24 times larger. The strict E03-to-E04 comparison also shows that augmentation trades some clean validation score for robustness.</a:t>
            </a:r>
          </a:p>
          <a:p xmlns:a="http://schemas.openxmlformats.org/drawingml/2006/main">
            <a:r>
              <a:t/>
            </a:r>
          </a:p>
          <a:p xmlns:a="http://schemas.openxmlformats.org/drawingml/2006/main">
            <a:r>
              <a:t>[Sources]</a:t>
            </a:r>
          </a:p>
          <a:p xmlns:a="http://schemas.openxmlformats.org/drawingml/2006/main">
            <a:r>
              <a:t>- Repository leaderboard: artifacts/tables/experiment_leaderboard.csv</a:t>
            </a:r>
          </a:p>
          <a:p xmlns:a="http://schemas.openxmlformats.org/drawingml/2006/main">
            <a:r>
              <a:t>- Repository validation metrics: artifacts/runs/*/validation_metrics.json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E03 and E04 now differ only in augmentation, making this a strict ablation. Augmentation lowers clean validation macro-F1 by 2.29 points but improves the extreme zero-decibel result by 50.20 points. The background corruption bank is split-aware, so these validation curves do not reuse the training region.</a:t>
            </a:r>
          </a:p>
          <a:p xmlns:a="http://schemas.openxmlformats.org/drawingml/2006/main">
            <a:r>
              <a:t/>
            </a:r>
          </a:p>
          <a:p xmlns:a="http://schemas.openxmlformats.org/drawingml/2006/main">
            <a:r>
              <a:t>[Sources]</a:t>
            </a:r>
          </a:p>
          <a:p xmlns:a="http://schemas.openxmlformats.org/drawingml/2006/main">
            <a:r>
              <a:t>- Park et al., SpecAugment, https://arxiv.org/abs/1904.08779</a:t>
            </a:r>
          </a:p>
          <a:p xmlns:a="http://schemas.openxmlformats.org/drawingml/2006/main">
            <a:r>
              <a:t>- Repository ablation: artifacts/tables/robustness_ablation_validation.csv</a:t>
            </a:r>
          </a:p>
          <a:p xmlns:a="http://schemas.openxmlformats.org/drawingml/2006/main">
            <a:r>
              <a:t>- Repository corruption implementation: src/fdl_speech_commands/evaluation.py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corrected protocol and frozen selection, the official test split was evaluated. Accuracy is 93.12 percent and macro-F1 is 0.9315. Ten-thousand stratified bootstrap samples give a macro-F1 interval from 0.9228 to 0.9402. The validation-to-test change is minus 0.85 percentage points.</a:t>
            </a:r>
          </a:p>
          <a:p xmlns:a="http://schemas.openxmlformats.org/drawingml/2006/main">
            <a:r>
              <a:t/>
            </a:r>
          </a:p>
          <a:p xmlns:a="http://schemas.openxmlformats.org/drawingml/2006/main">
            <a:r>
              <a:t>[Sources]</a:t>
            </a:r>
          </a:p>
          <a:p xmlns:a="http://schemas.openxmlformats.org/drawingml/2006/main">
            <a:r>
              <a:t>- Repository test metrics: artifacts/runs/e05_logmel_crnn_aug/evaluation_testing/metrics.json</a:t>
            </a:r>
          </a:p>
          <a:p xmlns:a="http://schemas.openxmlformats.org/drawingml/2006/main">
            <a:r>
              <a:t>- Repository confusion matrix: artifacts/runs/e05_logmel_crnn_aug/evaluation_testing/confusion_matrices.png</a:t>
            </a:r>
          </a:p>
          <a:p xmlns:a="http://schemas.openxmlformats.org/drawingml/2006/main">
            <a:r>
              <a:t>- Bootstrap implementation: src/fdl_speech_commands/evaluation.py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Temporal shifts of plus or minus 100 milliseconds cost at most 0.38 macro-F1 points. Background noise is the harder axis: zero decibels lowers macro-F1 by 11.16 points. Expected calibration error is 0.0303, and compiled feature extraction plus inference takes a 3.33 millisecond median on the recorded CPU machine.</a:t>
            </a:r>
          </a:p>
          <a:p xmlns:a="http://schemas.openxmlformats.org/drawingml/2006/main">
            <a:r>
              <a:t/>
            </a:r>
          </a:p>
          <a:p xmlns:a="http://schemas.openxmlformats.org/drawingml/2006/main">
            <a:r>
              <a:t>[Sources]</a:t>
            </a:r>
          </a:p>
          <a:p xmlns:a="http://schemas.openxmlformats.org/drawingml/2006/main">
            <a:r>
              <a:t>- Repository robustness: artifacts/runs/e05_logmel_crnn_aug/evaluation_testing/robustness.csv</a:t>
            </a:r>
          </a:p>
          <a:p xmlns:a="http://schemas.openxmlformats.org/drawingml/2006/main">
            <a:r>
              <a:t>- Repository calibration bins: artifacts/runs/e05_logmel_crnn_aug/evaluation_testing/calibration_bins.csv</a:t>
            </a:r>
          </a:p>
          <a:p xmlns:a="http://schemas.openxmlformats.org/drawingml/2006/main">
            <a:r>
              <a:t>- Repository latency and model size: artifacts/runs/e05_logmel_crnn_aug/evaluation_testing/metrics.json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Quantitative averages hide rare but important failures. Unknown is the weakest class at 0.840 F1, while silence-to-up is the most common directed confusion with 17 clips. All six most confident errors round to at least 0.998 confidence, so an aggregate ECE near three percent does not mean the model is never overconfident. Every exported example has a playable WAV.</a:t>
            </a:r>
          </a:p>
          <a:p xmlns:a="http://schemas.openxmlformats.org/drawingml/2006/main">
            <a:r>
              <a:t/>
            </a:r>
          </a:p>
          <a:p xmlns:a="http://schemas.openxmlformats.org/drawingml/2006/main">
            <a:r>
              <a:t>[Sources]</a:t>
            </a:r>
          </a:p>
          <a:p xmlns:a="http://schemas.openxmlformats.org/drawingml/2006/main">
            <a:r>
              <a:t>- Repository qualitative gallery: artifacts/runs/e05_logmel_crnn_aug/evaluation_testing/qualitative_gallery.png</a:t>
            </a:r>
          </a:p>
          <a:p xmlns:a="http://schemas.openxmlformats.org/drawingml/2006/main">
            <a:r>
              <a:t>- Repository sample index: artifacts/runs/e05_logmel_crnn_aug/evaluation_testing/qualitative_samples.csv</a:t>
            </a:r>
          </a:p>
          <a:p xmlns:a="http://schemas.openxmlformats.org/drawingml/2006/main">
            <a:r>
              <a:t>- Repository playable files: artifacts/runs/e05_logmel_crnn_aug/evaluation_testing/qualitative_audio/</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conclusion has three parts. First, preserving time-frequency structure and modeling temporal context produces the best corrected score: 0.9315 test macro-F1. Second, the compact DS-CNN remains a valid alternative when footprint dominates. Third, a strong average does not erase noise sensitivity, unknown speech, or rare confident errors. The repository reproduces every claim and supports a live inference demo.</a:t>
            </a:r>
          </a:p>
          <a:p xmlns:a="http://schemas.openxmlformats.org/drawingml/2006/main">
            <a:r>
              <a:t/>
            </a:r>
          </a:p>
          <a:p xmlns:a="http://schemas.openxmlformats.org/drawingml/2006/main">
            <a:r>
              <a:t>[Sources]</a:t>
            </a:r>
          </a:p>
          <a:p xmlns:a="http://schemas.openxmlformats.org/drawingml/2006/main">
            <a:r>
              <a:t>- Repository final report: docs/final_report.md</a:t>
            </a:r>
          </a:p>
          <a:p xmlns:a="http://schemas.openxmlformats.org/drawingml/2006/main">
            <a:r>
              <a:t>- Repository model card: docs/model_card.md</a:t>
            </a:r>
          </a:p>
          <a:p xmlns:a="http://schemas.openxmlformats.org/drawingml/2006/main">
            <a:r>
              <a:t>- Repository reproducibility guide: docs/reproducibility.md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43686dfc0f42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9f2cdaa40324ca3" /><Relationship Type="http://schemas.openxmlformats.org/officeDocument/2006/relationships/slideLayout" Target="/ppt/slideLayouts/slideLayout1.xml" Id="R695482d191eb44a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5482d191eb44a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f519e146ab34497" /><Relationship Type="http://schemas.openxmlformats.org/officeDocument/2006/relationships/image" Target="/ppt/media/image.png" Id="R81345f88880d4479" /><Relationship Type="http://schemas.openxmlformats.org/officeDocument/2006/relationships/notesSlide" Target="/ppt/notesSlides/notesSlide1.xml" Id="R455ea04082384f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152c3d989a485a" /><Relationship Type="http://schemas.openxmlformats.org/officeDocument/2006/relationships/notesSlide" Target="/ppt/notesSlides/notesSlide2.xml" Id="R1ed1614f12d94e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c22f52babe54d4b" /><Relationship Type="http://schemas.openxmlformats.org/officeDocument/2006/relationships/image" Target="/ppt/media/image2.png" Id="Reddbd40fee954ae3" /><Relationship Type="http://schemas.openxmlformats.org/officeDocument/2006/relationships/notesSlide" Target="/ppt/notesSlides/notesSlide3.xml" Id="R40c484b74b0b48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4d1d2fe406d406b" /><Relationship Type="http://schemas.openxmlformats.org/officeDocument/2006/relationships/image" Target="/ppt/media/image3.png" Id="R7b55816f4cf4493a" /><Relationship Type="http://schemas.openxmlformats.org/officeDocument/2006/relationships/notesSlide" Target="/ppt/notesSlides/notesSlide4.xml" Id="R85f4b1d8fc4a44a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08fb13fc3ce4037" /><Relationship Type="http://schemas.openxmlformats.org/officeDocument/2006/relationships/notesSlide" Target="/ppt/notesSlides/notesSlide5.xml" Id="R605d2aa5b2eb46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27bf3e5d3f94454" /><Relationship Type="http://schemas.openxmlformats.org/officeDocument/2006/relationships/notesSlide" Target="/ppt/notesSlides/notesSlide6.xml" Id="R4c2081625c8f46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a7055fccc4947df" /><Relationship Type="http://schemas.openxmlformats.org/officeDocument/2006/relationships/notesSlide" Target="/ppt/notesSlides/notesSlide7.xml" Id="R941c3ea57ebc4b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38ecac5b9be4aac" /><Relationship Type="http://schemas.openxmlformats.org/officeDocument/2006/relationships/notesSlide" Target="/ppt/notesSlides/notesSlide8.xml" Id="R308cb5853be148a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a305925a8b54edf" /><Relationship Type="http://schemas.openxmlformats.org/officeDocument/2006/relationships/notesSlide" Target="/ppt/notesSlides/notesSlide9.xml" Id="R04291a78bf9b40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effaa91aef54f9d" /><Relationship Type="http://schemas.openxmlformats.org/officeDocument/2006/relationships/chart" Target="/ppt/slides/charts/chart1.xml" Id="R942614dccdad4d69" /><Relationship Type="http://schemas.openxmlformats.org/officeDocument/2006/relationships/notesSlide" Target="/ppt/notesSlides/notesSlide10.xml" Id="Rfc765f0f8ef44d5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b066d2d039944bb" /><Relationship Type="http://schemas.openxmlformats.org/officeDocument/2006/relationships/chart" Target="/ppt/slides/charts/chart2.xml" Id="Rb817fed16d994214" /><Relationship Type="http://schemas.openxmlformats.org/officeDocument/2006/relationships/notesSlide" Target="/ppt/notesSlides/notesSlide11.xml" Id="Rb78893f7169d4a4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7da82d4cdcf402f" /><Relationship Type="http://schemas.openxmlformats.org/officeDocument/2006/relationships/image" Target="/ppt/media/image4.png" Id="Rb48cd50c69cf4652" /><Relationship Type="http://schemas.openxmlformats.org/officeDocument/2006/relationships/notesSlide" Target="/ppt/notesSlides/notesSlide12.xml" Id="Re9be7484088c402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3f0ac9833644ad5" /><Relationship Type="http://schemas.openxmlformats.org/officeDocument/2006/relationships/chart" Target="/ppt/slides/charts/chart3.xml" Id="R39a551da7da6405f" /><Relationship Type="http://schemas.openxmlformats.org/officeDocument/2006/relationships/notesSlide" Target="/ppt/notesSlides/notesSlide13.xml" Id="R69b3489efdf549f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40ad3d71e2e419d" /><Relationship Type="http://schemas.openxmlformats.org/officeDocument/2006/relationships/image" Target="/ppt/media/image5.png" Id="Rbbfe69f2b67b4268" /><Relationship Type="http://schemas.openxmlformats.org/officeDocument/2006/relationships/notesSlide" Target="/ppt/notesSlides/notesSlide14.xml" Id="Rfd4827a3692145a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cf980bd2b464a9d" /><Relationship Type="http://schemas.openxmlformats.org/officeDocument/2006/relationships/notesSlide" Target="/ppt/notesSlides/notesSlide15.xml" Id="R5a10e5ca805a451c" /></Relationships>
</file>

<file path=ppt/slides/charts/chart1.xml><?xml version="1.0" encoding="utf-8"?>
<c:chartSpace xmlns:c="http://schemas.openxmlformats.org/drawingml/2006/chart">
  <c:lang val="en-US"/>
  <c:chart>
    <c:plotArea>
      <c:barChart>
        <c:barDir val="bar"/>
        <c:grouping val="clustered"/>
        <c:varyColors val="0"/>
        <c:ser>
          <c:idx val="0"/>
          <c:order val="0"/>
          <c:tx>
            <c:v>Validation macro-F1</c:v>
          </c:tx>
          <c:spPr>
            <a:solidFill xmlns:a="http://schemas.openxmlformats.org/drawingml/2006/main">
              <a:srgbClr val="3D8DFF"/>
            </a:solidFill>
          </c:spPr>
          <c:dPt>
            <c:idx val="0"/>
            <c:invertIfNegative val="0"/>
            <c:spPr>
              <a:solidFill xmlns:a="http://schemas.openxmlformats.org/drawingml/2006/main">
                <a:srgbClr val="B8BCC4"/>
              </a:solidFill>
            </c:spPr>
          </c:dPt>
          <c:dPt>
            <c:idx val="1"/>
            <c:invertIfNegative val="0"/>
            <c:spPr>
              <a:solidFill xmlns:a="http://schemas.openxmlformats.org/drawingml/2006/main">
                <a:srgbClr val="B8BCC4"/>
              </a:solidFill>
            </c:spPr>
          </c:dPt>
          <c:dPt>
            <c:idx val="2"/>
            <c:invertIfNegative val="0"/>
            <c:spPr>
              <a:solidFill xmlns:a="http://schemas.openxmlformats.org/drawingml/2006/main">
                <a:srgbClr val="7B2CBF"/>
              </a:solidFill>
            </c:spPr>
          </c:dPt>
          <c:dPt>
            <c:idx val="3"/>
            <c:invertIfNegative val="0"/>
            <c:spPr>
              <a:solidFill xmlns:a="http://schemas.openxmlformats.org/drawingml/2006/main">
                <a:srgbClr val="7B2CBF"/>
              </a:solidFill>
            </c:spPr>
          </c:dPt>
          <c:dPt>
            <c:idx val="4"/>
            <c:invertIfNegative val="0"/>
            <c:spPr>
              <a:solidFill xmlns:a="http://schemas.openxmlformats.org/drawingml/2006/main">
                <a:srgbClr val="3D8DFF"/>
              </a:solidFill>
            </c:spPr>
          </c:dPt>
          <c:cat>
            <c:strLit>
              <c:ptCount val="5"/>
              <c:pt idx="0">
                <c:v>E01 MFCC MLP</c:v>
              </c:pt>
              <c:pt idx="1">
                <c:v>E02 CNN</c:v>
              </c:pt>
              <c:pt idx="2">
                <c:v>E04 DS-CNN + aug</c:v>
              </c:pt>
              <c:pt idx="3">
                <c:v>E03 DS-CNN</c:v>
              </c:pt>
              <c:pt idx="4">
                <c:v>E05 CRNN + aug</c:v>
              </c:pt>
            </c:strLit>
          </c:cat>
          <c:val>
            <c:numLit>
              <c:formatCode>General</c:formatCode>
              <c:ptCount val="5"/>
              <c:pt idx="0">
                <c:v>0.839</c:v>
              </c:pt>
              <c:pt idx="1">
                <c:v>0.8759</c:v>
              </c:pt>
              <c:pt idx="2">
                <c:v>0.9095</c:v>
              </c:pt>
              <c:pt idx="3">
                <c:v>0.9324</c:v>
              </c:pt>
              <c:pt idx="4">
                <c:v>0.9399</c:v>
              </c:pt>
            </c:numLit>
          </c:val>
        </c:ser>
        <c:dLbls>
          <c:showLegendKey val="0"/>
          <c:showVal val="0"/>
          <c:showCatName val="0"/>
          <c:showSerName val="0"/>
          <c:showPercent val="0"/>
          <c:showBubbleSize val="0"/>
          <c:showLeaderLines val="0"/>
        </c:dLbls>
        <c:gapWidth val="46"/>
        <c:axId val="48650112"/>
        <c:axId val="48672768"/>
      </c:barChart>
      <c:catAx>
        <c:axId val="48650112"/>
        <c:scaling>
          <c:orientation val="minMax"/>
        </c:scaling>
        <c:delete val="0"/>
        <c:axPos val="l"/>
        <c:majorGridlines>
          <c:spPr>
            <a:ln xmlns:a="http://schemas.openxmlformats.org/drawingml/2006/main" w="9525">
              <a:solidFill>
                <a:srgbClr val="EDEDED"/>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9616B"/>
                </a:solidFil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00000"/>
                </a:solidFil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lineChart>
        <c:grouping val="standard"/>
        <c:varyColors val="0"/>
        <c:ser>
          <c:idx val="0"/>
          <c:order val="0"/>
          <c:tx>
            <c:v>E03 DS-CNN</c:v>
          </c:tx>
          <c:spPr>
            <a:ln xmlns:a="http://schemas.openxmlformats.org/drawingml/2006/main" w="38100">
              <a:solidFill>
                <a:srgbClr val="B8BCC4"/>
              </a:solidFill>
              <a:prstDash val="solid"/>
            </a:ln>
          </c:spPr>
          <c:marker>
            <c:symbol val="circle"/>
            <c:size val="7"/>
            <c:spPr>
              <a:solidFill xmlns:a="http://schemas.openxmlformats.org/drawingml/2006/main">
                <a:srgbClr val="B8BCC4"/>
              </a:solidFill>
            </c:spPr>
          </c:marker>
          <c:cat>
            <c:strLit>
              <c:ptCount val="4"/>
              <c:pt idx="0">
                <c:v>clean</c:v>
              </c:pt>
              <c:pt idx="1">
                <c:v>20 dB</c:v>
              </c:pt>
              <c:pt idx="2">
                <c:v>10 dB</c:v>
              </c:pt>
              <c:pt idx="3">
                <c:v>0 dB</c:v>
              </c:pt>
            </c:strLit>
          </c:cat>
          <c:val>
            <c:numLit>
              <c:formatCode>General</c:formatCode>
              <c:ptCount val="4"/>
              <c:pt idx="0">
                <c:v>0.9324</c:v>
              </c:pt>
              <c:pt idx="1">
                <c:v>0.8644</c:v>
              </c:pt>
              <c:pt idx="2">
                <c:v>0.6855</c:v>
              </c:pt>
              <c:pt idx="3">
                <c:v>0.2093</c:v>
              </c:pt>
            </c:numLit>
          </c:val>
        </c:ser>
        <c:ser>
          <c:idx val="1"/>
          <c:order val="1"/>
          <c:tx>
            <c:v>E04 DS-CNN + aug</c:v>
          </c:tx>
          <c:spPr>
            <a:ln xmlns:a="http://schemas.openxmlformats.org/drawingml/2006/main" w="38100">
              <a:solidFill>
                <a:srgbClr val="7B2CBF"/>
              </a:solidFill>
              <a:prstDash val="solid"/>
            </a:ln>
          </c:spPr>
          <c:marker>
            <c:symbol val="circle"/>
            <c:size val="7"/>
            <c:spPr>
              <a:solidFill xmlns:a="http://schemas.openxmlformats.org/drawingml/2006/main">
                <a:srgbClr val="7B2CBF"/>
              </a:solidFill>
            </c:spPr>
          </c:marker>
          <c:cat>
            <c:strLit>
              <c:ptCount val="4"/>
              <c:pt idx="0">
                <c:v>clean</c:v>
              </c:pt>
              <c:pt idx="1">
                <c:v>20 dB</c:v>
              </c:pt>
              <c:pt idx="2">
                <c:v>10 dB</c:v>
              </c:pt>
              <c:pt idx="3">
                <c:v>0 dB</c:v>
              </c:pt>
            </c:strLit>
          </c:cat>
          <c:val>
            <c:numLit>
              <c:formatCode>General</c:formatCode>
              <c:ptCount val="4"/>
              <c:pt idx="0">
                <c:v>0.9095</c:v>
              </c:pt>
              <c:pt idx="1">
                <c:v>0.8991</c:v>
              </c:pt>
              <c:pt idx="2">
                <c:v>0.8664</c:v>
              </c:pt>
              <c:pt idx="3">
                <c:v>0.7112</c:v>
              </c:pt>
            </c:numLit>
          </c:val>
        </c:ser>
        <c:ser>
          <c:idx val="2"/>
          <c:order val="2"/>
          <c:tx>
            <c:v>E05 CRNN + aug</c:v>
          </c:tx>
          <c:spPr>
            <a:ln xmlns:a="http://schemas.openxmlformats.org/drawingml/2006/main" w="38100">
              <a:solidFill>
                <a:srgbClr val="3D8DFF"/>
              </a:solidFill>
              <a:prstDash val="solid"/>
            </a:ln>
          </c:spPr>
          <c:marker>
            <c:symbol val="circle"/>
            <c:size val="7"/>
            <c:spPr>
              <a:solidFill xmlns:a="http://schemas.openxmlformats.org/drawingml/2006/main">
                <a:srgbClr val="3D8DFF"/>
              </a:solidFill>
            </c:spPr>
          </c:marker>
          <c:cat>
            <c:strLit>
              <c:ptCount val="4"/>
              <c:pt idx="0">
                <c:v>clean</c:v>
              </c:pt>
              <c:pt idx="1">
                <c:v>20 dB</c:v>
              </c:pt>
              <c:pt idx="2">
                <c:v>10 dB</c:v>
              </c:pt>
              <c:pt idx="3">
                <c:v>0 dB</c:v>
              </c:pt>
            </c:strLit>
          </c:cat>
          <c:val>
            <c:numLit>
              <c:formatCode>General</c:formatCode>
              <c:ptCount val="4"/>
              <c:pt idx="0">
                <c:v>0.9399</c:v>
              </c:pt>
              <c:pt idx="1">
                <c:v>0.9292</c:v>
              </c:pt>
              <c:pt idx="2">
                <c:v>0.9015</c:v>
              </c:pt>
              <c:pt idx="3">
                <c:v>0.7841</c:v>
              </c:pt>
            </c:numLit>
          </c:val>
        </c:ser>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500">
                <a:solidFill>
                  <a:srgbClr val="000000"/>
                </a:solidFill>
              </a:defRPr>
            </a:pPr>
          </a:p>
        </c:txPr>
        <c:crossAx val="48672768"/>
      </c:catAx>
      <c:valAx>
        <c:axId val="48672768"/>
        <c:scaling>
          <c:orientation val="minMax"/>
          <c:max val="1"/>
          <c:min val="0"/>
        </c:scaling>
        <c:delete val="0"/>
        <c:axPos val="l"/>
        <c:majorGridlines>
          <c:spPr>
            <a:ln xmlns:a="http://schemas.openxmlformats.org/drawingml/2006/main" w="9525">
              <a:solidFill>
                <a:srgbClr val="EDEDED"/>
              </a:solidFill>
              <a:prstDash val="solid"/>
            </a:ln>
          </c:spPr>
        </c:majorGridlines>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9616B"/>
                </a:solidFill>
              </a:defRPr>
            </a:pPr>
          </a:p>
        </c:txPr>
        <c:crossAx val="48650112"/>
        <c:crossBetween val="between"/>
        <c:majorUnit val="0.2"/>
      </c:valAx>
      <c:spPr>
        <a:noFill xmlns:a="http://schemas.openxmlformats.org/drawingml/2006/main"/>
        <a:ln xmlns:a="http://schemas.openxmlformats.org/drawingml/2006/main" w="0">
          <a:solidFill>
            <a:srgbClr val="FFFFFF"/>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000000"/>
              </a:solidFill>
            </a:defRPr>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lineChart>
        <c:grouping val="standard"/>
        <c:varyColors val="0"/>
        <c:ser>
          <c:idx val="0"/>
          <c:order val="0"/>
          <c:tx>
            <c:v>Test macro-F1</c:v>
          </c:tx>
          <c:spPr>
            <a:ln xmlns:a="http://schemas.openxmlformats.org/drawingml/2006/main" w="47625">
              <a:solidFill>
                <a:srgbClr val="3D8DFF"/>
              </a:solidFill>
              <a:prstDash val="solid"/>
            </a:ln>
          </c:spPr>
          <c:marker>
            <c:symbol val="circle"/>
            <c:size val="8"/>
            <c:spPr>
              <a:solidFill xmlns:a="http://schemas.openxmlformats.org/drawingml/2006/main">
                <a:srgbClr val="3D8DFF"/>
              </a:solidFill>
            </c:spPr>
          </c:marker>
          <c:cat>
            <c:strLit>
              <c:ptCount val="4"/>
              <c:pt idx="0">
                <c:v>clean</c:v>
              </c:pt>
              <c:pt idx="1">
                <c:v>20 dB</c:v>
              </c:pt>
              <c:pt idx="2">
                <c:v>10 dB</c:v>
              </c:pt>
              <c:pt idx="3">
                <c:v>0 dB</c:v>
              </c:pt>
            </c:strLit>
          </c:cat>
          <c:val>
            <c:numLit>
              <c:formatCode>General</c:formatCode>
              <c:ptCount val="4"/>
              <c:pt idx="0">
                <c:v>0.9315</c:v>
              </c:pt>
              <c:pt idx="1">
                <c:v>0.9246</c:v>
              </c:pt>
              <c:pt idx="2">
                <c:v>0.9106</c:v>
              </c:pt>
              <c:pt idx="3">
                <c:v>0.8199</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00000"/>
                </a:solidFill>
              </a:defRPr>
            </a:pPr>
          </a:p>
        </c:txPr>
        <c:crossAx val="48672768"/>
      </c:catAx>
      <c:valAx>
        <c:axId val="48672768"/>
        <c:scaling>
          <c:orientation val="minMax"/>
          <c:max val="0.96"/>
          <c:min val="0.75"/>
        </c:scaling>
        <c:delete val="0"/>
        <c:axPos val="l"/>
        <c:majorGridlines>
          <c:spPr>
            <a:ln xmlns:a="http://schemas.openxmlformats.org/drawingml/2006/main" w="9525">
              <a:solidFill>
                <a:srgbClr val="EDEDED"/>
              </a:solidFill>
              <a:prstDash val="solid"/>
            </a:ln>
          </c:spPr>
        </c:majorGridlines>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9616B"/>
                </a:solidFill>
              </a:defRPr>
            </a:pPr>
          </a:p>
        </c:txPr>
        <c:crossAx val="48650112"/>
        <c:crossBetween val="between"/>
        <c:majorUnit val="0.05"/>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17028A-6916-4AF5-9591-8E2E9F0484B9}"/>
              </a:ext>
            </a:extLst>
          </p:cNvPr>
          <p:cNvSpPr>
            <a:spLocks xmlns:a="http://schemas.openxmlformats.org/drawingml/2006/main" noGrp="1"/>
          </p:cNvSpPr>
          <p:nvPr/>
        </p:nvSpPr>
        <p:spPr>
          <a:xfrm xmlns:a="http://schemas.openxmlformats.org/drawingml/2006/main">
            <a:off x="457200" y="3619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9616B"/>
                </a:solidFill>
                <a:latin typeface="Arial"/>
                <a:ea typeface="Arial"/>
                <a:cs typeface="Arial"/>
              </a:defRPr>
            </a:pPr>
            <a:r>
              <a:rPr sz="1350" b="1">
                <a:solidFill>
                  <a:srgbClr val="59616B"/>
                </a:solidFill>
                <a:latin typeface="Arial"/>
                <a:ea typeface="Arial"/>
                <a:cs typeface="Arial"/>
              </a:rPr>
              <a:t>FOUNDATIONS OF DEEP LEARNING</a:t>
            </a:r>
          </a:p>
        </p:txBody>
      </p:sp>
      <p:sp>
        <p:nvSpPr>
          <p:cNvPr id="2" name="deck-title">
            <a:extLst xmlns:a="http://schemas.openxmlformats.org/drawingml/2006/main">
              <a:ext uri="{FF2B5EF4-FFF2-40B4-BE49-F238E27FC236}">
                <a16:creationId xmlns:a16="http://schemas.microsoft.com/office/drawing/2014/main" id="{326A694E-162C-47CC-803A-3991F8495F2F}"/>
              </a:ext>
            </a:extLst>
          </p:cNvPr>
          <p:cNvSpPr>
            <a:spLocks xmlns:a="http://schemas.openxmlformats.org/drawingml/2006/main" noGrp="1"/>
          </p:cNvSpPr>
          <p:nvPr/>
        </p:nvSpPr>
        <p:spPr>
          <a:xfrm xmlns:a="http://schemas.openxmlformats.org/drawingml/2006/main">
            <a:off x="457200" y="1000125"/>
            <a:ext cx="5286375"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950" b="1">
                <a:solidFill>
                  <a:srgbClr val="000000"/>
                </a:solidFill>
                <a:latin typeface="Arial"/>
                <a:ea typeface="Arial"/>
                <a:cs typeface="Arial"/>
              </a:defRPr>
            </a:pPr>
            <a:r>
              <a:rPr sz="4950" b="1">
                <a:solidFill>
                  <a:srgbClr val="000000"/>
                </a:solidFill>
                <a:latin typeface="Arial"/>
                <a:ea typeface="Arial"/>
                <a:cs typeface="Arial"/>
              </a:rPr>
              <a:t>Robust keyword</a:t>
            </a:r>
          </a:p>
          <a:p xmlns:a="http://schemas.openxmlformats.org/drawingml/2006/main">
            <a:pPr algn="l">
              <a:buNone/>
              <a:defRPr sz="4950" b="1">
                <a:solidFill>
                  <a:srgbClr val="000000"/>
                </a:solidFill>
                <a:latin typeface="Arial"/>
                <a:ea typeface="Arial"/>
                <a:cs typeface="Arial"/>
              </a:defRPr>
            </a:pPr>
            <a:r>
              <a:rPr sz="4950" b="1">
                <a:solidFill>
                  <a:srgbClr val="000000"/>
                </a:solidFill>
                <a:latin typeface="Arial"/>
                <a:ea typeface="Arial"/>
                <a:cs typeface="Arial"/>
              </a:rPr>
              <a:t>spotting from scratch</a:t>
            </a:r>
          </a:p>
        </p:txBody>
      </p:sp>
      <p:sp>
        <p:nvSpPr>
          <p:cNvPr id="3" name="">
            <a:extLst xmlns:a="http://schemas.openxmlformats.org/drawingml/2006/main">
              <a:ext uri="{FF2B5EF4-FFF2-40B4-BE49-F238E27FC236}">
                <a16:creationId xmlns:a16="http://schemas.microsoft.com/office/drawing/2014/main" id="{D319E7E4-C171-4B27-BC61-CA55458D78BD}"/>
              </a:ext>
            </a:extLst>
          </p:cNvPr>
          <p:cNvSpPr>
            <a:spLocks xmlns:a="http://schemas.openxmlformats.org/drawingml/2006/main" noGrp="1"/>
          </p:cNvSpPr>
          <p:nvPr/>
        </p:nvSpPr>
        <p:spPr>
          <a:xfrm xmlns:a="http://schemas.openxmlformats.org/drawingml/2006/main">
            <a:off x="457200" y="3333750"/>
            <a:ext cx="50006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0">
                <a:solidFill>
                  <a:srgbClr val="59616B"/>
                </a:solidFill>
                <a:latin typeface="Arial"/>
                <a:ea typeface="Arial"/>
                <a:cs typeface="Arial"/>
              </a:defRPr>
            </a:pPr>
            <a:r>
              <a:rPr sz="2400" b="0">
                <a:solidFill>
                  <a:srgbClr val="59616B"/>
                </a:solidFill>
                <a:latin typeface="Arial"/>
                <a:ea typeface="Arial"/>
                <a:cs typeface="Arial"/>
              </a:rPr>
              <a:t>A leakage-safe study of audio representations, compact neural networks, and failure modes.</a:t>
            </a:r>
          </a:p>
        </p:txBody>
      </p:sp>
      <p:sp>
        <p:nvSpPr>
          <p:cNvPr id="4" name="">
            <a:extLst xmlns:a="http://schemas.openxmlformats.org/drawingml/2006/main">
              <a:ext uri="{FF2B5EF4-FFF2-40B4-BE49-F238E27FC236}">
                <a16:creationId xmlns:a16="http://schemas.microsoft.com/office/drawing/2014/main" id="{3F163CC5-5F70-48FB-BAEB-CAA0AD2DB7C3}"/>
              </a:ext>
            </a:extLst>
          </p:cNvPr>
          <p:cNvSpPr>
            <a:spLocks xmlns:a="http://schemas.openxmlformats.org/drawingml/2006/main" noGrp="1"/>
          </p:cNvSpPr>
          <p:nvPr/>
        </p:nvSpPr>
        <p:spPr>
          <a:xfrm xmlns:a="http://schemas.openxmlformats.org/drawingml/2006/main">
            <a:off x="457200" y="5095875"/>
            <a:ext cx="5286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Simone (INSERT SURNAME)  |  Vlad (INSERT SURNAME)  |  INSERT FULL NAME</a:t>
            </a:r>
          </a:p>
        </p:txBody>
      </p:sp>
      <p:sp>
        <p:nvSpPr>
          <p:cNvPr id="5" name="">
            <a:extLst xmlns:a="http://schemas.openxmlformats.org/drawingml/2006/main">
              <a:ext uri="{FF2B5EF4-FFF2-40B4-BE49-F238E27FC236}">
                <a16:creationId xmlns:a16="http://schemas.microsoft.com/office/drawing/2014/main" id="{0F98E848-5F59-4CCA-A298-18C781EEA7A0}"/>
              </a:ext>
            </a:extLst>
          </p:cNvPr>
          <p:cNvSpPr>
            <a:spLocks xmlns:a="http://schemas.openxmlformats.org/drawingml/2006/main" noGrp="1"/>
          </p:cNvSpPr>
          <p:nvPr/>
        </p:nvSpPr>
        <p:spPr>
          <a:xfrm xmlns:a="http://schemas.openxmlformats.org/drawingml/2006/main">
            <a:off x="457200" y="5810250"/>
            <a:ext cx="5286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9616B"/>
                </a:solidFill>
                <a:latin typeface="Arial"/>
                <a:ea typeface="Arial"/>
                <a:cs typeface="Arial"/>
              </a:defRPr>
            </a:pPr>
            <a:r>
              <a:rPr sz="1350" b="0">
                <a:solidFill>
                  <a:srgbClr val="59616B"/>
                </a:solidFill>
                <a:latin typeface="Arial"/>
                <a:ea typeface="Arial"/>
                <a:cs typeface="Arial"/>
              </a:rPr>
              <a:t>Academic Year 2025/2026  |  15 September 2026</a:t>
            </a:r>
          </a:p>
        </p:txBody>
      </p:sp>
      <p:sp>
        <p:nvSpPr>
          <p:cNvPr id="6" name="">
            <a:extLst xmlns:a="http://schemas.openxmlformats.org/drawingml/2006/main">
              <a:ext uri="{FF2B5EF4-FFF2-40B4-BE49-F238E27FC236}">
                <a16:creationId xmlns:a16="http://schemas.microsoft.com/office/drawing/2014/main" id="{0AB7516B-71C1-40E5-893C-C33E6CE8B377}"/>
              </a:ext>
            </a:extLst>
          </p:cNvPr>
          <p:cNvSpPr>
            <a:spLocks xmlns:a="http://schemas.openxmlformats.org/drawingml/2006/main" noGrp="1"/>
          </p:cNvSpPr>
          <p:nvPr/>
        </p:nvSpPr>
        <p:spPr>
          <a:xfrm xmlns:a="http://schemas.openxmlformats.org/drawingml/2006/main">
            <a:off x="6191250" y="361950"/>
            <a:ext cx="5543550" cy="5657850"/>
          </a:xfrm>
          <a:prstGeom xmlns:a="http://schemas.openxmlformats.org/drawingml/2006/main" prst="rect">
            <a:avLst/>
          </a:prstGeom>
          <a:solidFill xmlns:a="http://schemas.openxmlformats.org/drawingml/2006/main">
            <a:srgbClr val="F5F0F8"/>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1345f88880d4479"/>
          <a:stretch xmlns:a="http://schemas.openxmlformats.org/drawingml/2006/main"/>
        </p:blipFill>
        <p:spPr>
          <a:xfrm xmlns:a="http://schemas.openxmlformats.org/drawingml/2006/main">
            <a:off x="6569319" y="361950"/>
            <a:ext cx="4787412" cy="56578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FDCB54D-AEB5-4F23-9CA3-DAE811228A71}"/>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01</a:t>
            </a:r>
          </a:p>
        </p:txBody>
      </p:sp>
    </p:spTree>
    <p:extLst>
      <p:ext uri="{BB962C8B-B14F-4D97-AF65-F5344CB8AC3E}">
        <p14:creationId xmlns:p14="http://schemas.microsoft.com/office/powerpoint/2010/main" val="67009302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7AA9D66-8267-4F71-81C4-03DACFAD2079}"/>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2-title">
            <a:extLst xmlns:a="http://schemas.openxmlformats.org/drawingml/2006/main">
              <a:ext uri="{FF2B5EF4-FFF2-40B4-BE49-F238E27FC236}">
                <a16:creationId xmlns:a16="http://schemas.microsoft.com/office/drawing/2014/main" id="{4FDF616C-77E8-4DAC-AEDF-860C70CA66AE}"/>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One second of audio becomes one reliable intent</a:t>
            </a:r>
          </a:p>
        </p:txBody>
      </p:sp>
      <p:sp>
        <p:nvSpPr>
          <p:cNvPr id="3" name="">
            <a:extLst xmlns:a="http://schemas.openxmlformats.org/drawingml/2006/main">
              <a:ext uri="{FF2B5EF4-FFF2-40B4-BE49-F238E27FC236}">
                <a16:creationId xmlns:a16="http://schemas.microsoft.com/office/drawing/2014/main" id="{9BEB4359-07F3-405B-BD06-7697356B8901}"/>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09641B5F-FD71-4ED8-8022-33C19C2F42F8}"/>
              </a:ext>
            </a:extLst>
          </p:cNvPr>
          <p:cNvSpPr>
            <a:spLocks xmlns:a="http://schemas.openxmlformats.org/drawingml/2006/main" noGrp="1"/>
          </p:cNvSpPr>
          <p:nvPr/>
        </p:nvSpPr>
        <p:spPr>
          <a:xfrm xmlns:a="http://schemas.openxmlformats.org/drawingml/2006/main">
            <a:off x="457200" y="14478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59616B"/>
                </a:solidFill>
                <a:latin typeface="Arial"/>
                <a:ea typeface="Arial"/>
                <a:cs typeface="Arial"/>
              </a:defRPr>
            </a:pPr>
            <a:r>
              <a:rPr sz="1650" b="1">
                <a:solidFill>
                  <a:srgbClr val="59616B"/>
                </a:solidFill>
                <a:latin typeface="Arial"/>
                <a:ea typeface="Arial"/>
                <a:cs typeface="Arial"/>
              </a:rPr>
              <a:t>Input</a:t>
            </a:r>
          </a:p>
        </p:txBody>
      </p:sp>
      <p:sp>
        <p:nvSpPr>
          <p:cNvPr id="5" name="">
            <a:extLst xmlns:a="http://schemas.openxmlformats.org/drawingml/2006/main">
              <a:ext uri="{FF2B5EF4-FFF2-40B4-BE49-F238E27FC236}">
                <a16:creationId xmlns:a16="http://schemas.microsoft.com/office/drawing/2014/main" id="{63F453E5-25DA-4153-A248-CF118DBBB233}"/>
              </a:ext>
            </a:extLst>
          </p:cNvPr>
          <p:cNvSpPr>
            <a:spLocks xmlns:a="http://schemas.openxmlformats.org/drawingml/2006/main" noGrp="1"/>
          </p:cNvSpPr>
          <p:nvPr/>
        </p:nvSpPr>
        <p:spPr>
          <a:xfrm xmlns:a="http://schemas.openxmlformats.org/drawingml/2006/main">
            <a:off x="457200" y="1790700"/>
            <a:ext cx="542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A mono waveform sampled at 16 kHz</a:t>
            </a:r>
          </a:p>
        </p:txBody>
      </p:sp>
      <p:sp>
        <p:nvSpPr>
          <p:cNvPr id="6" name="">
            <a:extLst xmlns:a="http://schemas.openxmlformats.org/drawingml/2006/main">
              <a:ext uri="{FF2B5EF4-FFF2-40B4-BE49-F238E27FC236}">
                <a16:creationId xmlns:a16="http://schemas.microsoft.com/office/drawing/2014/main" id="{D093AACE-6882-4C61-A35D-5159FEE4ABC6}"/>
              </a:ext>
            </a:extLst>
          </p:cNvPr>
          <p:cNvSpPr>
            <a:spLocks xmlns:a="http://schemas.openxmlformats.org/drawingml/2006/main" noGrp="1"/>
          </p:cNvSpPr>
          <p:nvPr/>
        </p:nvSpPr>
        <p:spPr>
          <a:xfrm xmlns:a="http://schemas.openxmlformats.org/drawingml/2006/main">
            <a:off x="6429375" y="14478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59616B"/>
                </a:solidFill>
                <a:latin typeface="Arial"/>
                <a:ea typeface="Arial"/>
                <a:cs typeface="Arial"/>
              </a:defRPr>
            </a:pPr>
            <a:r>
              <a:rPr sz="1650" b="1">
                <a:solidFill>
                  <a:srgbClr val="59616B"/>
                </a:solidFill>
                <a:latin typeface="Arial"/>
                <a:ea typeface="Arial"/>
                <a:cs typeface="Arial"/>
              </a:rPr>
              <a:t>Output</a:t>
            </a:r>
          </a:p>
        </p:txBody>
      </p:sp>
      <p:sp>
        <p:nvSpPr>
          <p:cNvPr id="7" name="">
            <a:extLst xmlns:a="http://schemas.openxmlformats.org/drawingml/2006/main">
              <a:ext uri="{FF2B5EF4-FFF2-40B4-BE49-F238E27FC236}">
                <a16:creationId xmlns:a16="http://schemas.microsoft.com/office/drawing/2014/main" id="{B93DFA2E-615E-418D-8243-A0976930CCFD}"/>
              </a:ext>
            </a:extLst>
          </p:cNvPr>
          <p:cNvSpPr>
            <a:spLocks xmlns:a="http://schemas.openxmlformats.org/drawingml/2006/main" noGrp="1"/>
          </p:cNvSpPr>
          <p:nvPr/>
        </p:nvSpPr>
        <p:spPr>
          <a:xfrm xmlns:a="http://schemas.openxmlformats.org/drawingml/2006/main">
            <a:off x="6429375" y="1790700"/>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10 commands + unknown + silence</a:t>
            </a:r>
          </a:p>
        </p:txBody>
      </p:sp>
      <p:sp>
        <p:nvSpPr>
          <p:cNvPr id="8" name="">
            <a:extLst xmlns:a="http://schemas.openxmlformats.org/drawingml/2006/main">
              <a:ext uri="{FF2B5EF4-FFF2-40B4-BE49-F238E27FC236}">
                <a16:creationId xmlns:a16="http://schemas.microsoft.com/office/drawing/2014/main" id="{EECA072C-D54F-4030-866B-C33833A35935}"/>
              </a:ext>
            </a:extLst>
          </p:cNvPr>
          <p:cNvSpPr>
            <a:spLocks xmlns:a="http://schemas.openxmlformats.org/drawingml/2006/main" noGrp="1"/>
          </p:cNvSpPr>
          <p:nvPr/>
        </p:nvSpPr>
        <p:spPr>
          <a:xfrm xmlns:a="http://schemas.openxmlformats.org/drawingml/2006/main">
            <a:off x="457200" y="3143250"/>
            <a:ext cx="333375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9" name="">
            <a:extLst xmlns:a="http://schemas.openxmlformats.org/drawingml/2006/main">
              <a:ext uri="{FF2B5EF4-FFF2-40B4-BE49-F238E27FC236}">
                <a16:creationId xmlns:a16="http://schemas.microsoft.com/office/drawing/2014/main" id="{46ACED46-7BAF-4D77-ABB7-1E1804C836A3}"/>
              </a:ext>
            </a:extLst>
          </p:cNvPr>
          <p:cNvSpPr>
            <a:spLocks xmlns:a="http://schemas.openxmlformats.org/drawingml/2006/main" noGrp="1"/>
          </p:cNvSpPr>
          <p:nvPr/>
        </p:nvSpPr>
        <p:spPr>
          <a:xfrm xmlns:a="http://schemas.openxmlformats.org/drawingml/2006/main">
            <a:off x="457200" y="3143250"/>
            <a:ext cx="3333750" cy="0"/>
          </a:xfrm>
          <a:prstGeom xmlns:a="http://schemas.openxmlformats.org/drawingml/2006/main" prst="line">
            <a:avLst/>
          </a:prstGeom>
          <a:noFill xmlns:a="http://schemas.openxmlformats.org/drawingml/2006/main"/>
          <a:ln xmlns:a="http://schemas.openxmlformats.org/drawingml/2006/main" w="66675">
            <a:solidFill>
              <a:srgbClr val="3D8DFF"/>
            </a:solidFill>
            <a:prstDash val="solid"/>
          </a:ln>
        </p:spPr>
      </p:sp>
      <p:sp>
        <p:nvSpPr>
          <p:cNvPr id="10" name="">
            <a:extLst xmlns:a="http://schemas.openxmlformats.org/drawingml/2006/main">
              <a:ext uri="{FF2B5EF4-FFF2-40B4-BE49-F238E27FC236}">
                <a16:creationId xmlns:a16="http://schemas.microsoft.com/office/drawing/2014/main" id="{6AF09067-14EE-4659-8BED-0FD54AD2741B}"/>
              </a:ext>
            </a:extLst>
          </p:cNvPr>
          <p:cNvSpPr>
            <a:spLocks xmlns:a="http://schemas.openxmlformats.org/drawingml/2006/main" noGrp="1"/>
          </p:cNvSpPr>
          <p:nvPr/>
        </p:nvSpPr>
        <p:spPr>
          <a:xfrm xmlns:a="http://schemas.openxmlformats.org/drawingml/2006/main">
            <a:off x="685800" y="3448050"/>
            <a:ext cx="28765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1 s</a:t>
            </a:r>
          </a:p>
        </p:txBody>
      </p:sp>
      <p:sp>
        <p:nvSpPr>
          <p:cNvPr id="11" name="">
            <a:extLst xmlns:a="http://schemas.openxmlformats.org/drawingml/2006/main">
              <a:ext uri="{FF2B5EF4-FFF2-40B4-BE49-F238E27FC236}">
                <a16:creationId xmlns:a16="http://schemas.microsoft.com/office/drawing/2014/main" id="{57772473-96C6-4FEC-A03D-8F4E2B935D0F}"/>
              </a:ext>
            </a:extLst>
          </p:cNvPr>
          <p:cNvSpPr>
            <a:spLocks xmlns:a="http://schemas.openxmlformats.org/drawingml/2006/main" noGrp="1"/>
          </p:cNvSpPr>
          <p:nvPr/>
        </p:nvSpPr>
        <p:spPr>
          <a:xfrm xmlns:a="http://schemas.openxmlformats.org/drawingml/2006/main">
            <a:off x="685800" y="4210050"/>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maximum clip duration</a:t>
            </a:r>
          </a:p>
        </p:txBody>
      </p:sp>
      <p:sp>
        <p:nvSpPr>
          <p:cNvPr id="12" name="">
            <a:extLst xmlns:a="http://schemas.openxmlformats.org/drawingml/2006/main">
              <a:ext uri="{FF2B5EF4-FFF2-40B4-BE49-F238E27FC236}">
                <a16:creationId xmlns:a16="http://schemas.microsoft.com/office/drawing/2014/main" id="{EBEBA715-DD64-475B-89B9-D7BC986E53FE}"/>
              </a:ext>
            </a:extLst>
          </p:cNvPr>
          <p:cNvSpPr>
            <a:spLocks xmlns:a="http://schemas.openxmlformats.org/drawingml/2006/main" noGrp="1"/>
          </p:cNvSpPr>
          <p:nvPr/>
        </p:nvSpPr>
        <p:spPr>
          <a:xfrm xmlns:a="http://schemas.openxmlformats.org/drawingml/2006/main">
            <a:off x="4429125" y="3143250"/>
            <a:ext cx="333375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13" name="">
            <a:extLst xmlns:a="http://schemas.openxmlformats.org/drawingml/2006/main">
              <a:ext uri="{FF2B5EF4-FFF2-40B4-BE49-F238E27FC236}">
                <a16:creationId xmlns:a16="http://schemas.microsoft.com/office/drawing/2014/main" id="{DA84FE2C-4903-415B-81C0-0CAD965EF30A}"/>
              </a:ext>
            </a:extLst>
          </p:cNvPr>
          <p:cNvSpPr>
            <a:spLocks xmlns:a="http://schemas.openxmlformats.org/drawingml/2006/main" noGrp="1"/>
          </p:cNvSpPr>
          <p:nvPr/>
        </p:nvSpPr>
        <p:spPr>
          <a:xfrm xmlns:a="http://schemas.openxmlformats.org/drawingml/2006/main">
            <a:off x="4429125" y="3143250"/>
            <a:ext cx="3333750" cy="0"/>
          </a:xfrm>
          <a:prstGeom xmlns:a="http://schemas.openxmlformats.org/drawingml/2006/main" prst="line">
            <a:avLst/>
          </a:prstGeom>
          <a:noFill xmlns:a="http://schemas.openxmlformats.org/drawingml/2006/main"/>
          <a:ln xmlns:a="http://schemas.openxmlformats.org/drawingml/2006/main" w="66675">
            <a:solidFill>
              <a:srgbClr val="7B2CBF"/>
            </a:solidFill>
            <a:prstDash val="solid"/>
          </a:ln>
        </p:spPr>
      </p:sp>
      <p:sp>
        <p:nvSpPr>
          <p:cNvPr id="14" name="">
            <a:extLst xmlns:a="http://schemas.openxmlformats.org/drawingml/2006/main">
              <a:ext uri="{FF2B5EF4-FFF2-40B4-BE49-F238E27FC236}">
                <a16:creationId xmlns:a16="http://schemas.microsoft.com/office/drawing/2014/main" id="{0FCCE3FB-A2FC-49A0-8FA1-43482B628465}"/>
              </a:ext>
            </a:extLst>
          </p:cNvPr>
          <p:cNvSpPr>
            <a:spLocks xmlns:a="http://schemas.openxmlformats.org/drawingml/2006/main" noGrp="1"/>
          </p:cNvSpPr>
          <p:nvPr/>
        </p:nvSpPr>
        <p:spPr>
          <a:xfrm xmlns:a="http://schemas.openxmlformats.org/drawingml/2006/main">
            <a:off x="4657725" y="3448050"/>
            <a:ext cx="28765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12</a:t>
            </a:r>
          </a:p>
        </p:txBody>
      </p:sp>
      <p:sp>
        <p:nvSpPr>
          <p:cNvPr id="15" name="">
            <a:extLst xmlns:a="http://schemas.openxmlformats.org/drawingml/2006/main">
              <a:ext uri="{FF2B5EF4-FFF2-40B4-BE49-F238E27FC236}">
                <a16:creationId xmlns:a16="http://schemas.microsoft.com/office/drawing/2014/main" id="{2664A9DB-9109-4808-9772-1A580A9682F9}"/>
              </a:ext>
            </a:extLst>
          </p:cNvPr>
          <p:cNvSpPr>
            <a:spLocks xmlns:a="http://schemas.openxmlformats.org/drawingml/2006/main" noGrp="1"/>
          </p:cNvSpPr>
          <p:nvPr/>
        </p:nvSpPr>
        <p:spPr>
          <a:xfrm xmlns:a="http://schemas.openxmlformats.org/drawingml/2006/main">
            <a:off x="4657725" y="4210050"/>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modeled classes</a:t>
            </a:r>
          </a:p>
        </p:txBody>
      </p:sp>
      <p:sp>
        <p:nvSpPr>
          <p:cNvPr id="16" name="">
            <a:extLst xmlns:a="http://schemas.openxmlformats.org/drawingml/2006/main">
              <a:ext uri="{FF2B5EF4-FFF2-40B4-BE49-F238E27FC236}">
                <a16:creationId xmlns:a16="http://schemas.microsoft.com/office/drawing/2014/main" id="{F3F075C1-B11F-448F-A209-9AA9C2746AB2}"/>
              </a:ext>
            </a:extLst>
          </p:cNvPr>
          <p:cNvSpPr>
            <a:spLocks xmlns:a="http://schemas.openxmlformats.org/drawingml/2006/main" noGrp="1"/>
          </p:cNvSpPr>
          <p:nvPr/>
        </p:nvSpPr>
        <p:spPr>
          <a:xfrm xmlns:a="http://schemas.openxmlformats.org/drawingml/2006/main">
            <a:off x="8401050" y="3143250"/>
            <a:ext cx="333375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17" name="">
            <a:extLst xmlns:a="http://schemas.openxmlformats.org/drawingml/2006/main">
              <a:ext uri="{FF2B5EF4-FFF2-40B4-BE49-F238E27FC236}">
                <a16:creationId xmlns:a16="http://schemas.microsoft.com/office/drawing/2014/main" id="{41E3B37B-D284-4EF7-81B2-D42577766AB6}"/>
              </a:ext>
            </a:extLst>
          </p:cNvPr>
          <p:cNvSpPr>
            <a:spLocks xmlns:a="http://schemas.openxmlformats.org/drawingml/2006/main" noGrp="1"/>
          </p:cNvSpPr>
          <p:nvPr/>
        </p:nvSpPr>
        <p:spPr>
          <a:xfrm xmlns:a="http://schemas.openxmlformats.org/drawingml/2006/main">
            <a:off x="8401050" y="3143250"/>
            <a:ext cx="3333750" cy="0"/>
          </a:xfrm>
          <a:prstGeom xmlns:a="http://schemas.openxmlformats.org/drawingml/2006/main" prst="line">
            <a:avLst/>
          </a:prstGeom>
          <a:noFill xmlns:a="http://schemas.openxmlformats.org/drawingml/2006/main"/>
          <a:ln xmlns:a="http://schemas.openxmlformats.org/drawingml/2006/main" w="66675">
            <a:solidFill>
              <a:srgbClr val="F47C20"/>
            </a:solidFill>
            <a:prstDash val="solid"/>
          </a:ln>
        </p:spPr>
      </p:sp>
      <p:sp>
        <p:nvSpPr>
          <p:cNvPr id="18" name="">
            <a:extLst xmlns:a="http://schemas.openxmlformats.org/drawingml/2006/main">
              <a:ext uri="{FF2B5EF4-FFF2-40B4-BE49-F238E27FC236}">
                <a16:creationId xmlns:a16="http://schemas.microsoft.com/office/drawing/2014/main" id="{2136AB87-8916-4CE3-8905-4FC6A57568F7}"/>
              </a:ext>
            </a:extLst>
          </p:cNvPr>
          <p:cNvSpPr>
            <a:spLocks xmlns:a="http://schemas.openxmlformats.org/drawingml/2006/main" noGrp="1"/>
          </p:cNvSpPr>
          <p:nvPr/>
        </p:nvSpPr>
        <p:spPr>
          <a:xfrm xmlns:a="http://schemas.openxmlformats.org/drawingml/2006/main">
            <a:off x="8629650" y="3448050"/>
            <a:ext cx="28765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0</a:t>
            </a:r>
          </a:p>
        </p:txBody>
      </p:sp>
      <p:sp>
        <p:nvSpPr>
          <p:cNvPr id="19" name="">
            <a:extLst xmlns:a="http://schemas.openxmlformats.org/drawingml/2006/main">
              <a:ext uri="{FF2B5EF4-FFF2-40B4-BE49-F238E27FC236}">
                <a16:creationId xmlns:a16="http://schemas.microsoft.com/office/drawing/2014/main" id="{D073E068-6F86-41E0-9180-D208CD64850E}"/>
              </a:ext>
            </a:extLst>
          </p:cNvPr>
          <p:cNvSpPr>
            <a:spLocks xmlns:a="http://schemas.openxmlformats.org/drawingml/2006/main" noGrp="1"/>
          </p:cNvSpPr>
          <p:nvPr/>
        </p:nvSpPr>
        <p:spPr>
          <a:xfrm xmlns:a="http://schemas.openxmlformats.org/drawingml/2006/main">
            <a:off x="8629650" y="4210050"/>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pretrained components</a:t>
            </a:r>
          </a:p>
        </p:txBody>
      </p:sp>
      <p:sp>
        <p:nvSpPr>
          <p:cNvPr id="20" name="">
            <a:extLst xmlns:a="http://schemas.openxmlformats.org/drawingml/2006/main">
              <a:ext uri="{FF2B5EF4-FFF2-40B4-BE49-F238E27FC236}">
                <a16:creationId xmlns:a16="http://schemas.microsoft.com/office/drawing/2014/main" id="{3952F7DF-2263-4A6F-A322-1855DE471075}"/>
              </a:ext>
            </a:extLst>
          </p:cNvPr>
          <p:cNvSpPr>
            <a:spLocks xmlns:a="http://schemas.openxmlformats.org/drawingml/2006/main" noGrp="1"/>
          </p:cNvSpPr>
          <p:nvPr/>
        </p:nvSpPr>
        <p:spPr>
          <a:xfrm xmlns:a="http://schemas.openxmlformats.org/drawingml/2006/main">
            <a:off x="457200" y="5429250"/>
            <a:ext cx="1076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9616B"/>
                </a:solidFill>
                <a:latin typeface="Arial"/>
                <a:ea typeface="Arial"/>
                <a:cs typeface="Arial"/>
              </a:defRPr>
            </a:pPr>
            <a:r>
              <a:rPr sz="1800" b="0">
                <a:solidFill>
                  <a:srgbClr val="59616B"/>
                </a:solidFill>
                <a:latin typeface="Arial"/>
                <a:ea typeface="Arial"/>
                <a:cs typeface="Arial"/>
              </a:rPr>
              <a:t>Educational goal: isolate the impact of representation, architecture, and augmentation without transfer learning.</a:t>
            </a:r>
          </a:p>
        </p:txBody>
      </p:sp>
    </p:spTree>
    <p:extLst>
      <p:ext uri="{BB962C8B-B14F-4D97-AF65-F5344CB8AC3E}">
        <p14:creationId xmlns:p14="http://schemas.microsoft.com/office/powerpoint/2010/main" val="8855844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18A8425-07E6-42C1-8221-B8D84FCCCF36}"/>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3-title">
            <a:extLst xmlns:a="http://schemas.openxmlformats.org/drawingml/2006/main">
              <a:ext uri="{FF2B5EF4-FFF2-40B4-BE49-F238E27FC236}">
                <a16:creationId xmlns:a16="http://schemas.microsoft.com/office/drawing/2014/main" id="{C175A9B3-E788-488B-AEB6-E085047EA7A3}"/>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Near-balanced modeling preserves the raw audit</a:t>
            </a:r>
          </a:p>
        </p:txBody>
      </p:sp>
      <p:sp>
        <p:nvSpPr>
          <p:cNvPr id="3" name="">
            <a:extLst xmlns:a="http://schemas.openxmlformats.org/drawingml/2006/main">
              <a:ext uri="{FF2B5EF4-FFF2-40B4-BE49-F238E27FC236}">
                <a16:creationId xmlns:a16="http://schemas.microsoft.com/office/drawing/2014/main" id="{4138ECF5-91C2-4850-8EFB-91E0DE0ADC44}"/>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1B6AFE12-4E9F-44CF-BD46-149FEA537E0A}"/>
              </a:ext>
            </a:extLst>
          </p:cNvPr>
          <p:cNvSpPr>
            <a:spLocks xmlns:a="http://schemas.openxmlformats.org/drawingml/2006/main" noGrp="1"/>
          </p:cNvSpPr>
          <p:nvPr/>
        </p:nvSpPr>
        <p:spPr>
          <a:xfrm xmlns:a="http://schemas.openxmlformats.org/drawingml/2006/main">
            <a:off x="457200" y="1381125"/>
            <a:ext cx="285750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5" name="">
            <a:extLst xmlns:a="http://schemas.openxmlformats.org/drawingml/2006/main">
              <a:ext uri="{FF2B5EF4-FFF2-40B4-BE49-F238E27FC236}">
                <a16:creationId xmlns:a16="http://schemas.microsoft.com/office/drawing/2014/main" id="{546E5DFF-B774-4CAF-AEBC-262D506A2D00}"/>
              </a:ext>
            </a:extLst>
          </p:cNvPr>
          <p:cNvSpPr>
            <a:spLocks xmlns:a="http://schemas.openxmlformats.org/drawingml/2006/main" noGrp="1"/>
          </p:cNvSpPr>
          <p:nvPr/>
        </p:nvSpPr>
        <p:spPr>
          <a:xfrm xmlns:a="http://schemas.openxmlformats.org/drawingml/2006/main">
            <a:off x="457200" y="1381125"/>
            <a:ext cx="2857500" cy="0"/>
          </a:xfrm>
          <a:prstGeom xmlns:a="http://schemas.openxmlformats.org/drawingml/2006/main" prst="line">
            <a:avLst/>
          </a:prstGeom>
          <a:noFill xmlns:a="http://schemas.openxmlformats.org/drawingml/2006/main"/>
          <a:ln xmlns:a="http://schemas.openxmlformats.org/drawingml/2006/main" w="66675">
            <a:solidFill>
              <a:srgbClr val="3D8DFF"/>
            </a:solidFill>
            <a:prstDash val="solid"/>
          </a:ln>
        </p:spPr>
      </p:sp>
      <p:sp>
        <p:nvSpPr>
          <p:cNvPr id="6" name="">
            <a:extLst xmlns:a="http://schemas.openxmlformats.org/drawingml/2006/main">
              <a:ext uri="{FF2B5EF4-FFF2-40B4-BE49-F238E27FC236}">
                <a16:creationId xmlns:a16="http://schemas.microsoft.com/office/drawing/2014/main" id="{5C63C725-68EA-4D0E-9798-1E6315939949}"/>
              </a:ext>
            </a:extLst>
          </p:cNvPr>
          <p:cNvSpPr>
            <a:spLocks xmlns:a="http://schemas.openxmlformats.org/drawingml/2006/main" noGrp="1"/>
          </p:cNvSpPr>
          <p:nvPr/>
        </p:nvSpPr>
        <p:spPr>
          <a:xfrm xmlns:a="http://schemas.openxmlformats.org/drawingml/2006/main">
            <a:off x="685800" y="1685925"/>
            <a:ext cx="2400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64,721</a:t>
            </a:r>
          </a:p>
        </p:txBody>
      </p:sp>
      <p:sp>
        <p:nvSpPr>
          <p:cNvPr id="7" name="">
            <a:extLst xmlns:a="http://schemas.openxmlformats.org/drawingml/2006/main">
              <a:ext uri="{FF2B5EF4-FFF2-40B4-BE49-F238E27FC236}">
                <a16:creationId xmlns:a16="http://schemas.microsoft.com/office/drawing/2014/main" id="{F5EF6155-FF3F-4695-B02E-B4EFF1C1328C}"/>
              </a:ext>
            </a:extLst>
          </p:cNvPr>
          <p:cNvSpPr>
            <a:spLocks xmlns:a="http://schemas.openxmlformats.org/drawingml/2006/main" noGrp="1"/>
          </p:cNvSpPr>
          <p:nvPr/>
        </p:nvSpPr>
        <p:spPr>
          <a:xfrm xmlns:a="http://schemas.openxmlformats.org/drawingml/2006/main">
            <a:off x="685800" y="2447925"/>
            <a:ext cx="2400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spoken clips in the raw audit</a:t>
            </a:r>
          </a:p>
        </p:txBody>
      </p:sp>
      <p:sp>
        <p:nvSpPr>
          <p:cNvPr id="8" name="">
            <a:extLst xmlns:a="http://schemas.openxmlformats.org/drawingml/2006/main">
              <a:ext uri="{FF2B5EF4-FFF2-40B4-BE49-F238E27FC236}">
                <a16:creationId xmlns:a16="http://schemas.microsoft.com/office/drawing/2014/main" id="{05B996C6-AEF4-46B8-BA61-51E9C8F4D2FC}"/>
              </a:ext>
            </a:extLst>
          </p:cNvPr>
          <p:cNvSpPr>
            <a:spLocks xmlns:a="http://schemas.openxmlformats.org/drawingml/2006/main" noGrp="1"/>
          </p:cNvSpPr>
          <p:nvPr/>
        </p:nvSpPr>
        <p:spPr>
          <a:xfrm xmlns:a="http://schemas.openxmlformats.org/drawingml/2006/main">
            <a:off x="457200" y="3381375"/>
            <a:ext cx="285750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9" name="">
            <a:extLst xmlns:a="http://schemas.openxmlformats.org/drawingml/2006/main">
              <a:ext uri="{FF2B5EF4-FFF2-40B4-BE49-F238E27FC236}">
                <a16:creationId xmlns:a16="http://schemas.microsoft.com/office/drawing/2014/main" id="{2C6AD4E8-7A91-446B-AE81-85B4CFCBBA7C}"/>
              </a:ext>
            </a:extLst>
          </p:cNvPr>
          <p:cNvSpPr>
            <a:spLocks xmlns:a="http://schemas.openxmlformats.org/drawingml/2006/main" noGrp="1"/>
          </p:cNvSpPr>
          <p:nvPr/>
        </p:nvSpPr>
        <p:spPr>
          <a:xfrm xmlns:a="http://schemas.openxmlformats.org/drawingml/2006/main">
            <a:off x="457200" y="3381375"/>
            <a:ext cx="2857500" cy="0"/>
          </a:xfrm>
          <a:prstGeom xmlns:a="http://schemas.openxmlformats.org/drawingml/2006/main" prst="line">
            <a:avLst/>
          </a:prstGeom>
          <a:noFill xmlns:a="http://schemas.openxmlformats.org/drawingml/2006/main"/>
          <a:ln xmlns:a="http://schemas.openxmlformats.org/drawingml/2006/main" w="66675">
            <a:solidFill>
              <a:srgbClr val="7B2CBF"/>
            </a:solidFill>
            <a:prstDash val="solid"/>
          </a:ln>
        </p:spPr>
      </p:sp>
      <p:sp>
        <p:nvSpPr>
          <p:cNvPr id="10" name="">
            <a:extLst xmlns:a="http://schemas.openxmlformats.org/drawingml/2006/main">
              <a:ext uri="{FF2B5EF4-FFF2-40B4-BE49-F238E27FC236}">
                <a16:creationId xmlns:a16="http://schemas.microsoft.com/office/drawing/2014/main" id="{7443686B-C6F0-41D1-9D1B-18AF5CA0B570}"/>
              </a:ext>
            </a:extLst>
          </p:cNvPr>
          <p:cNvSpPr>
            <a:spLocks xmlns:a="http://schemas.openxmlformats.org/drawingml/2006/main" noGrp="1"/>
          </p:cNvSpPr>
          <p:nvPr/>
        </p:nvSpPr>
        <p:spPr>
          <a:xfrm xmlns:a="http://schemas.openxmlformats.org/drawingml/2006/main">
            <a:off x="685800" y="3686175"/>
            <a:ext cx="2400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1,881</a:t>
            </a:r>
          </a:p>
        </p:txBody>
      </p:sp>
      <p:sp>
        <p:nvSpPr>
          <p:cNvPr id="11" name="">
            <a:extLst xmlns:a="http://schemas.openxmlformats.org/drawingml/2006/main">
              <a:ext uri="{FF2B5EF4-FFF2-40B4-BE49-F238E27FC236}">
                <a16:creationId xmlns:a16="http://schemas.microsoft.com/office/drawing/2014/main" id="{F9D67808-10C5-4E40-AA17-EC319DED3BF4}"/>
              </a:ext>
            </a:extLst>
          </p:cNvPr>
          <p:cNvSpPr>
            <a:spLocks xmlns:a="http://schemas.openxmlformats.org/drawingml/2006/main" noGrp="1"/>
          </p:cNvSpPr>
          <p:nvPr/>
        </p:nvSpPr>
        <p:spPr>
          <a:xfrm xmlns:a="http://schemas.openxmlformats.org/drawingml/2006/main">
            <a:off x="685800" y="4448175"/>
            <a:ext cx="2400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anonymized speakers</a:t>
            </a:r>
          </a:p>
        </p:txBody>
      </p:sp>
      <p:sp>
        <p:nvSpPr>
          <p:cNvPr id="12" name="">
            <a:extLst xmlns:a="http://schemas.openxmlformats.org/drawingml/2006/main">
              <a:ext uri="{FF2B5EF4-FFF2-40B4-BE49-F238E27FC236}">
                <a16:creationId xmlns:a16="http://schemas.microsoft.com/office/drawing/2014/main" id="{1A7508FF-0199-4E76-A006-15129C8ED0BE}"/>
              </a:ext>
            </a:extLst>
          </p:cNvPr>
          <p:cNvSpPr>
            <a:spLocks xmlns:a="http://schemas.openxmlformats.org/drawingml/2006/main" noGrp="1"/>
          </p:cNvSpPr>
          <p:nvPr/>
        </p:nvSpPr>
        <p:spPr>
          <a:xfrm xmlns:a="http://schemas.openxmlformats.org/drawingml/2006/main">
            <a:off x="3714750" y="1381125"/>
            <a:ext cx="666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28,420 modeled examples</a:t>
            </a:r>
          </a:p>
        </p:txBody>
      </p:sp>
      <p:sp>
        <p:nvSpPr>
          <p:cNvPr id="13" name="">
            <a:extLst xmlns:a="http://schemas.openxmlformats.org/drawingml/2006/main">
              <a:ext uri="{FF2B5EF4-FFF2-40B4-BE49-F238E27FC236}">
                <a16:creationId xmlns:a16="http://schemas.microsoft.com/office/drawing/2014/main" id="{75BB6D40-F2BE-401B-881B-AB36722FA83E}"/>
              </a:ext>
            </a:extLst>
          </p:cNvPr>
          <p:cNvSpPr>
            <a:spLocks xmlns:a="http://schemas.openxmlformats.org/drawingml/2006/main" noGrp="1"/>
          </p:cNvSpPr>
          <p:nvPr/>
        </p:nvSpPr>
        <p:spPr>
          <a:xfrm xmlns:a="http://schemas.openxmlformats.org/drawingml/2006/main">
            <a:off x="3714750" y="1952625"/>
            <a:ext cx="7524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All target recordings are retained; unknown and silence are constructed at controlled ratios within each official split.</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ddbd40fee954ae3"/>
          <a:stretch xmlns:a="http://schemas.openxmlformats.org/drawingml/2006/main"/>
        </p:blipFill>
        <p:spPr>
          <a:xfrm xmlns:a="http://schemas.openxmlformats.org/drawingml/2006/main">
            <a:off x="4315691" y="2714625"/>
            <a:ext cx="6418118" cy="3238500"/>
          </a:xfrm>
          <a:prstGeom xmlns:a="http://schemas.openxmlformats.org/drawingml/2006/main" prst="rect">
            <a:avLst/>
          </a:prstGeom>
        </p:spPr>
      </p:pic>
    </p:spTree>
    <p:extLst>
      <p:ext uri="{BB962C8B-B14F-4D97-AF65-F5344CB8AC3E}">
        <p14:creationId xmlns:p14="http://schemas.microsoft.com/office/powerpoint/2010/main" val="18408560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CCD06A-02D7-4311-BDE8-E199988638CB}"/>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4-title">
            <a:extLst xmlns:a="http://schemas.openxmlformats.org/drawingml/2006/main">
              <a:ext uri="{FF2B5EF4-FFF2-40B4-BE49-F238E27FC236}">
                <a16:creationId xmlns:a16="http://schemas.microsoft.com/office/drawing/2014/main" id="{58E25436-EB78-4C3F-A171-CF3406235254}"/>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Clip length is stable; signal energy is not</a:t>
            </a:r>
          </a:p>
        </p:txBody>
      </p:sp>
      <p:sp>
        <p:nvSpPr>
          <p:cNvPr id="3" name="">
            <a:extLst xmlns:a="http://schemas.openxmlformats.org/drawingml/2006/main">
              <a:ext uri="{FF2B5EF4-FFF2-40B4-BE49-F238E27FC236}">
                <a16:creationId xmlns:a16="http://schemas.microsoft.com/office/drawing/2014/main" id="{7B1EE2DD-5F1D-4ED4-B83E-883EA6711EFA}"/>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04</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b55816f4cf4493a"/>
          <a:stretch xmlns:a="http://schemas.openxmlformats.org/drawingml/2006/main"/>
        </p:blipFill>
        <p:spPr>
          <a:xfrm xmlns:a="http://schemas.openxmlformats.org/drawingml/2006/main">
            <a:off x="506896" y="1381125"/>
            <a:ext cx="11044859" cy="4000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A5D7BAA-556F-4EFE-9ED5-49FD6C999F56}"/>
              </a:ext>
            </a:extLst>
          </p:cNvPr>
          <p:cNvSpPr>
            <a:spLocks xmlns:a="http://schemas.openxmlformats.org/drawingml/2006/main" noGrp="1"/>
          </p:cNvSpPr>
          <p:nvPr/>
        </p:nvSpPr>
        <p:spPr>
          <a:xfrm xmlns:a="http://schemas.openxmlformats.org/drawingml/2006/main">
            <a:off x="457200" y="5572125"/>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EDA implication</a:t>
            </a:r>
          </a:p>
        </p:txBody>
      </p:sp>
      <p:sp>
        <p:nvSpPr>
          <p:cNvPr id="6" name="">
            <a:extLst xmlns:a="http://schemas.openxmlformats.org/drawingml/2006/main">
              <a:ext uri="{FF2B5EF4-FFF2-40B4-BE49-F238E27FC236}">
                <a16:creationId xmlns:a16="http://schemas.microsoft.com/office/drawing/2014/main" id="{0312D03A-878E-4F66-8BF3-2072E204B0F9}"/>
              </a:ext>
            </a:extLst>
          </p:cNvPr>
          <p:cNvSpPr>
            <a:spLocks xmlns:a="http://schemas.openxmlformats.org/drawingml/2006/main" noGrp="1"/>
          </p:cNvSpPr>
          <p:nvPr/>
        </p:nvSpPr>
        <p:spPr>
          <a:xfrm xmlns:a="http://schemas.openxmlformats.org/drawingml/2006/main">
            <a:off x="2714625" y="55435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000000"/>
                </a:solidFill>
                <a:latin typeface="Arial"/>
                <a:ea typeface="Arial"/>
                <a:cs typeface="Arial"/>
              </a:defRPr>
            </a:pPr>
            <a:r>
              <a:rPr sz="1650" b="0">
                <a:solidFill>
                  <a:srgbClr val="000000"/>
                </a:solidFill>
                <a:latin typeface="Arial"/>
                <a:ea typeface="Arial"/>
                <a:cs typeface="Arial"/>
              </a:rPr>
              <a:t>Pad or trim to 16,000 samples; normalize on training data only; augment amplitude, time position, and background noise.</a:t>
            </a:r>
          </a:p>
        </p:txBody>
      </p:sp>
    </p:spTree>
    <p:extLst>
      <p:ext uri="{BB962C8B-B14F-4D97-AF65-F5344CB8AC3E}">
        <p14:creationId xmlns:p14="http://schemas.microsoft.com/office/powerpoint/2010/main" val="97072147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ABF5A49-FF1A-4413-A958-C1E95736A7C0}"/>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5-title">
            <a:extLst xmlns:a="http://schemas.openxmlformats.org/drawingml/2006/main">
              <a:ext uri="{FF2B5EF4-FFF2-40B4-BE49-F238E27FC236}">
                <a16:creationId xmlns:a16="http://schemas.microsoft.com/office/drawing/2014/main" id="{C652C637-64E5-4E76-9A1D-FA57AB340A6D}"/>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Speaker identity never crosses a split</a:t>
            </a:r>
          </a:p>
        </p:txBody>
      </p:sp>
      <p:sp>
        <p:nvSpPr>
          <p:cNvPr id="3" name="">
            <a:extLst xmlns:a="http://schemas.openxmlformats.org/drawingml/2006/main">
              <a:ext uri="{FF2B5EF4-FFF2-40B4-BE49-F238E27FC236}">
                <a16:creationId xmlns:a16="http://schemas.microsoft.com/office/drawing/2014/main" id="{A0B9E74E-E586-4EB8-A156-77BE6F5E51FC}"/>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B9E3181B-EE02-41D0-86CD-065BB84A6DBB}"/>
              </a:ext>
            </a:extLst>
          </p:cNvPr>
          <p:cNvSpPr>
            <a:spLocks xmlns:a="http://schemas.openxmlformats.org/drawingml/2006/main" noGrp="1"/>
          </p:cNvSpPr>
          <p:nvPr/>
        </p:nvSpPr>
        <p:spPr>
          <a:xfrm xmlns:a="http://schemas.openxmlformats.org/drawingml/2006/main">
            <a:off x="457200" y="1238250"/>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9616B"/>
                </a:solidFill>
                <a:latin typeface="Arial"/>
                <a:ea typeface="Arial"/>
                <a:cs typeface="Arial"/>
              </a:defRPr>
            </a:pPr>
            <a:r>
              <a:rPr sz="1800" b="0">
                <a:solidFill>
                  <a:srgbClr val="59616B"/>
                </a:solidFill>
                <a:latin typeface="Arial"/>
                <a:ea typeface="Arial"/>
                <a:cs typeface="Arial"/>
              </a:rPr>
              <a:t>Official lists define validation and test; all remaining speakers train. Background audio is reserved 80% / 10% / 10% by split.</a:t>
            </a:r>
          </a:p>
        </p:txBody>
      </p:sp>
      <p:sp>
        <p:nvSpPr>
          <p:cNvPr id="5" name="">
            <a:extLst xmlns:a="http://schemas.openxmlformats.org/drawingml/2006/main">
              <a:ext uri="{FF2B5EF4-FFF2-40B4-BE49-F238E27FC236}">
                <a16:creationId xmlns:a16="http://schemas.microsoft.com/office/drawing/2014/main" id="{C4514BB3-C7BA-4306-A25C-13F9BAE26523}"/>
              </a:ext>
            </a:extLst>
          </p:cNvPr>
          <p:cNvSpPr>
            <a:spLocks xmlns:a="http://schemas.openxmlformats.org/drawingml/2006/main" noGrp="1"/>
          </p:cNvSpPr>
          <p:nvPr/>
        </p:nvSpPr>
        <p:spPr>
          <a:xfrm xmlns:a="http://schemas.openxmlformats.org/drawingml/2006/main">
            <a:off x="457200" y="2333625"/>
            <a:ext cx="333375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6" name="">
            <a:extLst xmlns:a="http://schemas.openxmlformats.org/drawingml/2006/main">
              <a:ext uri="{FF2B5EF4-FFF2-40B4-BE49-F238E27FC236}">
                <a16:creationId xmlns:a16="http://schemas.microsoft.com/office/drawing/2014/main" id="{F1CA1791-71AF-434D-9E1F-C46D3F8DE4D5}"/>
              </a:ext>
            </a:extLst>
          </p:cNvPr>
          <p:cNvSpPr>
            <a:spLocks xmlns:a="http://schemas.openxmlformats.org/drawingml/2006/main" noGrp="1"/>
          </p:cNvSpPr>
          <p:nvPr/>
        </p:nvSpPr>
        <p:spPr>
          <a:xfrm xmlns:a="http://schemas.openxmlformats.org/drawingml/2006/main">
            <a:off x="457200" y="2333625"/>
            <a:ext cx="3333750" cy="0"/>
          </a:xfrm>
          <a:prstGeom xmlns:a="http://schemas.openxmlformats.org/drawingml/2006/main" prst="line">
            <a:avLst/>
          </a:prstGeom>
          <a:noFill xmlns:a="http://schemas.openxmlformats.org/drawingml/2006/main"/>
          <a:ln xmlns:a="http://schemas.openxmlformats.org/drawingml/2006/main" w="66675">
            <a:solidFill>
              <a:srgbClr val="3D8DFF"/>
            </a:solidFill>
            <a:prstDash val="solid"/>
          </a:ln>
        </p:spPr>
      </p:sp>
      <p:sp>
        <p:nvSpPr>
          <p:cNvPr id="7" name="">
            <a:extLst xmlns:a="http://schemas.openxmlformats.org/drawingml/2006/main">
              <a:ext uri="{FF2B5EF4-FFF2-40B4-BE49-F238E27FC236}">
                <a16:creationId xmlns:a16="http://schemas.microsoft.com/office/drawing/2014/main" id="{CB06A554-BE78-4046-AE90-51E8C53CBBDA}"/>
              </a:ext>
            </a:extLst>
          </p:cNvPr>
          <p:cNvSpPr>
            <a:spLocks xmlns:a="http://schemas.openxmlformats.org/drawingml/2006/main" noGrp="1"/>
          </p:cNvSpPr>
          <p:nvPr/>
        </p:nvSpPr>
        <p:spPr>
          <a:xfrm xmlns:a="http://schemas.openxmlformats.org/drawingml/2006/main">
            <a:off x="685800" y="2638425"/>
            <a:ext cx="28765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22,246</a:t>
            </a:r>
          </a:p>
        </p:txBody>
      </p:sp>
      <p:sp>
        <p:nvSpPr>
          <p:cNvPr id="8" name="">
            <a:extLst xmlns:a="http://schemas.openxmlformats.org/drawingml/2006/main">
              <a:ext uri="{FF2B5EF4-FFF2-40B4-BE49-F238E27FC236}">
                <a16:creationId xmlns:a16="http://schemas.microsoft.com/office/drawing/2014/main" id="{3A05C88F-8BCF-43D9-B080-87B5285D85A2}"/>
              </a:ext>
            </a:extLst>
          </p:cNvPr>
          <p:cNvSpPr>
            <a:spLocks xmlns:a="http://schemas.openxmlformats.org/drawingml/2006/main" noGrp="1"/>
          </p:cNvSpPr>
          <p:nvPr/>
        </p:nvSpPr>
        <p:spPr>
          <a:xfrm xmlns:a="http://schemas.openxmlformats.org/drawingml/2006/main">
            <a:off x="685800" y="3400425"/>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training examples</a:t>
            </a:r>
          </a:p>
        </p:txBody>
      </p:sp>
      <p:sp>
        <p:nvSpPr>
          <p:cNvPr id="9" name="">
            <a:extLst xmlns:a="http://schemas.openxmlformats.org/drawingml/2006/main">
              <a:ext uri="{FF2B5EF4-FFF2-40B4-BE49-F238E27FC236}">
                <a16:creationId xmlns:a16="http://schemas.microsoft.com/office/drawing/2014/main" id="{C0B9BDEE-44D4-4583-9989-87EFDFDEB2B1}"/>
              </a:ext>
            </a:extLst>
          </p:cNvPr>
          <p:cNvSpPr>
            <a:spLocks xmlns:a="http://schemas.openxmlformats.org/drawingml/2006/main" noGrp="1"/>
          </p:cNvSpPr>
          <p:nvPr/>
        </p:nvSpPr>
        <p:spPr>
          <a:xfrm xmlns:a="http://schemas.openxmlformats.org/drawingml/2006/main">
            <a:off x="4429125" y="2333625"/>
            <a:ext cx="333375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10" name="">
            <a:extLst xmlns:a="http://schemas.openxmlformats.org/drawingml/2006/main">
              <a:ext uri="{FF2B5EF4-FFF2-40B4-BE49-F238E27FC236}">
                <a16:creationId xmlns:a16="http://schemas.microsoft.com/office/drawing/2014/main" id="{990C9C41-E45F-479B-99C4-96D7892D6FA4}"/>
              </a:ext>
            </a:extLst>
          </p:cNvPr>
          <p:cNvSpPr>
            <a:spLocks xmlns:a="http://schemas.openxmlformats.org/drawingml/2006/main" noGrp="1"/>
          </p:cNvSpPr>
          <p:nvPr/>
        </p:nvSpPr>
        <p:spPr>
          <a:xfrm xmlns:a="http://schemas.openxmlformats.org/drawingml/2006/main">
            <a:off x="4429125" y="2333625"/>
            <a:ext cx="3333750" cy="0"/>
          </a:xfrm>
          <a:prstGeom xmlns:a="http://schemas.openxmlformats.org/drawingml/2006/main" prst="line">
            <a:avLst/>
          </a:prstGeom>
          <a:noFill xmlns:a="http://schemas.openxmlformats.org/drawingml/2006/main"/>
          <a:ln xmlns:a="http://schemas.openxmlformats.org/drawingml/2006/main" w="66675">
            <a:solidFill>
              <a:srgbClr val="7B2CBF"/>
            </a:solidFill>
            <a:prstDash val="solid"/>
          </a:ln>
        </p:spPr>
      </p:sp>
      <p:sp>
        <p:nvSpPr>
          <p:cNvPr id="11" name="">
            <a:extLst xmlns:a="http://schemas.openxmlformats.org/drawingml/2006/main">
              <a:ext uri="{FF2B5EF4-FFF2-40B4-BE49-F238E27FC236}">
                <a16:creationId xmlns:a16="http://schemas.microsoft.com/office/drawing/2014/main" id="{D400BF37-654B-45E1-857A-3B9B029C32B1}"/>
              </a:ext>
            </a:extLst>
          </p:cNvPr>
          <p:cNvSpPr>
            <a:spLocks xmlns:a="http://schemas.openxmlformats.org/drawingml/2006/main" noGrp="1"/>
          </p:cNvSpPr>
          <p:nvPr/>
        </p:nvSpPr>
        <p:spPr>
          <a:xfrm xmlns:a="http://schemas.openxmlformats.org/drawingml/2006/main">
            <a:off x="4657725" y="2638425"/>
            <a:ext cx="28765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3,093</a:t>
            </a:r>
          </a:p>
        </p:txBody>
      </p:sp>
      <p:sp>
        <p:nvSpPr>
          <p:cNvPr id="12" name="">
            <a:extLst xmlns:a="http://schemas.openxmlformats.org/drawingml/2006/main">
              <a:ext uri="{FF2B5EF4-FFF2-40B4-BE49-F238E27FC236}">
                <a16:creationId xmlns:a16="http://schemas.microsoft.com/office/drawing/2014/main" id="{BB723CC4-7ABE-4508-96CD-86CDBB436961}"/>
              </a:ext>
            </a:extLst>
          </p:cNvPr>
          <p:cNvSpPr>
            <a:spLocks xmlns:a="http://schemas.openxmlformats.org/drawingml/2006/main" noGrp="1"/>
          </p:cNvSpPr>
          <p:nvPr/>
        </p:nvSpPr>
        <p:spPr>
          <a:xfrm xmlns:a="http://schemas.openxmlformats.org/drawingml/2006/main">
            <a:off x="4657725" y="3400425"/>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validation examples</a:t>
            </a:r>
          </a:p>
        </p:txBody>
      </p:sp>
      <p:sp>
        <p:nvSpPr>
          <p:cNvPr id="13" name="">
            <a:extLst xmlns:a="http://schemas.openxmlformats.org/drawingml/2006/main">
              <a:ext uri="{FF2B5EF4-FFF2-40B4-BE49-F238E27FC236}">
                <a16:creationId xmlns:a16="http://schemas.microsoft.com/office/drawing/2014/main" id="{AB2548D3-559C-49D4-96E8-1BDA4CED693B}"/>
              </a:ext>
            </a:extLst>
          </p:cNvPr>
          <p:cNvSpPr>
            <a:spLocks xmlns:a="http://schemas.openxmlformats.org/drawingml/2006/main" noGrp="1"/>
          </p:cNvSpPr>
          <p:nvPr/>
        </p:nvSpPr>
        <p:spPr>
          <a:xfrm xmlns:a="http://schemas.openxmlformats.org/drawingml/2006/main">
            <a:off x="8401050" y="2333625"/>
            <a:ext cx="333375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14" name="">
            <a:extLst xmlns:a="http://schemas.openxmlformats.org/drawingml/2006/main">
              <a:ext uri="{FF2B5EF4-FFF2-40B4-BE49-F238E27FC236}">
                <a16:creationId xmlns:a16="http://schemas.microsoft.com/office/drawing/2014/main" id="{DE18079F-0C5D-47C9-A4A9-3801BDC31FC7}"/>
              </a:ext>
            </a:extLst>
          </p:cNvPr>
          <p:cNvSpPr>
            <a:spLocks xmlns:a="http://schemas.openxmlformats.org/drawingml/2006/main" noGrp="1"/>
          </p:cNvSpPr>
          <p:nvPr/>
        </p:nvSpPr>
        <p:spPr>
          <a:xfrm xmlns:a="http://schemas.openxmlformats.org/drawingml/2006/main">
            <a:off x="8401050" y="2333625"/>
            <a:ext cx="3333750" cy="0"/>
          </a:xfrm>
          <a:prstGeom xmlns:a="http://schemas.openxmlformats.org/drawingml/2006/main" prst="line">
            <a:avLst/>
          </a:prstGeom>
          <a:noFill xmlns:a="http://schemas.openxmlformats.org/drawingml/2006/main"/>
          <a:ln xmlns:a="http://schemas.openxmlformats.org/drawingml/2006/main" w="66675">
            <a:solidFill>
              <a:srgbClr val="F47C20"/>
            </a:solidFill>
            <a:prstDash val="solid"/>
          </a:ln>
        </p:spPr>
      </p:sp>
      <p:sp>
        <p:nvSpPr>
          <p:cNvPr id="15" name="">
            <a:extLst xmlns:a="http://schemas.openxmlformats.org/drawingml/2006/main">
              <a:ext uri="{FF2B5EF4-FFF2-40B4-BE49-F238E27FC236}">
                <a16:creationId xmlns:a16="http://schemas.microsoft.com/office/drawing/2014/main" id="{C9EC3DF3-DAFC-4D8E-BA6F-69B79F44D3F0}"/>
              </a:ext>
            </a:extLst>
          </p:cNvPr>
          <p:cNvSpPr>
            <a:spLocks xmlns:a="http://schemas.openxmlformats.org/drawingml/2006/main" noGrp="1"/>
          </p:cNvSpPr>
          <p:nvPr/>
        </p:nvSpPr>
        <p:spPr>
          <a:xfrm xmlns:a="http://schemas.openxmlformats.org/drawingml/2006/main">
            <a:off x="8629650" y="2638425"/>
            <a:ext cx="28765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3,081</a:t>
            </a:r>
          </a:p>
        </p:txBody>
      </p:sp>
      <p:sp>
        <p:nvSpPr>
          <p:cNvPr id="16" name="">
            <a:extLst xmlns:a="http://schemas.openxmlformats.org/drawingml/2006/main">
              <a:ext uri="{FF2B5EF4-FFF2-40B4-BE49-F238E27FC236}">
                <a16:creationId xmlns:a16="http://schemas.microsoft.com/office/drawing/2014/main" id="{6C124E3B-795F-43F4-8A83-EE0374D7323D}"/>
              </a:ext>
            </a:extLst>
          </p:cNvPr>
          <p:cNvSpPr>
            <a:spLocks xmlns:a="http://schemas.openxmlformats.org/drawingml/2006/main" noGrp="1"/>
          </p:cNvSpPr>
          <p:nvPr/>
        </p:nvSpPr>
        <p:spPr>
          <a:xfrm xmlns:a="http://schemas.openxmlformats.org/drawingml/2006/main">
            <a:off x="8629650" y="3400425"/>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testing examples</a:t>
            </a:r>
          </a:p>
        </p:txBody>
      </p:sp>
      <p:sp>
        <p:nvSpPr>
          <p:cNvPr id="17" name="">
            <a:extLst xmlns:a="http://schemas.openxmlformats.org/drawingml/2006/main">
              <a:ext uri="{FF2B5EF4-FFF2-40B4-BE49-F238E27FC236}">
                <a16:creationId xmlns:a16="http://schemas.microsoft.com/office/drawing/2014/main" id="{5A227E02-F98D-49BF-AB14-02E3273444F9}"/>
              </a:ext>
            </a:extLst>
          </p:cNvPr>
          <p:cNvSpPr>
            <a:spLocks xmlns:a="http://schemas.openxmlformats.org/drawingml/2006/main" noGrp="1"/>
          </p:cNvSpPr>
          <p:nvPr/>
        </p:nvSpPr>
        <p:spPr>
          <a:xfrm xmlns:a="http://schemas.openxmlformats.org/drawingml/2006/main">
            <a:off x="457200" y="461962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Arial"/>
                <a:ea typeface="Arial"/>
                <a:cs typeface="Arial"/>
              </a:defRPr>
            </a:pPr>
            <a:r>
              <a:rPr sz="1950" b="1">
                <a:solidFill>
                  <a:srgbClr val="000000"/>
                </a:solidFill>
                <a:latin typeface="Arial"/>
                <a:ea typeface="Arial"/>
                <a:cs typeface="Arial"/>
              </a:rPr>
              <a:t>Hard guards</a:t>
            </a:r>
          </a:p>
        </p:txBody>
      </p:sp>
      <p:sp>
        <p:nvSpPr>
          <p:cNvPr id="18" name="">
            <a:extLst xmlns:a="http://schemas.openxmlformats.org/drawingml/2006/main">
              <a:ext uri="{FF2B5EF4-FFF2-40B4-BE49-F238E27FC236}">
                <a16:creationId xmlns:a16="http://schemas.microsoft.com/office/drawing/2014/main" id="{4C1E50F9-5E60-47EC-AA02-D45F8F075B70}"/>
              </a:ext>
            </a:extLst>
          </p:cNvPr>
          <p:cNvSpPr>
            <a:spLocks xmlns:a="http://schemas.openxmlformats.org/drawingml/2006/main" noGrp="1"/>
          </p:cNvSpPr>
          <p:nvPr/>
        </p:nvSpPr>
        <p:spPr>
          <a:xfrm xmlns:a="http://schemas.openxmlformats.org/drawingml/2006/main">
            <a:off x="2524125" y="4572000"/>
            <a:ext cx="7239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000000"/>
                </a:solidFill>
                <a:latin typeface="Arial"/>
                <a:ea typeface="Arial"/>
                <a:cs typeface="Arial"/>
              </a:defRPr>
            </a:pPr>
            <a:r>
              <a:rPr sz="1725" b="0">
                <a:solidFill>
                  <a:srgbClr val="000000"/>
                </a:solidFill>
                <a:latin typeface="Arial"/>
                <a:ea typeface="Arial"/>
                <a:cs typeface="Arial"/>
              </a:rPr>
              <a:t>- speaker-disjoint splits + silence regions</a:t>
            </a:r>
          </a:p>
          <a:p xmlns:a="http://schemas.openxmlformats.org/drawingml/2006/main">
            <a:pPr algn="l">
              <a:buNone/>
              <a:defRPr sz="1725" b="0">
                <a:solidFill>
                  <a:srgbClr val="000000"/>
                </a:solidFill>
                <a:latin typeface="Arial"/>
                <a:ea typeface="Arial"/>
                <a:cs typeface="Arial"/>
              </a:defRPr>
            </a:pPr>
            <a:r>
              <a:rPr sz="1725" b="0">
                <a:solidFill>
                  <a:srgbClr val="000000"/>
                </a:solidFill>
                <a:latin typeface="Arial"/>
                <a:ea typeface="Arial"/>
                <a:cs typeface="Arial"/>
              </a:rPr>
              <a:t>- split-aware noise + train-only statistics</a:t>
            </a:r>
          </a:p>
        </p:txBody>
      </p:sp>
      <p:sp>
        <p:nvSpPr>
          <p:cNvPr id="19" name="">
            <a:extLst xmlns:a="http://schemas.openxmlformats.org/drawingml/2006/main">
              <a:ext uri="{FF2B5EF4-FFF2-40B4-BE49-F238E27FC236}">
                <a16:creationId xmlns:a16="http://schemas.microsoft.com/office/drawing/2014/main" id="{BEF73941-0010-468F-AE90-5C07EFBC31B4}"/>
              </a:ext>
            </a:extLst>
          </p:cNvPr>
          <p:cNvSpPr>
            <a:spLocks xmlns:a="http://schemas.openxmlformats.org/drawingml/2006/main" noGrp="1"/>
          </p:cNvSpPr>
          <p:nvPr/>
        </p:nvSpPr>
        <p:spPr>
          <a:xfrm xmlns:a="http://schemas.openxmlformats.org/drawingml/2006/main">
            <a:off x="9906000" y="4686300"/>
            <a:ext cx="142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800" b="1">
                <a:solidFill>
                  <a:srgbClr val="C23B3B"/>
                </a:solidFill>
                <a:latin typeface="Arial"/>
                <a:ea typeface="Arial"/>
                <a:cs typeface="Arial"/>
              </a:defRPr>
            </a:pPr>
            <a:r>
              <a:rPr sz="1800" b="1">
                <a:solidFill>
                  <a:srgbClr val="C23B3B"/>
                </a:solidFill>
                <a:latin typeface="Arial"/>
                <a:ea typeface="Arial"/>
                <a:cs typeface="Arial"/>
              </a:rPr>
              <a:t>Fail fast</a:t>
            </a:r>
          </a:p>
        </p:txBody>
      </p:sp>
      <p:sp>
        <p:nvSpPr>
          <p:cNvPr id="20" name="">
            <a:extLst xmlns:a="http://schemas.openxmlformats.org/drawingml/2006/main">
              <a:ext uri="{FF2B5EF4-FFF2-40B4-BE49-F238E27FC236}">
                <a16:creationId xmlns:a16="http://schemas.microsoft.com/office/drawing/2014/main" id="{124DB5B9-B8F5-477B-93C3-32D5205DD0B5}"/>
              </a:ext>
            </a:extLst>
          </p:cNvPr>
          <p:cNvSpPr>
            <a:spLocks xmlns:a="http://schemas.openxmlformats.org/drawingml/2006/main" noGrp="1"/>
          </p:cNvSpPr>
          <p:nvPr/>
        </p:nvSpPr>
        <p:spPr>
          <a:xfrm xmlns:a="http://schemas.openxmlformats.org/drawingml/2006/main">
            <a:off x="9620250" y="50482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500" b="0">
                <a:solidFill>
                  <a:srgbClr val="59616B"/>
                </a:solidFill>
                <a:latin typeface="Arial"/>
                <a:ea typeface="Arial"/>
                <a:cs typeface="Arial"/>
              </a:defRPr>
            </a:pPr>
            <a:r>
              <a:rPr sz="1500" b="0">
                <a:solidFill>
                  <a:srgbClr val="59616B"/>
                </a:solidFill>
                <a:latin typeface="Arial"/>
                <a:ea typeface="Arial"/>
                <a:cs typeface="Arial"/>
              </a:rPr>
              <a:t>on any overlap</a:t>
            </a:r>
          </a:p>
        </p:txBody>
      </p:sp>
    </p:spTree>
    <p:extLst>
      <p:ext uri="{BB962C8B-B14F-4D97-AF65-F5344CB8AC3E}">
        <p14:creationId xmlns:p14="http://schemas.microsoft.com/office/powerpoint/2010/main" val="12078272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038551A-4500-471B-959F-2D6E888617C3}"/>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6-title">
            <a:extLst xmlns:a="http://schemas.openxmlformats.org/drawingml/2006/main">
              <a:ext uri="{FF2B5EF4-FFF2-40B4-BE49-F238E27FC236}">
                <a16:creationId xmlns:a16="http://schemas.microsoft.com/office/drawing/2014/main" id="{F2F5F66B-78B9-4215-B99F-CD996B82CEAB}"/>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Log-Mel preserves time-frequency structure</a:t>
            </a:r>
          </a:p>
        </p:txBody>
      </p:sp>
      <p:sp>
        <p:nvSpPr>
          <p:cNvPr id="3" name="">
            <a:extLst xmlns:a="http://schemas.openxmlformats.org/drawingml/2006/main">
              <a:ext uri="{FF2B5EF4-FFF2-40B4-BE49-F238E27FC236}">
                <a16:creationId xmlns:a16="http://schemas.microsoft.com/office/drawing/2014/main" id="{668A74BD-3988-494B-8251-D2BD2F128FBC}"/>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FBEEBF67-233B-4C52-BAAD-3A91268CFBC6}"/>
              </a:ext>
            </a:extLst>
          </p:cNvPr>
          <p:cNvSpPr>
            <a:spLocks xmlns:a="http://schemas.openxmlformats.org/drawingml/2006/main" noGrp="1"/>
          </p:cNvSpPr>
          <p:nvPr/>
        </p:nvSpPr>
        <p:spPr>
          <a:xfrm xmlns:a="http://schemas.openxmlformats.org/drawingml/2006/main">
            <a:off x="457200" y="2333625"/>
            <a:ext cx="2333625" cy="2095500"/>
          </a:xfrm>
          <a:prstGeom xmlns:a="http://schemas.openxmlformats.org/drawingml/2006/main" prst="rect">
            <a:avLst/>
          </a:prstGeom>
          <a:solidFill xmlns:a="http://schemas.openxmlformats.org/drawingml/2006/main">
            <a:srgbClr val="F2F2F2"/>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F95BB5C9-8A51-41D6-AF3F-CD50CE7ABD1F}"/>
              </a:ext>
            </a:extLst>
          </p:cNvPr>
          <p:cNvSpPr>
            <a:spLocks xmlns:a="http://schemas.openxmlformats.org/drawingml/2006/main" noGrp="1"/>
          </p:cNvSpPr>
          <p:nvPr/>
        </p:nvSpPr>
        <p:spPr>
          <a:xfrm xmlns:a="http://schemas.openxmlformats.org/drawingml/2006/main">
            <a:off x="3314700" y="2333625"/>
            <a:ext cx="2333625" cy="2095500"/>
          </a:xfrm>
          <a:prstGeom xmlns:a="http://schemas.openxmlformats.org/drawingml/2006/main" prst="rect">
            <a:avLst/>
          </a:prstGeom>
          <a:solidFill xmlns:a="http://schemas.openxmlformats.org/drawingml/2006/main">
            <a:srgbClr val="F2F2F2"/>
          </a:solidFill>
          <a:ln xmlns:a="http://schemas.openxmlformats.org/drawingml/2006/main" w="9525">
            <a:solidFill>
              <a:srgbClr val="B8BCC4"/>
            </a:solidFill>
            <a:prstDash val="solid"/>
          </a:ln>
        </p:spPr>
      </p:sp>
      <p:sp>
        <p:nvSpPr>
          <p:cNvPr id="6" name="">
            <a:extLst xmlns:a="http://schemas.openxmlformats.org/drawingml/2006/main">
              <a:ext uri="{FF2B5EF4-FFF2-40B4-BE49-F238E27FC236}">
                <a16:creationId xmlns:a16="http://schemas.microsoft.com/office/drawing/2014/main" id="{3291FFCC-7337-415B-BAA1-5D8AC30085EC}"/>
              </a:ext>
            </a:extLst>
          </p:cNvPr>
          <p:cNvSpPr>
            <a:spLocks xmlns:a="http://schemas.openxmlformats.org/drawingml/2006/main" noGrp="1"/>
          </p:cNvSpPr>
          <p:nvPr/>
        </p:nvSpPr>
        <p:spPr>
          <a:xfrm xmlns:a="http://schemas.openxmlformats.org/drawingml/2006/main">
            <a:off x="6172200" y="2333625"/>
            <a:ext cx="2333625" cy="2095500"/>
          </a:xfrm>
          <a:prstGeom xmlns:a="http://schemas.openxmlformats.org/drawingml/2006/main" prst="rect">
            <a:avLst/>
          </a:prstGeom>
          <a:solidFill xmlns:a="http://schemas.openxmlformats.org/drawingml/2006/main">
            <a:srgbClr val="F2F2F2"/>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C0B00303-1839-4DFF-9137-108464319C2B}"/>
              </a:ext>
            </a:extLst>
          </p:cNvPr>
          <p:cNvSpPr>
            <a:spLocks xmlns:a="http://schemas.openxmlformats.org/drawingml/2006/main" noGrp="1"/>
          </p:cNvSpPr>
          <p:nvPr/>
        </p:nvSpPr>
        <p:spPr>
          <a:xfrm xmlns:a="http://schemas.openxmlformats.org/drawingml/2006/main">
            <a:off x="9029700" y="2333625"/>
            <a:ext cx="2333625" cy="2095500"/>
          </a:xfrm>
          <a:prstGeom xmlns:a="http://schemas.openxmlformats.org/drawingml/2006/main" prst="rect">
            <a:avLst/>
          </a:prstGeom>
          <a:solidFill xmlns:a="http://schemas.openxmlformats.org/drawingml/2006/main">
            <a:srgbClr val="D0EDFA"/>
          </a:solidFill>
          <a:ln xmlns:a="http://schemas.openxmlformats.org/drawingml/2006/main" w="19050">
            <a:solidFill>
              <a:srgbClr val="3D8DFF"/>
            </a:solidFill>
            <a:prstDash val="solid"/>
          </a:ln>
        </p:spPr>
      </p:sp>
      <p:cxnSp>
        <p:nvCxnSpPr>
          <p:cNvPr id="47" name=""/>
          <p:cNvCxnSpPr>
            <a:stCxn xmlns:a="http://schemas.openxmlformats.org/drawingml/2006/main" id="5" idx="1"/>
            <a:endCxn xmlns:a="http://schemas.openxmlformats.org/drawingml/2006/main" id="4" idx="3"/>
          </p:cNvCxnSpPr>
          <p:nvPr/>
        </p:nvCxnSpPr>
        <p:spPr>
          <a:xfrm xmlns:a="http://schemas.openxmlformats.org/drawingml/2006/main" flipH="1">
            <a:off x="2790825" y="3381375"/>
            <a:ext cx="523875" cy="0"/>
          </a:xfrm>
          <a:prstGeom xmlns:a="http://schemas.openxmlformats.org/drawingml/2006/main" prst="straightConnector1">
            <a:avLst/>
          </a:prstGeom>
          <a:ln xmlns:a="http://schemas.openxmlformats.org/drawingml/2006/main" w="28575">
            <a:solidFill>
              <a:srgbClr val="3D8DFF"/>
            </a:solidFill>
            <a:prstDash val="solid"/>
            <a:headEnd type="triangle" w="med" len="med"/>
          </a:ln>
        </p:spPr>
      </p:cxnSp>
      <p:cxnSp>
        <p:nvCxnSpPr>
          <p:cNvPr id="48" name=""/>
          <p:cNvCxnSpPr>
            <a:stCxn xmlns:a="http://schemas.openxmlformats.org/drawingml/2006/main" id="6" idx="1"/>
            <a:endCxn xmlns:a="http://schemas.openxmlformats.org/drawingml/2006/main" id="5" idx="3"/>
          </p:cNvCxnSpPr>
          <p:nvPr/>
        </p:nvCxnSpPr>
        <p:spPr>
          <a:xfrm xmlns:a="http://schemas.openxmlformats.org/drawingml/2006/main" flipH="1">
            <a:off x="5648325" y="3381375"/>
            <a:ext cx="523875" cy="0"/>
          </a:xfrm>
          <a:prstGeom xmlns:a="http://schemas.openxmlformats.org/drawingml/2006/main" prst="straightConnector1">
            <a:avLst/>
          </a:prstGeom>
          <a:ln xmlns:a="http://schemas.openxmlformats.org/drawingml/2006/main" w="28575">
            <a:solidFill>
              <a:srgbClr val="3D8DFF"/>
            </a:solidFill>
            <a:prstDash val="solid"/>
            <a:headEnd type="triangle" w="med" len="med"/>
          </a:ln>
        </p:spPr>
      </p:cxnSp>
      <p:cxnSp>
        <p:nvCxnSpPr>
          <p:cNvPr id="49" name=""/>
          <p:cNvCxnSpPr>
            <a:stCxn xmlns:a="http://schemas.openxmlformats.org/drawingml/2006/main" id="7" idx="1"/>
            <a:endCxn xmlns:a="http://schemas.openxmlformats.org/drawingml/2006/main" id="6" idx="3"/>
          </p:cNvCxnSpPr>
          <p:nvPr/>
        </p:nvCxnSpPr>
        <p:spPr>
          <a:xfrm xmlns:a="http://schemas.openxmlformats.org/drawingml/2006/main" flipH="1">
            <a:off x="8505825" y="3381375"/>
            <a:ext cx="523875" cy="0"/>
          </a:xfrm>
          <a:prstGeom xmlns:a="http://schemas.openxmlformats.org/drawingml/2006/main" prst="straightConnector1">
            <a:avLst/>
          </a:prstGeom>
          <a:ln xmlns:a="http://schemas.openxmlformats.org/drawingml/2006/main" w="28575">
            <a:solidFill>
              <a:srgbClr val="3D8DFF"/>
            </a:solidFill>
            <a:prstDash val="solid"/>
            <a:headEnd type="triangle" w="med" len="med"/>
          </a:ln>
        </p:spPr>
      </p:cxnSp>
      <p:sp>
        <p:nvSpPr>
          <p:cNvPr id="11" name="">
            <a:extLst xmlns:a="http://schemas.openxmlformats.org/drawingml/2006/main">
              <a:ext uri="{FF2B5EF4-FFF2-40B4-BE49-F238E27FC236}">
                <a16:creationId xmlns:a16="http://schemas.microsoft.com/office/drawing/2014/main" id="{D37020A9-F8F6-4E61-B8A3-6E74FFBC0B77}"/>
              </a:ext>
            </a:extLst>
          </p:cNvPr>
          <p:cNvSpPr>
            <a:spLocks xmlns:a="http://schemas.openxmlformats.org/drawingml/2006/main" noGrp="1"/>
          </p:cNvSpPr>
          <p:nvPr/>
        </p:nvSpPr>
        <p:spPr>
          <a:xfrm xmlns:a="http://schemas.openxmlformats.org/drawingml/2006/main">
            <a:off x="666750" y="264795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000000"/>
                </a:solidFill>
                <a:latin typeface="Arial"/>
                <a:ea typeface="Arial"/>
                <a:cs typeface="Arial"/>
              </a:defRPr>
            </a:pPr>
            <a:r>
              <a:rPr sz="2175" b="1">
                <a:solidFill>
                  <a:srgbClr val="000000"/>
                </a:solidFill>
                <a:latin typeface="Arial"/>
                <a:ea typeface="Arial"/>
                <a:cs typeface="Arial"/>
              </a:rPr>
              <a:t>Waveform</a:t>
            </a:r>
          </a:p>
        </p:txBody>
      </p:sp>
      <p:sp>
        <p:nvSpPr>
          <p:cNvPr id="12" name="">
            <a:extLst xmlns:a="http://schemas.openxmlformats.org/drawingml/2006/main">
              <a:ext uri="{FF2B5EF4-FFF2-40B4-BE49-F238E27FC236}">
                <a16:creationId xmlns:a16="http://schemas.microsoft.com/office/drawing/2014/main" id="{5D892D87-DAF8-4997-8383-82963AB74BCA}"/>
              </a:ext>
            </a:extLst>
          </p:cNvPr>
          <p:cNvSpPr>
            <a:spLocks xmlns:a="http://schemas.openxmlformats.org/drawingml/2006/main" noGrp="1"/>
          </p:cNvSpPr>
          <p:nvPr/>
        </p:nvSpPr>
        <p:spPr>
          <a:xfrm xmlns:a="http://schemas.openxmlformats.org/drawingml/2006/main">
            <a:off x="666750" y="3286125"/>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16,000 samples</a:t>
            </a:r>
          </a:p>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mono, padded/trimmed</a:t>
            </a:r>
          </a:p>
        </p:txBody>
      </p:sp>
      <p:sp>
        <p:nvSpPr>
          <p:cNvPr id="13" name="">
            <a:extLst xmlns:a="http://schemas.openxmlformats.org/drawingml/2006/main">
              <a:ext uri="{FF2B5EF4-FFF2-40B4-BE49-F238E27FC236}">
                <a16:creationId xmlns:a16="http://schemas.microsoft.com/office/drawing/2014/main" id="{E4EEF225-2A38-4B47-9DC4-B73834AA1873}"/>
              </a:ext>
            </a:extLst>
          </p:cNvPr>
          <p:cNvSpPr>
            <a:spLocks xmlns:a="http://schemas.openxmlformats.org/drawingml/2006/main" noGrp="1"/>
          </p:cNvSpPr>
          <p:nvPr/>
        </p:nvSpPr>
        <p:spPr>
          <a:xfrm xmlns:a="http://schemas.openxmlformats.org/drawingml/2006/main">
            <a:off x="3524250" y="264795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000000"/>
                </a:solidFill>
                <a:latin typeface="Arial"/>
                <a:ea typeface="Arial"/>
                <a:cs typeface="Arial"/>
              </a:defRPr>
            </a:pPr>
            <a:r>
              <a:rPr sz="2175" b="1">
                <a:solidFill>
                  <a:srgbClr val="000000"/>
                </a:solidFill>
                <a:latin typeface="Arial"/>
                <a:ea typeface="Arial"/>
                <a:cs typeface="Arial"/>
              </a:rPr>
              <a:t>STFT</a:t>
            </a:r>
          </a:p>
        </p:txBody>
      </p:sp>
      <p:sp>
        <p:nvSpPr>
          <p:cNvPr id="14" name="">
            <a:extLst xmlns:a="http://schemas.openxmlformats.org/drawingml/2006/main">
              <a:ext uri="{FF2B5EF4-FFF2-40B4-BE49-F238E27FC236}">
                <a16:creationId xmlns:a16="http://schemas.microsoft.com/office/drawing/2014/main" id="{0DD52C81-E820-48F3-8BD2-E561A2192875}"/>
              </a:ext>
            </a:extLst>
          </p:cNvPr>
          <p:cNvSpPr>
            <a:spLocks xmlns:a="http://schemas.openxmlformats.org/drawingml/2006/main" noGrp="1"/>
          </p:cNvSpPr>
          <p:nvPr/>
        </p:nvSpPr>
        <p:spPr>
          <a:xfrm xmlns:a="http://schemas.openxmlformats.org/drawingml/2006/main">
            <a:off x="3524250" y="3286125"/>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30 ms Hann window</a:t>
            </a:r>
          </a:p>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10 ms stride</a:t>
            </a:r>
          </a:p>
        </p:txBody>
      </p:sp>
      <p:sp>
        <p:nvSpPr>
          <p:cNvPr id="15" name="">
            <a:extLst xmlns:a="http://schemas.openxmlformats.org/drawingml/2006/main">
              <a:ext uri="{FF2B5EF4-FFF2-40B4-BE49-F238E27FC236}">
                <a16:creationId xmlns:a16="http://schemas.microsoft.com/office/drawing/2014/main" id="{2F270E7F-CB24-4E13-89E2-F506C3457AE0}"/>
              </a:ext>
            </a:extLst>
          </p:cNvPr>
          <p:cNvSpPr>
            <a:spLocks xmlns:a="http://schemas.openxmlformats.org/drawingml/2006/main" noGrp="1"/>
          </p:cNvSpPr>
          <p:nvPr/>
        </p:nvSpPr>
        <p:spPr>
          <a:xfrm xmlns:a="http://schemas.openxmlformats.org/drawingml/2006/main">
            <a:off x="6381750" y="264795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000000"/>
                </a:solidFill>
                <a:latin typeface="Arial"/>
                <a:ea typeface="Arial"/>
                <a:cs typeface="Arial"/>
              </a:defRPr>
            </a:pPr>
            <a:r>
              <a:rPr sz="2175" b="1">
                <a:solidFill>
                  <a:srgbClr val="000000"/>
                </a:solidFill>
                <a:latin typeface="Arial"/>
                <a:ea typeface="Arial"/>
                <a:cs typeface="Arial"/>
              </a:rPr>
              <a:t>Mel filterbank</a:t>
            </a:r>
          </a:p>
        </p:txBody>
      </p:sp>
      <p:sp>
        <p:nvSpPr>
          <p:cNvPr id="16" name="">
            <a:extLst xmlns:a="http://schemas.openxmlformats.org/drawingml/2006/main">
              <a:ext uri="{FF2B5EF4-FFF2-40B4-BE49-F238E27FC236}">
                <a16:creationId xmlns:a16="http://schemas.microsoft.com/office/drawing/2014/main" id="{DC203616-4F1D-42D2-8D7E-B0A3250C3F18}"/>
              </a:ext>
            </a:extLst>
          </p:cNvPr>
          <p:cNvSpPr>
            <a:spLocks xmlns:a="http://schemas.openxmlformats.org/drawingml/2006/main" noGrp="1"/>
          </p:cNvSpPr>
          <p:nvPr/>
        </p:nvSpPr>
        <p:spPr>
          <a:xfrm xmlns:a="http://schemas.openxmlformats.org/drawingml/2006/main">
            <a:off x="6381750" y="3286125"/>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40 perceptual</a:t>
            </a:r>
          </a:p>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frequency bins</a:t>
            </a:r>
          </a:p>
        </p:txBody>
      </p:sp>
      <p:sp>
        <p:nvSpPr>
          <p:cNvPr id="17" name="">
            <a:extLst xmlns:a="http://schemas.openxmlformats.org/drawingml/2006/main">
              <a:ext uri="{FF2B5EF4-FFF2-40B4-BE49-F238E27FC236}">
                <a16:creationId xmlns:a16="http://schemas.microsoft.com/office/drawing/2014/main" id="{BFC9C769-7989-42CC-A8B4-D45E63F5F8EE}"/>
              </a:ext>
            </a:extLst>
          </p:cNvPr>
          <p:cNvSpPr>
            <a:spLocks xmlns:a="http://schemas.openxmlformats.org/drawingml/2006/main" noGrp="1"/>
          </p:cNvSpPr>
          <p:nvPr/>
        </p:nvSpPr>
        <p:spPr>
          <a:xfrm xmlns:a="http://schemas.openxmlformats.org/drawingml/2006/main">
            <a:off x="9239250" y="264795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000000"/>
                </a:solidFill>
                <a:latin typeface="Arial"/>
                <a:ea typeface="Arial"/>
                <a:cs typeface="Arial"/>
              </a:defRPr>
            </a:pPr>
            <a:r>
              <a:rPr sz="2175" b="1">
                <a:solidFill>
                  <a:srgbClr val="000000"/>
                </a:solidFill>
                <a:latin typeface="Arial"/>
                <a:ea typeface="Arial"/>
                <a:cs typeface="Arial"/>
              </a:rPr>
              <a:t>Neural input</a:t>
            </a:r>
          </a:p>
        </p:txBody>
      </p:sp>
      <p:sp>
        <p:nvSpPr>
          <p:cNvPr id="18" name="">
            <a:extLst xmlns:a="http://schemas.openxmlformats.org/drawingml/2006/main">
              <a:ext uri="{FF2B5EF4-FFF2-40B4-BE49-F238E27FC236}">
                <a16:creationId xmlns:a16="http://schemas.microsoft.com/office/drawing/2014/main" id="{05F1074E-9C7E-4F43-8947-A80455955458}"/>
              </a:ext>
            </a:extLst>
          </p:cNvPr>
          <p:cNvSpPr>
            <a:spLocks xmlns:a="http://schemas.openxmlformats.org/drawingml/2006/main" noGrp="1"/>
          </p:cNvSpPr>
          <p:nvPr/>
        </p:nvSpPr>
        <p:spPr>
          <a:xfrm xmlns:a="http://schemas.openxmlformats.org/drawingml/2006/main">
            <a:off x="9239250" y="3286125"/>
            <a:ext cx="190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40 x 98 map</a:t>
            </a:r>
          </a:p>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train-normalized</a:t>
            </a:r>
          </a:p>
        </p:txBody>
      </p:sp>
      <p:sp>
        <p:nvSpPr>
          <p:cNvPr id="19" name="">
            <a:extLst xmlns:a="http://schemas.openxmlformats.org/drawingml/2006/main">
              <a:ext uri="{FF2B5EF4-FFF2-40B4-BE49-F238E27FC236}">
                <a16:creationId xmlns:a16="http://schemas.microsoft.com/office/drawing/2014/main" id="{72C0A1B8-A0D9-48B9-9F6E-D1014A25F4F6}"/>
              </a:ext>
            </a:extLst>
          </p:cNvPr>
          <p:cNvSpPr>
            <a:spLocks xmlns:a="http://schemas.openxmlformats.org/drawingml/2006/main" noGrp="1"/>
          </p:cNvSpPr>
          <p:nvPr/>
        </p:nvSpPr>
        <p:spPr>
          <a:xfrm xmlns:a="http://schemas.openxmlformats.org/drawingml/2006/main">
            <a:off x="1476375" y="514350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0">
                <a:solidFill>
                  <a:srgbClr val="000000"/>
                </a:solidFill>
                <a:latin typeface="Arial"/>
                <a:ea typeface="Arial"/>
                <a:cs typeface="Arial"/>
              </a:defRPr>
            </a:pPr>
            <a:r>
              <a:rPr sz="1800" b="0">
                <a:solidFill>
                  <a:srgbClr val="000000"/>
                </a:solidFill>
                <a:latin typeface="Arial"/>
                <a:ea typeface="Arial"/>
                <a:cs typeface="Arial"/>
              </a:rPr>
              <a:t>MFCCs are the compact baseline; main experiments retain the full log-Mel map.</a:t>
            </a:r>
          </a:p>
        </p:txBody>
      </p:sp>
    </p:spTree>
    <p:extLst>
      <p:ext uri="{BB962C8B-B14F-4D97-AF65-F5344CB8AC3E}">
        <p14:creationId xmlns:p14="http://schemas.microsoft.com/office/powerpoint/2010/main" val="7994669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6B9A511-BD08-4FD1-BB5B-B35CDFB2C49C}"/>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7-title">
            <a:extLst xmlns:a="http://schemas.openxmlformats.org/drawingml/2006/main">
              <a:ext uri="{FF2B5EF4-FFF2-40B4-BE49-F238E27FC236}">
                <a16:creationId xmlns:a16="http://schemas.microsoft.com/office/drawing/2014/main" id="{201A4AA6-6755-4759-BDD5-941F0EBAB75C}"/>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Five experiments isolate each design choice</a:t>
            </a:r>
          </a:p>
        </p:txBody>
      </p:sp>
      <p:sp>
        <p:nvSpPr>
          <p:cNvPr id="3" name="">
            <a:extLst xmlns:a="http://schemas.openxmlformats.org/drawingml/2006/main">
              <a:ext uri="{FF2B5EF4-FFF2-40B4-BE49-F238E27FC236}">
                <a16:creationId xmlns:a16="http://schemas.microsoft.com/office/drawing/2014/main" id="{DCF9A7E5-1A3C-4600-98A1-3E5A90BAA6F5}"/>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6E1FBE05-CA18-477F-AEEE-DBFD53D013EB}"/>
              </a:ext>
            </a:extLst>
          </p:cNvPr>
          <p:cNvSpPr>
            <a:spLocks xmlns:a="http://schemas.openxmlformats.org/drawingml/2006/main" noGrp="1"/>
          </p:cNvSpPr>
          <p:nvPr/>
        </p:nvSpPr>
        <p:spPr>
          <a:xfrm xmlns:a="http://schemas.openxmlformats.org/drawingml/2006/main">
            <a:off x="457200" y="1190625"/>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Selection metric: validation macro-F1; the test set remains sealed.</a:t>
            </a:r>
          </a:p>
        </p:txBody>
      </p:sp>
      <p:graphicFrame>
        <p:nvGraphicFramePr>
          <p:cNvPr id="12" name=""/>
          <p:cNvGraphicFramePr/>
          <p:nvPr/>
        </p:nvGraphicFramePr>
        <p:xfrm>
          <a:off xmlns:a="http://schemas.openxmlformats.org/drawingml/2006/main" x="457200" y="1809750"/>
          <a:ext xmlns:a="http://schemas.openxmlformats.org/drawingml/2006/main" cx="11239500" cy="3905250"/>
        </p:xfrm>
        <a:graphic xmlns:a="http://schemas.openxmlformats.org/drawingml/2006/main">
          <a:graphicData uri="http://schemas.openxmlformats.org/drawingml/2006/table">
            <a:tbl>
              <a:tblPr firstRow="1" firstCol="1" bandRow="1"/>
              <a:tblGrid>
                <a:gridCol w="857250"/>
                <a:gridCol w="2000250"/>
                <a:gridCol w="2190750"/>
                <a:gridCol w="2476500"/>
                <a:gridCol w="3714750"/>
              </a:tblGrid>
              <a:tr h="650875">
                <a:tc>
                  <a:txBody>
                    <a:bodyPr/>
                    <a:lstStyle/>
                    <a:p>
                      <a:r>
                        <a:rPr sz="1650" b="1">
                          <a:solidFill>
                            <a:srgbClr val="FFFFFF"/>
                          </a:solidFill>
                          <a:latin typeface="Arial"/>
                          <a:ea typeface="Arial"/>
                          <a:cs typeface="Arial"/>
                        </a:rPr>
                        <a:t>ID</a:t>
                      </a:r>
                    </a:p>
                  </a:txBody>
                  <a:tcPr marL="91440" marR="91440" marT="45720" marB="45720">
                    <a:solidFill>
                      <a:srgbClr val="000000"/>
                    </a:solidFill>
                  </a:tcPr>
                </a:tc>
                <a:tc>
                  <a:txBody>
                    <a:bodyPr/>
                    <a:lstStyle/>
                    <a:p>
                      <a:r>
                        <a:rPr sz="1650" b="1">
                          <a:solidFill>
                            <a:srgbClr val="FFFFFF"/>
                          </a:solidFill>
                          <a:latin typeface="Arial"/>
                          <a:ea typeface="Arial"/>
                          <a:cs typeface="Arial"/>
                        </a:rPr>
                        <a:t>Representation</a:t>
                      </a:r>
                    </a:p>
                  </a:txBody>
                  <a:tcPr marL="91440" marR="91440" marT="45720" marB="45720">
                    <a:solidFill>
                      <a:srgbClr val="000000"/>
                    </a:solidFill>
                  </a:tcPr>
                </a:tc>
                <a:tc>
                  <a:txBody>
                    <a:bodyPr/>
                    <a:lstStyle/>
                    <a:p>
                      <a:r>
                        <a:rPr sz="1650" b="1">
                          <a:solidFill>
                            <a:srgbClr val="FFFFFF"/>
                          </a:solidFill>
                          <a:latin typeface="Arial"/>
                          <a:ea typeface="Arial"/>
                          <a:cs typeface="Arial"/>
                        </a:rPr>
                        <a:t>Architecture</a:t>
                      </a:r>
                    </a:p>
                  </a:txBody>
                  <a:tcPr marL="91440" marR="91440" marT="45720" marB="45720">
                    <a:solidFill>
                      <a:srgbClr val="000000"/>
                    </a:solidFill>
                  </a:tcPr>
                </a:tc>
                <a:tc>
                  <a:txBody>
                    <a:bodyPr/>
                    <a:lstStyle/>
                    <a:p>
                      <a:r>
                        <a:rPr sz="1650" b="1">
                          <a:solidFill>
                            <a:srgbClr val="FFFFFF"/>
                          </a:solidFill>
                          <a:latin typeface="Arial"/>
                          <a:ea typeface="Arial"/>
                          <a:cs typeface="Arial"/>
                        </a:rPr>
                        <a:t>Augmentation</a:t>
                      </a:r>
                    </a:p>
                  </a:txBody>
                  <a:tcPr marL="91440" marR="91440" marT="45720" marB="45720">
                    <a:solidFill>
                      <a:srgbClr val="000000"/>
                    </a:solidFill>
                  </a:tcPr>
                </a:tc>
                <a:tc>
                  <a:txBody>
                    <a:bodyPr/>
                    <a:lstStyle/>
                    <a:p>
                      <a:r>
                        <a:rPr sz="1650" b="1">
                          <a:solidFill>
                            <a:srgbClr val="FFFFFF"/>
                          </a:solidFill>
                          <a:latin typeface="Arial"/>
                          <a:ea typeface="Arial"/>
                          <a:cs typeface="Arial"/>
                        </a:rPr>
                        <a:t>Question</a:t>
                      </a:r>
                    </a:p>
                  </a:txBody>
                  <a:tcPr marL="91440" marR="91440" marT="45720" marB="45720">
                    <a:solidFill>
                      <a:srgbClr val="000000"/>
                    </a:solidFill>
                  </a:tcPr>
                </a:tc>
              </a:tr>
              <a:tr h="650875">
                <a:tc>
                  <a:txBody>
                    <a:bodyPr/>
                    <a:lstStyle/>
                    <a:p>
                      <a:r>
                        <a:rPr sz="1650" b="1">
                          <a:solidFill>
                            <a:srgbClr val="000000"/>
                          </a:solidFill>
                          <a:latin typeface="Arial"/>
                          <a:ea typeface="Arial"/>
                          <a:cs typeface="Arial"/>
                        </a:rPr>
                        <a:t>E01</a:t>
                      </a:r>
                    </a:p>
                  </a:txBody>
                  <a:tcPr marL="91440" marR="91440" marT="45720" marB="45720"/>
                </a:tc>
                <a:tc>
                  <a:txBody>
                    <a:bodyPr/>
                    <a:lstStyle/>
                    <a:p>
                      <a:r>
                        <a:rPr sz="1650">
                          <a:solidFill>
                            <a:srgbClr val="000000"/>
                          </a:solidFill>
                          <a:latin typeface="Arial"/>
                          <a:ea typeface="Arial"/>
                          <a:cs typeface="Arial"/>
                        </a:rPr>
                        <a:t>13 MFCC</a:t>
                      </a:r>
                    </a:p>
                  </a:txBody>
                  <a:tcPr marL="91440" marR="91440" marT="45720" marB="45720"/>
                </a:tc>
                <a:tc>
                  <a:txBody>
                    <a:bodyPr/>
                    <a:lstStyle/>
                    <a:p>
                      <a:r>
                        <a:rPr sz="1650">
                          <a:solidFill>
                            <a:srgbClr val="000000"/>
                          </a:solidFill>
                          <a:latin typeface="Arial"/>
                          <a:ea typeface="Arial"/>
                          <a:cs typeface="Arial"/>
                        </a:rPr>
                        <a:t>MLP</a:t>
                      </a:r>
                    </a:p>
                  </a:txBody>
                  <a:tcPr marL="91440" marR="91440" marT="45720" marB="45720"/>
                </a:tc>
                <a:tc>
                  <a:txBody>
                    <a:bodyPr/>
                    <a:lstStyle/>
                    <a:p>
                      <a:r>
                        <a:rPr sz="1650">
                          <a:solidFill>
                            <a:srgbClr val="000000"/>
                          </a:solidFill>
                          <a:latin typeface="Arial"/>
                          <a:ea typeface="Arial"/>
                          <a:cs typeface="Arial"/>
                        </a:rPr>
                        <a:t>None</a:t>
                      </a:r>
                    </a:p>
                  </a:txBody>
                  <a:tcPr marL="91440" marR="91440" marT="45720" marB="45720"/>
                </a:tc>
                <a:tc>
                  <a:txBody>
                    <a:bodyPr/>
                    <a:lstStyle/>
                    <a:p>
                      <a:r>
                        <a:rPr sz="1650">
                          <a:solidFill>
                            <a:srgbClr val="000000"/>
                          </a:solidFill>
                          <a:latin typeface="Arial"/>
                          <a:ea typeface="Arial"/>
                          <a:cs typeface="Arial"/>
                        </a:rPr>
                        <a:t>Can a dense baseline suffice?</a:t>
                      </a:r>
                    </a:p>
                  </a:txBody>
                  <a:tcPr marL="91440" marR="91440" marT="45720" marB="45720"/>
                </a:tc>
              </a:tr>
              <a:tr h="650875">
                <a:tc>
                  <a:txBody>
                    <a:bodyPr/>
                    <a:lstStyle/>
                    <a:p>
                      <a:r>
                        <a:rPr sz="1650" b="1">
                          <a:solidFill>
                            <a:srgbClr val="000000"/>
                          </a:solidFill>
                          <a:latin typeface="Arial"/>
                          <a:ea typeface="Arial"/>
                          <a:cs typeface="Arial"/>
                        </a:rPr>
                        <a:t>E02</a:t>
                      </a:r>
                    </a:p>
                  </a:txBody>
                  <a:tcPr marL="91440" marR="91440" marT="45720" marB="45720"/>
                </a:tc>
                <a:tc>
                  <a:txBody>
                    <a:bodyPr/>
                    <a:lstStyle/>
                    <a:p>
                      <a:r>
                        <a:rPr sz="1650">
                          <a:solidFill>
                            <a:srgbClr val="000000"/>
                          </a:solidFill>
                          <a:latin typeface="Arial"/>
                          <a:ea typeface="Arial"/>
                          <a:cs typeface="Arial"/>
                        </a:rPr>
                        <a:t>40 log-Mel</a:t>
                      </a:r>
                    </a:p>
                  </a:txBody>
                  <a:tcPr marL="91440" marR="91440" marT="45720" marB="45720"/>
                </a:tc>
                <a:tc>
                  <a:txBody>
                    <a:bodyPr/>
                    <a:lstStyle/>
                    <a:p>
                      <a:r>
                        <a:rPr sz="1650">
                          <a:solidFill>
                            <a:srgbClr val="000000"/>
                          </a:solidFill>
                          <a:latin typeface="Arial"/>
                          <a:ea typeface="Arial"/>
                          <a:cs typeface="Arial"/>
                        </a:rPr>
                        <a:t>Small CNN</a:t>
                      </a:r>
                    </a:p>
                  </a:txBody>
                  <a:tcPr marL="91440" marR="91440" marT="45720" marB="45720"/>
                </a:tc>
                <a:tc>
                  <a:txBody>
                    <a:bodyPr/>
                    <a:lstStyle/>
                    <a:p>
                      <a:r>
                        <a:rPr sz="1650">
                          <a:solidFill>
                            <a:srgbClr val="000000"/>
                          </a:solidFill>
                          <a:latin typeface="Arial"/>
                          <a:ea typeface="Arial"/>
                          <a:cs typeface="Arial"/>
                        </a:rPr>
                        <a:t>None</a:t>
                      </a:r>
                    </a:p>
                  </a:txBody>
                  <a:tcPr marL="91440" marR="91440" marT="45720" marB="45720"/>
                </a:tc>
                <a:tc>
                  <a:txBody>
                    <a:bodyPr/>
                    <a:lstStyle/>
                    <a:p>
                      <a:r>
                        <a:rPr sz="1650">
                          <a:solidFill>
                            <a:srgbClr val="000000"/>
                          </a:solidFill>
                          <a:latin typeface="Arial"/>
                          <a:ea typeface="Arial"/>
                          <a:cs typeface="Arial"/>
                        </a:rPr>
                        <a:t>Does local structure help?</a:t>
                      </a:r>
                    </a:p>
                  </a:txBody>
                  <a:tcPr marL="91440" marR="91440" marT="45720" marB="45720"/>
                </a:tc>
              </a:tr>
              <a:tr h="650875">
                <a:tc>
                  <a:txBody>
                    <a:bodyPr/>
                    <a:lstStyle/>
                    <a:p>
                      <a:r>
                        <a:rPr sz="1650" b="1">
                          <a:solidFill>
                            <a:srgbClr val="000000"/>
                          </a:solidFill>
                          <a:latin typeface="Arial"/>
                          <a:ea typeface="Arial"/>
                          <a:cs typeface="Arial"/>
                        </a:rPr>
                        <a:t>E03</a:t>
                      </a:r>
                    </a:p>
                  </a:txBody>
                  <a:tcPr marL="91440" marR="91440" marT="45720" marB="45720"/>
                </a:tc>
                <a:tc>
                  <a:txBody>
                    <a:bodyPr/>
                    <a:lstStyle/>
                    <a:p>
                      <a:r>
                        <a:rPr sz="1650">
                          <a:solidFill>
                            <a:srgbClr val="000000"/>
                          </a:solidFill>
                          <a:latin typeface="Arial"/>
                          <a:ea typeface="Arial"/>
                          <a:cs typeface="Arial"/>
                        </a:rPr>
                        <a:t>40 log-Mel</a:t>
                      </a:r>
                    </a:p>
                  </a:txBody>
                  <a:tcPr marL="91440" marR="91440" marT="45720" marB="45720"/>
                </a:tc>
                <a:tc>
                  <a:txBody>
                    <a:bodyPr/>
                    <a:lstStyle/>
                    <a:p>
                      <a:r>
                        <a:rPr sz="1650">
                          <a:solidFill>
                            <a:srgbClr val="000000"/>
                          </a:solidFill>
                          <a:latin typeface="Arial"/>
                          <a:ea typeface="Arial"/>
                          <a:cs typeface="Arial"/>
                        </a:rPr>
                        <a:t>DS-CNN</a:t>
                      </a:r>
                    </a:p>
                  </a:txBody>
                  <a:tcPr marL="91440" marR="91440" marT="45720" marB="45720"/>
                </a:tc>
                <a:tc>
                  <a:txBody>
                    <a:bodyPr/>
                    <a:lstStyle/>
                    <a:p>
                      <a:r>
                        <a:rPr sz="1650">
                          <a:solidFill>
                            <a:srgbClr val="000000"/>
                          </a:solidFill>
                          <a:latin typeface="Arial"/>
                          <a:ea typeface="Arial"/>
                          <a:cs typeface="Arial"/>
                        </a:rPr>
                        <a:t>None</a:t>
                      </a:r>
                    </a:p>
                  </a:txBody>
                  <a:tcPr marL="91440" marR="91440" marT="45720" marB="45720"/>
                </a:tc>
                <a:tc>
                  <a:txBody>
                    <a:bodyPr/>
                    <a:lstStyle/>
                    <a:p>
                      <a:r>
                        <a:rPr sz="1650">
                          <a:solidFill>
                            <a:srgbClr val="000000"/>
                          </a:solidFill>
                          <a:latin typeface="Arial"/>
                          <a:ea typeface="Arial"/>
                          <a:cs typeface="Arial"/>
                        </a:rPr>
                        <a:t>Can efficiency retain accuracy?</a:t>
                      </a:r>
                    </a:p>
                  </a:txBody>
                  <a:tcPr marL="91440" marR="91440" marT="45720" marB="45720"/>
                </a:tc>
              </a:tr>
              <a:tr h="650875">
                <a:tc>
                  <a:txBody>
                    <a:bodyPr/>
                    <a:lstStyle/>
                    <a:p>
                      <a:r>
                        <a:rPr sz="1650" b="1">
                          <a:solidFill>
                            <a:srgbClr val="000000"/>
                          </a:solidFill>
                          <a:latin typeface="Arial"/>
                          <a:ea typeface="Arial"/>
                          <a:cs typeface="Arial"/>
                        </a:rPr>
                        <a:t>E04</a:t>
                      </a:r>
                    </a:p>
                  </a:txBody>
                  <a:tcPr marL="91440" marR="91440" marT="45720" marB="45720"/>
                </a:tc>
                <a:tc>
                  <a:txBody>
                    <a:bodyPr/>
                    <a:lstStyle/>
                    <a:p>
                      <a:r>
                        <a:rPr sz="1650">
                          <a:solidFill>
                            <a:srgbClr val="000000"/>
                          </a:solidFill>
                          <a:latin typeface="Arial"/>
                          <a:ea typeface="Arial"/>
                          <a:cs typeface="Arial"/>
                        </a:rPr>
                        <a:t>40 log-Mel</a:t>
                      </a:r>
                    </a:p>
                  </a:txBody>
                  <a:tcPr marL="91440" marR="91440" marT="45720" marB="45720"/>
                </a:tc>
                <a:tc>
                  <a:txBody>
                    <a:bodyPr/>
                    <a:lstStyle/>
                    <a:p>
                      <a:r>
                        <a:rPr sz="1650">
                          <a:solidFill>
                            <a:srgbClr val="000000"/>
                          </a:solidFill>
                          <a:latin typeface="Arial"/>
                          <a:ea typeface="Arial"/>
                          <a:cs typeface="Arial"/>
                        </a:rPr>
                        <a:t>DS-CNN</a:t>
                      </a:r>
                    </a:p>
                  </a:txBody>
                  <a:tcPr marL="91440" marR="91440" marT="45720" marB="45720"/>
                </a:tc>
                <a:tc>
                  <a:txBody>
                    <a:bodyPr/>
                    <a:lstStyle/>
                    <a:p>
                      <a:r>
                        <a:rPr sz="1650">
                          <a:solidFill>
                            <a:srgbClr val="000000"/>
                          </a:solidFill>
                          <a:latin typeface="Arial"/>
                          <a:ea typeface="Arial"/>
                          <a:cs typeface="Arial"/>
                        </a:rPr>
                        <a:t>Wave + SpecAugment</a:t>
                      </a:r>
                    </a:p>
                  </a:txBody>
                  <a:tcPr marL="91440" marR="91440" marT="45720" marB="45720"/>
                </a:tc>
                <a:tc>
                  <a:txBody>
                    <a:bodyPr/>
                    <a:lstStyle/>
                    <a:p>
                      <a:r>
                        <a:rPr sz="1650">
                          <a:solidFill>
                            <a:srgbClr val="000000"/>
                          </a:solidFill>
                          <a:latin typeface="Arial"/>
                          <a:ea typeface="Arial"/>
                          <a:cs typeface="Arial"/>
                        </a:rPr>
                        <a:t>What does augmentation trade?</a:t>
                      </a:r>
                    </a:p>
                  </a:txBody>
                  <a:tcPr marL="91440" marR="91440" marT="45720" marB="45720"/>
                </a:tc>
              </a:tr>
              <a:tr h="650875">
                <a:tc>
                  <a:txBody>
                    <a:bodyPr/>
                    <a:lstStyle/>
                    <a:p>
                      <a:r>
                        <a:rPr sz="1650" b="1">
                          <a:solidFill>
                            <a:srgbClr val="3D8DFF"/>
                          </a:solidFill>
                          <a:latin typeface="Arial"/>
                          <a:ea typeface="Arial"/>
                          <a:cs typeface="Arial"/>
                        </a:rPr>
                        <a:t>E05</a:t>
                      </a:r>
                    </a:p>
                  </a:txBody>
                  <a:tcPr marL="91440" marR="91440" marT="45720" marB="45720"/>
                </a:tc>
                <a:tc>
                  <a:txBody>
                    <a:bodyPr/>
                    <a:lstStyle/>
                    <a:p>
                      <a:r>
                        <a:rPr sz="1650">
                          <a:solidFill>
                            <a:srgbClr val="000000"/>
                          </a:solidFill>
                          <a:latin typeface="Arial"/>
                          <a:ea typeface="Arial"/>
                          <a:cs typeface="Arial"/>
                        </a:rPr>
                        <a:t>40 log-Mel</a:t>
                      </a:r>
                    </a:p>
                  </a:txBody>
                  <a:tcPr marL="91440" marR="91440" marT="45720" marB="45720"/>
                </a:tc>
                <a:tc>
                  <a:txBody>
                    <a:bodyPr/>
                    <a:lstStyle/>
                    <a:p>
                      <a:r>
                        <a:rPr sz="1650">
                          <a:solidFill>
                            <a:srgbClr val="000000"/>
                          </a:solidFill>
                          <a:latin typeface="Arial"/>
                          <a:ea typeface="Arial"/>
                          <a:cs typeface="Arial"/>
                        </a:rPr>
                        <a:t>Conv + BiGRU</a:t>
                      </a:r>
                    </a:p>
                  </a:txBody>
                  <a:tcPr marL="91440" marR="91440" marT="45720" marB="45720"/>
                </a:tc>
                <a:tc>
                  <a:txBody>
                    <a:bodyPr/>
                    <a:lstStyle/>
                    <a:p>
                      <a:r>
                        <a:rPr sz="1650">
                          <a:solidFill>
                            <a:srgbClr val="000000"/>
                          </a:solidFill>
                          <a:latin typeface="Arial"/>
                          <a:ea typeface="Arial"/>
                          <a:cs typeface="Arial"/>
                        </a:rPr>
                        <a:t>Wave + SpecAugment</a:t>
                      </a:r>
                    </a:p>
                  </a:txBody>
                  <a:tcPr marL="91440" marR="91440" marT="45720" marB="45720"/>
                </a:tc>
                <a:tc>
                  <a:txBody>
                    <a:bodyPr/>
                    <a:lstStyle/>
                    <a:p>
                      <a:r>
                        <a:rPr sz="1650">
                          <a:solidFill>
                            <a:srgbClr val="000000"/>
                          </a:solidFill>
                          <a:latin typeface="Arial"/>
                          <a:ea typeface="Arial"/>
                          <a:cs typeface="Arial"/>
                        </a:rPr>
                        <a:t>Does temporal memory help?</a:t>
                      </a:r>
                    </a:p>
                  </a:txBody>
                  <a:tcPr marL="91440" marR="91440" marT="45720" marB="45720"/>
                </a:tc>
              </a:tr>
            </a:tbl>
          </a:graphicData>
        </a:graphic>
      </p:graphicFrame>
    </p:spTree>
    <p:extLst>
      <p:ext uri="{BB962C8B-B14F-4D97-AF65-F5344CB8AC3E}">
        <p14:creationId xmlns:p14="http://schemas.microsoft.com/office/powerpoint/2010/main" val="4500249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2C54B76-E33D-4155-A1F3-7C15C6340DB7}"/>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8-title">
            <a:extLst xmlns:a="http://schemas.openxmlformats.org/drawingml/2006/main">
              <a:ext uri="{FF2B5EF4-FFF2-40B4-BE49-F238E27FC236}">
                <a16:creationId xmlns:a16="http://schemas.microsoft.com/office/drawing/2014/main" id="{B19A2DEA-D93C-49B1-854D-2EA540401EC6}"/>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Task structure beats parameter count</a:t>
            </a:r>
          </a:p>
        </p:txBody>
      </p:sp>
      <p:sp>
        <p:nvSpPr>
          <p:cNvPr id="3" name="">
            <a:extLst xmlns:a="http://schemas.openxmlformats.org/drawingml/2006/main">
              <a:ext uri="{FF2B5EF4-FFF2-40B4-BE49-F238E27FC236}">
                <a16:creationId xmlns:a16="http://schemas.microsoft.com/office/drawing/2014/main" id="{FAF26FA0-C688-457B-82B8-D500A1478EAC}"/>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38FDD52C-1720-4303-A62A-D051F1F8BF32}"/>
              </a:ext>
            </a:extLst>
          </p:cNvPr>
          <p:cNvSpPr>
            <a:spLocks xmlns:a="http://schemas.openxmlformats.org/drawingml/2006/main" noGrp="1"/>
          </p:cNvSpPr>
          <p:nvPr/>
        </p:nvSpPr>
        <p:spPr>
          <a:xfrm xmlns:a="http://schemas.openxmlformats.org/drawingml/2006/main">
            <a:off x="457200" y="1666875"/>
            <a:ext cx="3381375" cy="3714750"/>
          </a:xfrm>
          <a:prstGeom xmlns:a="http://schemas.openxmlformats.org/drawingml/2006/main" prst="rect">
            <a:avLst/>
          </a:prstGeom>
          <a:solidFill xmlns:a="http://schemas.openxmlformats.org/drawingml/2006/main">
            <a:srgbClr val="F2F2F2"/>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28F6793B-EC0C-4826-A014-BA8D69EA933F}"/>
              </a:ext>
            </a:extLst>
          </p:cNvPr>
          <p:cNvSpPr>
            <a:spLocks xmlns:a="http://schemas.openxmlformats.org/drawingml/2006/main" noGrp="1"/>
          </p:cNvSpPr>
          <p:nvPr/>
        </p:nvSpPr>
        <p:spPr>
          <a:xfrm xmlns:a="http://schemas.openxmlformats.org/drawingml/2006/main">
            <a:off x="457200" y="1666875"/>
            <a:ext cx="3381375" cy="0"/>
          </a:xfrm>
          <a:prstGeom xmlns:a="http://schemas.openxmlformats.org/drawingml/2006/main" prst="line">
            <a:avLst/>
          </a:prstGeom>
          <a:noFill xmlns:a="http://schemas.openxmlformats.org/drawingml/2006/main"/>
          <a:ln xmlns:a="http://schemas.openxmlformats.org/drawingml/2006/main" w="76200">
            <a:solidFill>
              <a:srgbClr val="B8BCC4"/>
            </a:solidFill>
            <a:prstDash val="solid"/>
          </a:ln>
        </p:spPr>
      </p:sp>
      <p:sp>
        <p:nvSpPr>
          <p:cNvPr id="6" name="">
            <a:extLst xmlns:a="http://schemas.openxmlformats.org/drawingml/2006/main">
              <a:ext uri="{FF2B5EF4-FFF2-40B4-BE49-F238E27FC236}">
                <a16:creationId xmlns:a16="http://schemas.microsoft.com/office/drawing/2014/main" id="{BB781FBE-30B8-49AE-B3E3-599FAE1B7CE2}"/>
              </a:ext>
            </a:extLst>
          </p:cNvPr>
          <p:cNvSpPr>
            <a:spLocks xmlns:a="http://schemas.openxmlformats.org/drawingml/2006/main" noGrp="1"/>
          </p:cNvSpPr>
          <p:nvPr/>
        </p:nvSpPr>
        <p:spPr>
          <a:xfrm xmlns:a="http://schemas.openxmlformats.org/drawingml/2006/main">
            <a:off x="723900" y="2047875"/>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MFCC MLP</a:t>
            </a:r>
          </a:p>
        </p:txBody>
      </p:sp>
      <p:sp>
        <p:nvSpPr>
          <p:cNvPr id="7" name="">
            <a:extLst xmlns:a="http://schemas.openxmlformats.org/drawingml/2006/main">
              <a:ext uri="{FF2B5EF4-FFF2-40B4-BE49-F238E27FC236}">
                <a16:creationId xmlns:a16="http://schemas.microsoft.com/office/drawing/2014/main" id="{BDB77CE9-1A8F-4A89-BB3D-5CB638DA58C3}"/>
              </a:ext>
            </a:extLst>
          </p:cNvPr>
          <p:cNvSpPr>
            <a:spLocks xmlns:a="http://schemas.openxmlformats.org/drawingml/2006/main" noGrp="1"/>
          </p:cNvSpPr>
          <p:nvPr/>
        </p:nvSpPr>
        <p:spPr>
          <a:xfrm xmlns:a="http://schemas.openxmlformats.org/drawingml/2006/main">
            <a:off x="723900" y="2714625"/>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B8BCC4"/>
                </a:solidFill>
                <a:latin typeface="Arial"/>
                <a:ea typeface="Arial"/>
                <a:cs typeface="Arial"/>
              </a:defRPr>
            </a:pPr>
            <a:r>
              <a:rPr sz="1800" b="1">
                <a:solidFill>
                  <a:srgbClr val="B8BCC4"/>
                </a:solidFill>
                <a:latin typeface="Arial"/>
                <a:ea typeface="Arial"/>
                <a:cs typeface="Arial"/>
              </a:rPr>
              <a:t>361,999 params</a:t>
            </a:r>
          </a:p>
        </p:txBody>
      </p:sp>
      <p:sp>
        <p:nvSpPr>
          <p:cNvPr id="8" name="">
            <a:extLst xmlns:a="http://schemas.openxmlformats.org/drawingml/2006/main">
              <a:ext uri="{FF2B5EF4-FFF2-40B4-BE49-F238E27FC236}">
                <a16:creationId xmlns:a16="http://schemas.microsoft.com/office/drawing/2014/main" id="{276BB98B-5646-4876-838F-15198ECBB8ED}"/>
              </a:ext>
            </a:extLst>
          </p:cNvPr>
          <p:cNvSpPr>
            <a:spLocks xmlns:a="http://schemas.openxmlformats.org/drawingml/2006/main" noGrp="1"/>
          </p:cNvSpPr>
          <p:nvPr/>
        </p:nvSpPr>
        <p:spPr>
          <a:xfrm xmlns:a="http://schemas.openxmlformats.org/drawingml/2006/main">
            <a:off x="723900" y="3429000"/>
            <a:ext cx="285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Flattened coefficients</a:t>
            </a:r>
          </a:p>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3 dense blocks</a:t>
            </a:r>
          </a:p>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No explicit locality</a:t>
            </a:r>
          </a:p>
        </p:txBody>
      </p:sp>
      <p:sp>
        <p:nvSpPr>
          <p:cNvPr id="9" name="">
            <a:extLst xmlns:a="http://schemas.openxmlformats.org/drawingml/2006/main">
              <a:ext uri="{FF2B5EF4-FFF2-40B4-BE49-F238E27FC236}">
                <a16:creationId xmlns:a16="http://schemas.microsoft.com/office/drawing/2014/main" id="{467E68AE-C27D-40F3-B20D-BACC5DFCB544}"/>
              </a:ext>
            </a:extLst>
          </p:cNvPr>
          <p:cNvSpPr>
            <a:spLocks xmlns:a="http://schemas.openxmlformats.org/drawingml/2006/main" noGrp="1"/>
          </p:cNvSpPr>
          <p:nvPr/>
        </p:nvSpPr>
        <p:spPr>
          <a:xfrm xmlns:a="http://schemas.openxmlformats.org/drawingml/2006/main">
            <a:off x="4305300" y="1666875"/>
            <a:ext cx="3381375" cy="3714750"/>
          </a:xfrm>
          <a:prstGeom xmlns:a="http://schemas.openxmlformats.org/drawingml/2006/main" prst="rect">
            <a:avLst/>
          </a:prstGeom>
          <a:solidFill xmlns:a="http://schemas.openxmlformats.org/drawingml/2006/main">
            <a:srgbClr val="F2F2F2"/>
          </a:solidFill>
          <a:ln xmlns:a="http://schemas.openxmlformats.org/drawingml/2006/main" w="9525">
            <a:solidFill>
              <a:srgbClr val="7B2CBF"/>
            </a:solidFill>
            <a:prstDash val="solid"/>
          </a:ln>
        </p:spPr>
      </p:sp>
      <p:sp>
        <p:nvSpPr>
          <p:cNvPr id="10" name="">
            <a:extLst xmlns:a="http://schemas.openxmlformats.org/drawingml/2006/main">
              <a:ext uri="{FF2B5EF4-FFF2-40B4-BE49-F238E27FC236}">
                <a16:creationId xmlns:a16="http://schemas.microsoft.com/office/drawing/2014/main" id="{9E5C89BA-6FF8-4715-9DCB-4E63050DCF54}"/>
              </a:ext>
            </a:extLst>
          </p:cNvPr>
          <p:cNvSpPr>
            <a:spLocks xmlns:a="http://schemas.openxmlformats.org/drawingml/2006/main" noGrp="1"/>
          </p:cNvSpPr>
          <p:nvPr/>
        </p:nvSpPr>
        <p:spPr>
          <a:xfrm xmlns:a="http://schemas.openxmlformats.org/drawingml/2006/main">
            <a:off x="4305300" y="1666875"/>
            <a:ext cx="3381375" cy="0"/>
          </a:xfrm>
          <a:prstGeom xmlns:a="http://schemas.openxmlformats.org/drawingml/2006/main" prst="line">
            <a:avLst/>
          </a:prstGeom>
          <a:noFill xmlns:a="http://schemas.openxmlformats.org/drawingml/2006/main"/>
          <a:ln xmlns:a="http://schemas.openxmlformats.org/drawingml/2006/main" w="76200">
            <a:solidFill>
              <a:srgbClr val="7B2CBF"/>
            </a:solidFill>
            <a:prstDash val="solid"/>
          </a:ln>
        </p:spPr>
      </p:sp>
      <p:sp>
        <p:nvSpPr>
          <p:cNvPr id="11" name="">
            <a:extLst xmlns:a="http://schemas.openxmlformats.org/drawingml/2006/main">
              <a:ext uri="{FF2B5EF4-FFF2-40B4-BE49-F238E27FC236}">
                <a16:creationId xmlns:a16="http://schemas.microsoft.com/office/drawing/2014/main" id="{814D6A17-729F-4229-9504-DC861E6E7B6F}"/>
              </a:ext>
            </a:extLst>
          </p:cNvPr>
          <p:cNvSpPr>
            <a:spLocks xmlns:a="http://schemas.openxmlformats.org/drawingml/2006/main" noGrp="1"/>
          </p:cNvSpPr>
          <p:nvPr/>
        </p:nvSpPr>
        <p:spPr>
          <a:xfrm xmlns:a="http://schemas.openxmlformats.org/drawingml/2006/main">
            <a:off x="4572000" y="2047875"/>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DS-CNN</a:t>
            </a:r>
          </a:p>
        </p:txBody>
      </p:sp>
      <p:sp>
        <p:nvSpPr>
          <p:cNvPr id="12" name="">
            <a:extLst xmlns:a="http://schemas.openxmlformats.org/drawingml/2006/main">
              <a:ext uri="{FF2B5EF4-FFF2-40B4-BE49-F238E27FC236}">
                <a16:creationId xmlns:a16="http://schemas.microsoft.com/office/drawing/2014/main" id="{474C71F4-193B-4025-89DF-66F4B3C0FB0D}"/>
              </a:ext>
            </a:extLst>
          </p:cNvPr>
          <p:cNvSpPr>
            <a:spLocks xmlns:a="http://schemas.openxmlformats.org/drawingml/2006/main" noGrp="1"/>
          </p:cNvSpPr>
          <p:nvPr/>
        </p:nvSpPr>
        <p:spPr>
          <a:xfrm xmlns:a="http://schemas.openxmlformats.org/drawingml/2006/main">
            <a:off x="4572000" y="2714625"/>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7B2CBF"/>
                </a:solidFill>
                <a:latin typeface="Arial"/>
                <a:ea typeface="Arial"/>
                <a:cs typeface="Arial"/>
              </a:defRPr>
            </a:pPr>
            <a:r>
              <a:rPr sz="1800" b="1">
                <a:solidFill>
                  <a:srgbClr val="7B2CBF"/>
                </a:solidFill>
                <a:latin typeface="Arial"/>
                <a:ea typeface="Arial"/>
                <a:cs typeface="Arial"/>
              </a:rPr>
              <a:t>46,863 params</a:t>
            </a:r>
          </a:p>
        </p:txBody>
      </p:sp>
      <p:sp>
        <p:nvSpPr>
          <p:cNvPr id="13" name="">
            <a:extLst xmlns:a="http://schemas.openxmlformats.org/drawingml/2006/main">
              <a:ext uri="{FF2B5EF4-FFF2-40B4-BE49-F238E27FC236}">
                <a16:creationId xmlns:a16="http://schemas.microsoft.com/office/drawing/2014/main" id="{26A381F2-38CE-4CF7-B224-7911ABB9B106}"/>
              </a:ext>
            </a:extLst>
          </p:cNvPr>
          <p:cNvSpPr>
            <a:spLocks xmlns:a="http://schemas.openxmlformats.org/drawingml/2006/main" noGrp="1"/>
          </p:cNvSpPr>
          <p:nvPr/>
        </p:nvSpPr>
        <p:spPr>
          <a:xfrm xmlns:a="http://schemas.openxmlformats.org/drawingml/2006/main">
            <a:off x="4572000" y="3429000"/>
            <a:ext cx="285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Depthwise + pointwise conv</a:t>
            </a:r>
          </a:p>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Global pooling</a:t>
            </a:r>
          </a:p>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Compact spatial model</a:t>
            </a:r>
          </a:p>
        </p:txBody>
      </p:sp>
      <p:sp>
        <p:nvSpPr>
          <p:cNvPr id="14" name="">
            <a:extLst xmlns:a="http://schemas.openxmlformats.org/drawingml/2006/main">
              <a:ext uri="{FF2B5EF4-FFF2-40B4-BE49-F238E27FC236}">
                <a16:creationId xmlns:a16="http://schemas.microsoft.com/office/drawing/2014/main" id="{FEF3CC35-65FD-46B6-9714-DB824D71AEA0}"/>
              </a:ext>
            </a:extLst>
          </p:cNvPr>
          <p:cNvSpPr>
            <a:spLocks xmlns:a="http://schemas.openxmlformats.org/drawingml/2006/main" noGrp="1"/>
          </p:cNvSpPr>
          <p:nvPr/>
        </p:nvSpPr>
        <p:spPr>
          <a:xfrm xmlns:a="http://schemas.openxmlformats.org/drawingml/2006/main">
            <a:off x="8153400" y="1666875"/>
            <a:ext cx="3381375" cy="3714750"/>
          </a:xfrm>
          <a:prstGeom xmlns:a="http://schemas.openxmlformats.org/drawingml/2006/main" prst="rect">
            <a:avLst/>
          </a:prstGeom>
          <a:solidFill xmlns:a="http://schemas.openxmlformats.org/drawingml/2006/main">
            <a:srgbClr val="D0EDFA"/>
          </a:solidFill>
          <a:ln xmlns:a="http://schemas.openxmlformats.org/drawingml/2006/main" w="28575">
            <a:solidFill>
              <a:srgbClr val="3D8DFF"/>
            </a:solidFill>
            <a:prstDash val="solid"/>
          </a:ln>
        </p:spPr>
      </p:sp>
      <p:sp>
        <p:nvSpPr>
          <p:cNvPr id="15" name="">
            <a:extLst xmlns:a="http://schemas.openxmlformats.org/drawingml/2006/main">
              <a:ext uri="{FF2B5EF4-FFF2-40B4-BE49-F238E27FC236}">
                <a16:creationId xmlns:a16="http://schemas.microsoft.com/office/drawing/2014/main" id="{C40FAAAB-F5DD-4364-B146-B3CE18D222D4}"/>
              </a:ext>
            </a:extLst>
          </p:cNvPr>
          <p:cNvSpPr>
            <a:spLocks xmlns:a="http://schemas.openxmlformats.org/drawingml/2006/main" noGrp="1"/>
          </p:cNvSpPr>
          <p:nvPr/>
        </p:nvSpPr>
        <p:spPr>
          <a:xfrm xmlns:a="http://schemas.openxmlformats.org/drawingml/2006/main">
            <a:off x="8153400" y="1666875"/>
            <a:ext cx="3381375" cy="0"/>
          </a:xfrm>
          <a:prstGeom xmlns:a="http://schemas.openxmlformats.org/drawingml/2006/main" prst="line">
            <a:avLst/>
          </a:prstGeom>
          <a:noFill xmlns:a="http://schemas.openxmlformats.org/drawingml/2006/main"/>
          <a:ln xmlns:a="http://schemas.openxmlformats.org/drawingml/2006/main" w="76200">
            <a:solidFill>
              <a:srgbClr val="3D8DFF"/>
            </a:solidFill>
            <a:prstDash val="solid"/>
          </a:ln>
        </p:spPr>
      </p:sp>
      <p:sp>
        <p:nvSpPr>
          <p:cNvPr id="16" name="">
            <a:extLst xmlns:a="http://schemas.openxmlformats.org/drawingml/2006/main">
              <a:ext uri="{FF2B5EF4-FFF2-40B4-BE49-F238E27FC236}">
                <a16:creationId xmlns:a16="http://schemas.microsoft.com/office/drawing/2014/main" id="{911AA1D7-1D72-4BF5-9F56-6191935E34F0}"/>
              </a:ext>
            </a:extLst>
          </p:cNvPr>
          <p:cNvSpPr>
            <a:spLocks xmlns:a="http://schemas.openxmlformats.org/drawingml/2006/main" noGrp="1"/>
          </p:cNvSpPr>
          <p:nvPr/>
        </p:nvSpPr>
        <p:spPr>
          <a:xfrm xmlns:a="http://schemas.openxmlformats.org/drawingml/2006/main">
            <a:off x="8420100" y="2047875"/>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1">
                <a:solidFill>
                  <a:srgbClr val="000000"/>
                </a:solidFill>
                <a:latin typeface="Arial"/>
                <a:ea typeface="Arial"/>
                <a:cs typeface="Arial"/>
              </a:defRPr>
            </a:pPr>
            <a:r>
              <a:rPr sz="2400" b="1">
                <a:solidFill>
                  <a:srgbClr val="000000"/>
                </a:solidFill>
                <a:latin typeface="Arial"/>
                <a:ea typeface="Arial"/>
                <a:cs typeface="Arial"/>
              </a:rPr>
              <a:t>Conv + BiGRU</a:t>
            </a:r>
          </a:p>
        </p:txBody>
      </p:sp>
      <p:sp>
        <p:nvSpPr>
          <p:cNvPr id="17" name="">
            <a:extLst xmlns:a="http://schemas.openxmlformats.org/drawingml/2006/main">
              <a:ext uri="{FF2B5EF4-FFF2-40B4-BE49-F238E27FC236}">
                <a16:creationId xmlns:a16="http://schemas.microsoft.com/office/drawing/2014/main" id="{D060AB5B-EB1C-49C0-9069-2C693F5B8B13}"/>
              </a:ext>
            </a:extLst>
          </p:cNvPr>
          <p:cNvSpPr>
            <a:spLocks xmlns:a="http://schemas.openxmlformats.org/drawingml/2006/main" noGrp="1"/>
          </p:cNvSpPr>
          <p:nvPr/>
        </p:nvSpPr>
        <p:spPr>
          <a:xfrm xmlns:a="http://schemas.openxmlformats.org/drawingml/2006/main">
            <a:off x="8420100" y="2714625"/>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3D8DFF"/>
                </a:solidFill>
                <a:latin typeface="Arial"/>
                <a:ea typeface="Arial"/>
                <a:cs typeface="Arial"/>
              </a:defRPr>
            </a:pPr>
            <a:r>
              <a:rPr sz="1800" b="1">
                <a:solidFill>
                  <a:srgbClr val="3D8DFF"/>
                </a:solidFill>
                <a:latin typeface="Arial"/>
                <a:ea typeface="Arial"/>
                <a:cs typeface="Arial"/>
              </a:rPr>
              <a:t>292,271 params</a:t>
            </a:r>
          </a:p>
        </p:txBody>
      </p:sp>
      <p:sp>
        <p:nvSpPr>
          <p:cNvPr id="18" name="">
            <a:extLst xmlns:a="http://schemas.openxmlformats.org/drawingml/2006/main">
              <a:ext uri="{FF2B5EF4-FFF2-40B4-BE49-F238E27FC236}">
                <a16:creationId xmlns:a16="http://schemas.microsoft.com/office/drawing/2014/main" id="{F680275E-D387-40B1-9250-B64F9489139C}"/>
              </a:ext>
            </a:extLst>
          </p:cNvPr>
          <p:cNvSpPr>
            <a:spLocks xmlns:a="http://schemas.openxmlformats.org/drawingml/2006/main" noGrp="1"/>
          </p:cNvSpPr>
          <p:nvPr/>
        </p:nvSpPr>
        <p:spPr>
          <a:xfrm xmlns:a="http://schemas.openxmlformats.org/drawingml/2006/main">
            <a:off x="8420100" y="3429000"/>
            <a:ext cx="285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Convolutional front end</a:t>
            </a:r>
          </a:p>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Bidirectional recurrence</a:t>
            </a:r>
          </a:p>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Temporal pooling</a:t>
            </a:r>
          </a:p>
        </p:txBody>
      </p:sp>
      <p:sp>
        <p:nvSpPr>
          <p:cNvPr id="19" name="">
            <a:extLst xmlns:a="http://schemas.openxmlformats.org/drawingml/2006/main">
              <a:ext uri="{FF2B5EF4-FFF2-40B4-BE49-F238E27FC236}">
                <a16:creationId xmlns:a16="http://schemas.microsoft.com/office/drawing/2014/main" id="{630D0B42-F611-4089-AF45-2F66E263FEAD}"/>
              </a:ext>
            </a:extLst>
          </p:cNvPr>
          <p:cNvSpPr>
            <a:spLocks xmlns:a="http://schemas.openxmlformats.org/drawingml/2006/main" noGrp="1"/>
          </p:cNvSpPr>
          <p:nvPr/>
        </p:nvSpPr>
        <p:spPr>
          <a:xfrm xmlns:a="http://schemas.openxmlformats.org/drawingml/2006/main">
            <a:off x="1333500" y="5762625"/>
            <a:ext cx="9525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00" b="1">
                <a:solidFill>
                  <a:srgbClr val="000000"/>
                </a:solidFill>
                <a:latin typeface="Arial"/>
                <a:ea typeface="Arial"/>
                <a:cs typeface="Arial"/>
              </a:defRPr>
            </a:pPr>
            <a:r>
              <a:rPr sz="2100" b="1">
                <a:solidFill>
                  <a:srgbClr val="000000"/>
                </a:solidFill>
                <a:latin typeface="Arial"/>
                <a:ea typeface="Arial"/>
                <a:cs typeface="Arial"/>
              </a:rPr>
              <a:t>Inductive bias beats raw parameter count.</a:t>
            </a:r>
          </a:p>
        </p:txBody>
      </p:sp>
    </p:spTree>
    <p:extLst>
      <p:ext uri="{BB962C8B-B14F-4D97-AF65-F5344CB8AC3E}">
        <p14:creationId xmlns:p14="http://schemas.microsoft.com/office/powerpoint/2010/main" val="10801215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E236805-AD5E-431C-BF01-62C16742A44C}"/>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9-title">
            <a:extLst xmlns:a="http://schemas.openxmlformats.org/drawingml/2006/main">
              <a:ext uri="{FF2B5EF4-FFF2-40B4-BE49-F238E27FC236}">
                <a16:creationId xmlns:a16="http://schemas.microsoft.com/office/drawing/2014/main" id="{132C9B7D-F14E-4672-B60E-4F3F37D42876}"/>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The test set stays sealed until selection is frozen</a:t>
            </a:r>
          </a:p>
        </p:txBody>
      </p:sp>
      <p:sp>
        <p:nvSpPr>
          <p:cNvPr id="3" name="">
            <a:extLst xmlns:a="http://schemas.openxmlformats.org/drawingml/2006/main">
              <a:ext uri="{FF2B5EF4-FFF2-40B4-BE49-F238E27FC236}">
                <a16:creationId xmlns:a16="http://schemas.microsoft.com/office/drawing/2014/main" id="{9794D994-2EF6-441E-8E67-0E0512E60F61}"/>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13937740-D5CC-473E-8628-A15F9D120D56}"/>
              </a:ext>
            </a:extLst>
          </p:cNvPr>
          <p:cNvSpPr>
            <a:spLocks xmlns:a="http://schemas.openxmlformats.org/drawingml/2006/main" noGrp="1"/>
          </p:cNvSpPr>
          <p:nvPr/>
        </p:nvSpPr>
        <p:spPr>
          <a:xfrm xmlns:a="http://schemas.openxmlformats.org/drawingml/2006/main">
            <a:off x="1285875" y="3095625"/>
            <a:ext cx="9525000" cy="0"/>
          </a:xfrm>
          <a:prstGeom xmlns:a="http://schemas.openxmlformats.org/drawingml/2006/main" prst="line">
            <a:avLst/>
          </a:prstGeom>
          <a:noFill xmlns:a="http://schemas.openxmlformats.org/drawingml/2006/main"/>
          <a:ln xmlns:a="http://schemas.openxmlformats.org/drawingml/2006/main" w="28575">
            <a:solidFill>
              <a:srgbClr val="B8BCC4"/>
            </a:solidFill>
            <a:prstDash val="solid"/>
          </a:ln>
        </p:spPr>
      </p:sp>
      <p:sp>
        <p:nvSpPr>
          <p:cNvPr id="5" name="">
            <a:extLst xmlns:a="http://schemas.openxmlformats.org/drawingml/2006/main">
              <a:ext uri="{FF2B5EF4-FFF2-40B4-BE49-F238E27FC236}">
                <a16:creationId xmlns:a16="http://schemas.microsoft.com/office/drawing/2014/main" id="{8DEE357B-AD8B-48CC-8845-7921155AAB21}"/>
              </a:ext>
            </a:extLst>
          </p:cNvPr>
          <p:cNvSpPr>
            <a:spLocks xmlns:a="http://schemas.openxmlformats.org/drawingml/2006/main" noGrp="1"/>
          </p:cNvSpPr>
          <p:nvPr/>
        </p:nvSpPr>
        <p:spPr>
          <a:xfrm xmlns:a="http://schemas.openxmlformats.org/drawingml/2006/main">
            <a:off x="1381125" y="2667000"/>
            <a:ext cx="685800" cy="685800"/>
          </a:xfrm>
          <a:prstGeom xmlns:a="http://schemas.openxmlformats.org/drawingml/2006/main" prst="ellipse">
            <a:avLst/>
          </a:prstGeom>
          <a:solidFill xmlns:a="http://schemas.openxmlformats.org/drawingml/2006/main">
            <a:srgbClr val="FFFFFF"/>
          </a:solidFill>
          <a:ln xmlns:a="http://schemas.openxmlformats.org/drawingml/2006/main" w="28575">
            <a:solidFill>
              <a:srgbClr val="000000"/>
            </a:solidFill>
            <a:prstDash val="solid"/>
          </a:ln>
        </p:spPr>
      </p:sp>
      <p:sp>
        <p:nvSpPr>
          <p:cNvPr id="6" name="">
            <a:extLst xmlns:a="http://schemas.openxmlformats.org/drawingml/2006/main">
              <a:ext uri="{FF2B5EF4-FFF2-40B4-BE49-F238E27FC236}">
                <a16:creationId xmlns:a16="http://schemas.microsoft.com/office/drawing/2014/main" id="{BF5795A1-D801-4989-A3FF-64C4D0750363}"/>
              </a:ext>
            </a:extLst>
          </p:cNvPr>
          <p:cNvSpPr>
            <a:spLocks xmlns:a="http://schemas.openxmlformats.org/drawingml/2006/main" noGrp="1"/>
          </p:cNvSpPr>
          <p:nvPr/>
        </p:nvSpPr>
        <p:spPr>
          <a:xfrm xmlns:a="http://schemas.openxmlformats.org/drawingml/2006/main">
            <a:off x="1381125" y="28003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B60F3BC7-3244-4246-B492-B51A424938C1}"/>
              </a:ext>
            </a:extLst>
          </p:cNvPr>
          <p:cNvSpPr>
            <a:spLocks xmlns:a="http://schemas.openxmlformats.org/drawingml/2006/main" noGrp="1"/>
          </p:cNvSpPr>
          <p:nvPr/>
        </p:nvSpPr>
        <p:spPr>
          <a:xfrm xmlns:a="http://schemas.openxmlformats.org/drawingml/2006/main">
            <a:off x="666750" y="37147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000000"/>
                </a:solidFill>
                <a:latin typeface="Arial"/>
                <a:ea typeface="Arial"/>
                <a:cs typeface="Arial"/>
              </a:defRPr>
            </a:pPr>
            <a:r>
              <a:rPr sz="2025" b="1">
                <a:solidFill>
                  <a:srgbClr val="000000"/>
                </a:solidFill>
                <a:latin typeface="Arial"/>
                <a:ea typeface="Arial"/>
                <a:cs typeface="Arial"/>
              </a:rPr>
              <a:t>Train</a:t>
            </a:r>
          </a:p>
        </p:txBody>
      </p:sp>
      <p:sp>
        <p:nvSpPr>
          <p:cNvPr id="8" name="">
            <a:extLst xmlns:a="http://schemas.openxmlformats.org/drawingml/2006/main">
              <a:ext uri="{FF2B5EF4-FFF2-40B4-BE49-F238E27FC236}">
                <a16:creationId xmlns:a16="http://schemas.microsoft.com/office/drawing/2014/main" id="{08CB2EE1-C230-4126-8287-2366D1AEF840}"/>
              </a:ext>
            </a:extLst>
          </p:cNvPr>
          <p:cNvSpPr>
            <a:spLocks xmlns:a="http://schemas.openxmlformats.org/drawingml/2006/main" noGrp="1"/>
          </p:cNvSpPr>
          <p:nvPr/>
        </p:nvSpPr>
        <p:spPr>
          <a:xfrm xmlns:a="http://schemas.openxmlformats.org/drawingml/2006/main">
            <a:off x="666750" y="4238625"/>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0">
                <a:solidFill>
                  <a:srgbClr val="59616B"/>
                </a:solidFill>
                <a:latin typeface="Arial"/>
                <a:ea typeface="Arial"/>
                <a:cs typeface="Arial"/>
              </a:defRPr>
            </a:pPr>
            <a:r>
              <a:rPr sz="1650" b="0">
                <a:solidFill>
                  <a:srgbClr val="59616B"/>
                </a:solidFill>
                <a:latin typeface="Arial"/>
                <a:ea typeface="Arial"/>
                <a:cs typeface="Arial"/>
              </a:rPr>
              <a:t>Adam + early stopping</a:t>
            </a:r>
          </a:p>
          <a:p xmlns:a="http://schemas.openxmlformats.org/drawingml/2006/main">
            <a:pPr algn="ctr">
              <a:buNone/>
              <a:defRPr sz="1650" b="0">
                <a:solidFill>
                  <a:srgbClr val="59616B"/>
                </a:solidFill>
                <a:latin typeface="Arial"/>
                <a:ea typeface="Arial"/>
                <a:cs typeface="Arial"/>
              </a:defRPr>
            </a:pPr>
            <a:r>
              <a:rPr sz="1650" b="0">
                <a:solidFill>
                  <a:srgbClr val="59616B"/>
                </a:solidFill>
                <a:latin typeface="Arial"/>
                <a:ea typeface="Arial"/>
                <a:cs typeface="Arial"/>
              </a:rPr>
              <a:t>fixed seeds</a:t>
            </a:r>
          </a:p>
        </p:txBody>
      </p:sp>
      <p:sp>
        <p:nvSpPr>
          <p:cNvPr id="9" name="">
            <a:extLst xmlns:a="http://schemas.openxmlformats.org/drawingml/2006/main">
              <a:ext uri="{FF2B5EF4-FFF2-40B4-BE49-F238E27FC236}">
                <a16:creationId xmlns:a16="http://schemas.microsoft.com/office/drawing/2014/main" id="{63BE1B9D-D56C-4A32-97F2-570B4E958A0D}"/>
              </a:ext>
            </a:extLst>
          </p:cNvPr>
          <p:cNvSpPr>
            <a:spLocks xmlns:a="http://schemas.openxmlformats.org/drawingml/2006/main" noGrp="1"/>
          </p:cNvSpPr>
          <p:nvPr/>
        </p:nvSpPr>
        <p:spPr>
          <a:xfrm xmlns:a="http://schemas.openxmlformats.org/drawingml/2006/main">
            <a:off x="4143375" y="2667000"/>
            <a:ext cx="685800" cy="685800"/>
          </a:xfrm>
          <a:prstGeom xmlns:a="http://schemas.openxmlformats.org/drawingml/2006/main" prst="ellipse">
            <a:avLst/>
          </a:prstGeom>
          <a:solidFill xmlns:a="http://schemas.openxmlformats.org/drawingml/2006/main">
            <a:srgbClr val="FFFFFF"/>
          </a:solidFill>
          <a:ln xmlns:a="http://schemas.openxmlformats.org/drawingml/2006/main" w="28575">
            <a:solidFill>
              <a:srgbClr val="000000"/>
            </a:solidFill>
            <a:prstDash val="solid"/>
          </a:ln>
        </p:spPr>
      </p:sp>
      <p:sp>
        <p:nvSpPr>
          <p:cNvPr id="10" name="">
            <a:extLst xmlns:a="http://schemas.openxmlformats.org/drawingml/2006/main">
              <a:ext uri="{FF2B5EF4-FFF2-40B4-BE49-F238E27FC236}">
                <a16:creationId xmlns:a16="http://schemas.microsoft.com/office/drawing/2014/main" id="{358325F7-66F6-470D-BB0C-B0697663C726}"/>
              </a:ext>
            </a:extLst>
          </p:cNvPr>
          <p:cNvSpPr>
            <a:spLocks xmlns:a="http://schemas.openxmlformats.org/drawingml/2006/main" noGrp="1"/>
          </p:cNvSpPr>
          <p:nvPr/>
        </p:nvSpPr>
        <p:spPr>
          <a:xfrm xmlns:a="http://schemas.openxmlformats.org/drawingml/2006/main">
            <a:off x="4143375" y="28003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3B0CC3D0-246A-4ADE-A3CC-AB7F69B5502B}"/>
              </a:ext>
            </a:extLst>
          </p:cNvPr>
          <p:cNvSpPr>
            <a:spLocks xmlns:a="http://schemas.openxmlformats.org/drawingml/2006/main" noGrp="1"/>
          </p:cNvSpPr>
          <p:nvPr/>
        </p:nvSpPr>
        <p:spPr>
          <a:xfrm xmlns:a="http://schemas.openxmlformats.org/drawingml/2006/main">
            <a:off x="3429000" y="37147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000000"/>
                </a:solidFill>
                <a:latin typeface="Arial"/>
                <a:ea typeface="Arial"/>
                <a:cs typeface="Arial"/>
              </a:defRPr>
            </a:pPr>
            <a:r>
              <a:rPr sz="2025" b="1">
                <a:solidFill>
                  <a:srgbClr val="000000"/>
                </a:solidFill>
                <a:latin typeface="Arial"/>
                <a:ea typeface="Arial"/>
                <a:cs typeface="Arial"/>
              </a:rPr>
              <a:t>Select</a:t>
            </a:r>
          </a:p>
        </p:txBody>
      </p:sp>
      <p:sp>
        <p:nvSpPr>
          <p:cNvPr id="12" name="">
            <a:extLst xmlns:a="http://schemas.openxmlformats.org/drawingml/2006/main">
              <a:ext uri="{FF2B5EF4-FFF2-40B4-BE49-F238E27FC236}">
                <a16:creationId xmlns:a16="http://schemas.microsoft.com/office/drawing/2014/main" id="{C0CD66EC-4104-49F3-A228-14A312DC95C2}"/>
              </a:ext>
            </a:extLst>
          </p:cNvPr>
          <p:cNvSpPr>
            <a:spLocks xmlns:a="http://schemas.openxmlformats.org/drawingml/2006/main" noGrp="1"/>
          </p:cNvSpPr>
          <p:nvPr/>
        </p:nvSpPr>
        <p:spPr>
          <a:xfrm xmlns:a="http://schemas.openxmlformats.org/drawingml/2006/main">
            <a:off x="3429000" y="4238625"/>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0">
                <a:solidFill>
                  <a:srgbClr val="59616B"/>
                </a:solidFill>
                <a:latin typeface="Arial"/>
                <a:ea typeface="Arial"/>
                <a:cs typeface="Arial"/>
              </a:defRPr>
            </a:pPr>
            <a:r>
              <a:rPr sz="1650" b="0">
                <a:solidFill>
                  <a:srgbClr val="59616B"/>
                </a:solidFill>
                <a:latin typeface="Arial"/>
                <a:ea typeface="Arial"/>
                <a:cs typeface="Arial"/>
              </a:rPr>
              <a:t>validation macro-F1</a:t>
            </a:r>
          </a:p>
          <a:p xmlns:a="http://schemas.openxmlformats.org/drawingml/2006/main">
            <a:pPr algn="ctr">
              <a:buNone/>
              <a:defRPr sz="1650" b="0">
                <a:solidFill>
                  <a:srgbClr val="59616B"/>
                </a:solidFill>
                <a:latin typeface="Arial"/>
                <a:ea typeface="Arial"/>
                <a:cs typeface="Arial"/>
              </a:defRPr>
            </a:pPr>
            <a:r>
              <a:rPr sz="1650" b="0">
                <a:solidFill>
                  <a:srgbClr val="59616B"/>
                </a:solidFill>
                <a:latin typeface="Arial"/>
                <a:ea typeface="Arial"/>
                <a:cs typeface="Arial"/>
              </a:rPr>
              <a:t>then accuracy</a:t>
            </a:r>
          </a:p>
        </p:txBody>
      </p:sp>
      <p:sp>
        <p:nvSpPr>
          <p:cNvPr id="13" name="">
            <a:extLst xmlns:a="http://schemas.openxmlformats.org/drawingml/2006/main">
              <a:ext uri="{FF2B5EF4-FFF2-40B4-BE49-F238E27FC236}">
                <a16:creationId xmlns:a16="http://schemas.microsoft.com/office/drawing/2014/main" id="{72901FE8-78FD-4FA9-B894-1AB586F18895}"/>
              </a:ext>
            </a:extLst>
          </p:cNvPr>
          <p:cNvSpPr>
            <a:spLocks xmlns:a="http://schemas.openxmlformats.org/drawingml/2006/main" noGrp="1"/>
          </p:cNvSpPr>
          <p:nvPr/>
        </p:nvSpPr>
        <p:spPr>
          <a:xfrm xmlns:a="http://schemas.openxmlformats.org/drawingml/2006/main">
            <a:off x="6905625" y="2667000"/>
            <a:ext cx="685800" cy="685800"/>
          </a:xfrm>
          <a:prstGeom xmlns:a="http://schemas.openxmlformats.org/drawingml/2006/main" prst="ellipse">
            <a:avLst/>
          </a:prstGeom>
          <a:solidFill xmlns:a="http://schemas.openxmlformats.org/drawingml/2006/main">
            <a:srgbClr val="FFFFFF"/>
          </a:solidFill>
          <a:ln xmlns:a="http://schemas.openxmlformats.org/drawingml/2006/main" w="28575">
            <a:solidFill>
              <a:srgbClr val="000000"/>
            </a:solidFill>
            <a:prstDash val="solid"/>
          </a:ln>
        </p:spPr>
      </p:sp>
      <p:sp>
        <p:nvSpPr>
          <p:cNvPr id="14" name="">
            <a:extLst xmlns:a="http://schemas.openxmlformats.org/drawingml/2006/main">
              <a:ext uri="{FF2B5EF4-FFF2-40B4-BE49-F238E27FC236}">
                <a16:creationId xmlns:a16="http://schemas.microsoft.com/office/drawing/2014/main" id="{E96C3E6C-9AE9-49F7-A9FF-D11C99CA4D84}"/>
              </a:ext>
            </a:extLst>
          </p:cNvPr>
          <p:cNvSpPr>
            <a:spLocks xmlns:a="http://schemas.openxmlformats.org/drawingml/2006/main" noGrp="1"/>
          </p:cNvSpPr>
          <p:nvPr/>
        </p:nvSpPr>
        <p:spPr>
          <a:xfrm xmlns:a="http://schemas.openxmlformats.org/drawingml/2006/main">
            <a:off x="6905625" y="28003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F38B3B82-26C2-48D7-A757-71D7C211726D}"/>
              </a:ext>
            </a:extLst>
          </p:cNvPr>
          <p:cNvSpPr>
            <a:spLocks xmlns:a="http://schemas.openxmlformats.org/drawingml/2006/main" noGrp="1"/>
          </p:cNvSpPr>
          <p:nvPr/>
        </p:nvSpPr>
        <p:spPr>
          <a:xfrm xmlns:a="http://schemas.openxmlformats.org/drawingml/2006/main">
            <a:off x="6191250" y="37147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000000"/>
                </a:solidFill>
                <a:latin typeface="Arial"/>
                <a:ea typeface="Arial"/>
                <a:cs typeface="Arial"/>
              </a:defRPr>
            </a:pPr>
            <a:r>
              <a:rPr sz="2025" b="1">
                <a:solidFill>
                  <a:srgbClr val="000000"/>
                </a:solidFill>
                <a:latin typeface="Arial"/>
                <a:ea typeface="Arial"/>
                <a:cs typeface="Arial"/>
              </a:rPr>
              <a:t>Repeat</a:t>
            </a:r>
          </a:p>
        </p:txBody>
      </p:sp>
      <p:sp>
        <p:nvSpPr>
          <p:cNvPr id="16" name="">
            <a:extLst xmlns:a="http://schemas.openxmlformats.org/drawingml/2006/main">
              <a:ext uri="{FF2B5EF4-FFF2-40B4-BE49-F238E27FC236}">
                <a16:creationId xmlns:a16="http://schemas.microsoft.com/office/drawing/2014/main" id="{040DBB83-2C6C-4D9D-A873-DB42AD83547D}"/>
              </a:ext>
            </a:extLst>
          </p:cNvPr>
          <p:cNvSpPr>
            <a:spLocks xmlns:a="http://schemas.openxmlformats.org/drawingml/2006/main" noGrp="1"/>
          </p:cNvSpPr>
          <p:nvPr/>
        </p:nvSpPr>
        <p:spPr>
          <a:xfrm xmlns:a="http://schemas.openxmlformats.org/drawingml/2006/main">
            <a:off x="6191250" y="4238625"/>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0">
                <a:solidFill>
                  <a:srgbClr val="59616B"/>
                </a:solidFill>
                <a:latin typeface="Arial"/>
                <a:ea typeface="Arial"/>
                <a:cs typeface="Arial"/>
              </a:defRPr>
            </a:pPr>
            <a:r>
              <a:rPr sz="1650" b="0">
                <a:solidFill>
                  <a:srgbClr val="59616B"/>
                </a:solidFill>
                <a:latin typeface="Arial"/>
                <a:ea typeface="Arial"/>
                <a:cs typeface="Arial"/>
              </a:rPr>
              <a:t>best config</a:t>
            </a:r>
          </a:p>
          <a:p xmlns:a="http://schemas.openxmlformats.org/drawingml/2006/main">
            <a:pPr algn="ctr">
              <a:buNone/>
              <a:defRPr sz="1650" b="0">
                <a:solidFill>
                  <a:srgbClr val="59616B"/>
                </a:solidFill>
                <a:latin typeface="Arial"/>
                <a:ea typeface="Arial"/>
                <a:cs typeface="Arial"/>
              </a:defRPr>
            </a:pPr>
            <a:r>
              <a:rPr sz="1650" b="0">
                <a:solidFill>
                  <a:srgbClr val="59616B"/>
                </a:solidFill>
                <a:latin typeface="Arial"/>
                <a:ea typeface="Arial"/>
                <a:cs typeface="Arial"/>
              </a:rPr>
              <a:t>3 independent seeds</a:t>
            </a:r>
          </a:p>
        </p:txBody>
      </p:sp>
      <p:sp>
        <p:nvSpPr>
          <p:cNvPr id="17" name="">
            <a:extLst xmlns:a="http://schemas.openxmlformats.org/drawingml/2006/main">
              <a:ext uri="{FF2B5EF4-FFF2-40B4-BE49-F238E27FC236}">
                <a16:creationId xmlns:a16="http://schemas.microsoft.com/office/drawing/2014/main" id="{87E4B6A5-9EB5-4AC5-B3AE-1F73E2799361}"/>
              </a:ext>
            </a:extLst>
          </p:cNvPr>
          <p:cNvSpPr>
            <a:spLocks xmlns:a="http://schemas.openxmlformats.org/drawingml/2006/main" noGrp="1"/>
          </p:cNvSpPr>
          <p:nvPr/>
        </p:nvSpPr>
        <p:spPr>
          <a:xfrm xmlns:a="http://schemas.openxmlformats.org/drawingml/2006/main">
            <a:off x="9667875" y="2667000"/>
            <a:ext cx="685800" cy="685800"/>
          </a:xfrm>
          <a:prstGeom xmlns:a="http://schemas.openxmlformats.org/drawingml/2006/main" prst="ellipse">
            <a:avLst/>
          </a:prstGeom>
          <a:solidFill xmlns:a="http://schemas.openxmlformats.org/drawingml/2006/main">
            <a:srgbClr val="3D8DFF"/>
          </a:solidFill>
          <a:ln xmlns:a="http://schemas.openxmlformats.org/drawingml/2006/main" w="28575">
            <a:solidFill>
              <a:srgbClr val="3D8DFF"/>
            </a:solidFill>
            <a:prstDash val="solid"/>
          </a:ln>
        </p:spPr>
      </p:sp>
      <p:sp>
        <p:nvSpPr>
          <p:cNvPr id="18" name="">
            <a:extLst xmlns:a="http://schemas.openxmlformats.org/drawingml/2006/main">
              <a:ext uri="{FF2B5EF4-FFF2-40B4-BE49-F238E27FC236}">
                <a16:creationId xmlns:a16="http://schemas.microsoft.com/office/drawing/2014/main" id="{4561C26F-97C4-407F-B06A-838643B743A3}"/>
              </a:ext>
            </a:extLst>
          </p:cNvPr>
          <p:cNvSpPr>
            <a:spLocks xmlns:a="http://schemas.openxmlformats.org/drawingml/2006/main" noGrp="1"/>
          </p:cNvSpPr>
          <p:nvPr/>
        </p:nvSpPr>
        <p:spPr>
          <a:xfrm xmlns:a="http://schemas.openxmlformats.org/drawingml/2006/main">
            <a:off x="9667875" y="28003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250" b="1">
                <a:solidFill>
                  <a:srgbClr val="FFFFFF"/>
                </a:solidFill>
                <a:latin typeface="Arial"/>
                <a:ea typeface="Arial"/>
                <a:cs typeface="Arial"/>
              </a:defRPr>
            </a:pPr>
            <a:r>
              <a:rPr sz="2250" b="1">
                <a:solidFill>
                  <a:srgbClr val="FFFFFF"/>
                </a:solidFill>
                <a:latin typeface="Arial"/>
                <a:ea typeface="Arial"/>
                <a:cs typeface="Arial"/>
              </a:rPr>
              <a:t>4</a:t>
            </a:r>
          </a:p>
        </p:txBody>
      </p:sp>
      <p:sp>
        <p:nvSpPr>
          <p:cNvPr id="19" name="">
            <a:extLst xmlns:a="http://schemas.openxmlformats.org/drawingml/2006/main">
              <a:ext uri="{FF2B5EF4-FFF2-40B4-BE49-F238E27FC236}">
                <a16:creationId xmlns:a16="http://schemas.microsoft.com/office/drawing/2014/main" id="{AC1A6D1A-9365-489F-8407-5CDB2FDDBCFD}"/>
              </a:ext>
            </a:extLst>
          </p:cNvPr>
          <p:cNvSpPr>
            <a:spLocks xmlns:a="http://schemas.openxmlformats.org/drawingml/2006/main" noGrp="1"/>
          </p:cNvSpPr>
          <p:nvPr/>
        </p:nvSpPr>
        <p:spPr>
          <a:xfrm xmlns:a="http://schemas.openxmlformats.org/drawingml/2006/main">
            <a:off x="8953500" y="37147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000000"/>
                </a:solidFill>
                <a:latin typeface="Arial"/>
                <a:ea typeface="Arial"/>
                <a:cs typeface="Arial"/>
              </a:defRPr>
            </a:pPr>
            <a:r>
              <a:rPr sz="2025" b="1">
                <a:solidFill>
                  <a:srgbClr val="000000"/>
                </a:solidFill>
                <a:latin typeface="Arial"/>
                <a:ea typeface="Arial"/>
                <a:cs typeface="Arial"/>
              </a:rPr>
              <a:t>Freeze + test</a:t>
            </a:r>
          </a:p>
        </p:txBody>
      </p:sp>
      <p:sp>
        <p:nvSpPr>
          <p:cNvPr id="20" name="">
            <a:extLst xmlns:a="http://schemas.openxmlformats.org/drawingml/2006/main">
              <a:ext uri="{FF2B5EF4-FFF2-40B4-BE49-F238E27FC236}">
                <a16:creationId xmlns:a16="http://schemas.microsoft.com/office/drawing/2014/main" id="{86314C37-AF7B-460A-9C33-B6D28F474A7C}"/>
              </a:ext>
            </a:extLst>
          </p:cNvPr>
          <p:cNvSpPr>
            <a:spLocks xmlns:a="http://schemas.openxmlformats.org/drawingml/2006/main" noGrp="1"/>
          </p:cNvSpPr>
          <p:nvPr/>
        </p:nvSpPr>
        <p:spPr>
          <a:xfrm xmlns:a="http://schemas.openxmlformats.org/drawingml/2006/main">
            <a:off x="8953500" y="4238625"/>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0">
                <a:solidFill>
                  <a:srgbClr val="59616B"/>
                </a:solidFill>
                <a:latin typeface="Arial"/>
                <a:ea typeface="Arial"/>
                <a:cs typeface="Arial"/>
              </a:defRPr>
            </a:pPr>
            <a:r>
              <a:rPr sz="1650" b="0">
                <a:solidFill>
                  <a:srgbClr val="59616B"/>
                </a:solidFill>
                <a:latin typeface="Arial"/>
                <a:ea typeface="Arial"/>
                <a:cs typeface="Arial"/>
              </a:rPr>
              <a:t>one clean evaluation</a:t>
            </a:r>
          </a:p>
          <a:p xmlns:a="http://schemas.openxmlformats.org/drawingml/2006/main">
            <a:pPr algn="ctr">
              <a:buNone/>
              <a:defRPr sz="1650" b="0">
                <a:solidFill>
                  <a:srgbClr val="59616B"/>
                </a:solidFill>
                <a:latin typeface="Arial"/>
                <a:ea typeface="Arial"/>
                <a:cs typeface="Arial"/>
              </a:defRPr>
            </a:pPr>
            <a:r>
              <a:rPr sz="1650" b="0">
                <a:solidFill>
                  <a:srgbClr val="59616B"/>
                </a:solidFill>
                <a:latin typeface="Arial"/>
                <a:ea typeface="Arial"/>
                <a:cs typeface="Arial"/>
              </a:rPr>
              <a:t>then diagnostics</a:t>
            </a:r>
          </a:p>
        </p:txBody>
      </p:sp>
      <p:sp>
        <p:nvSpPr>
          <p:cNvPr id="21" name="">
            <a:extLst xmlns:a="http://schemas.openxmlformats.org/drawingml/2006/main">
              <a:ext uri="{FF2B5EF4-FFF2-40B4-BE49-F238E27FC236}">
                <a16:creationId xmlns:a16="http://schemas.microsoft.com/office/drawing/2014/main" id="{03A0695E-F71A-47F2-ABF2-FC5C6547CA63}"/>
              </a:ext>
            </a:extLst>
          </p:cNvPr>
          <p:cNvSpPr>
            <a:spLocks xmlns:a="http://schemas.openxmlformats.org/drawingml/2006/main" noGrp="1"/>
          </p:cNvSpPr>
          <p:nvPr/>
        </p:nvSpPr>
        <p:spPr>
          <a:xfrm xmlns:a="http://schemas.openxmlformats.org/drawingml/2006/main">
            <a:off x="457200" y="14287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000000"/>
                </a:solidFill>
                <a:latin typeface="Arial"/>
                <a:ea typeface="Arial"/>
                <a:cs typeface="Arial"/>
              </a:defRPr>
            </a:pPr>
            <a:r>
              <a:rPr sz="1875" b="1">
                <a:solidFill>
                  <a:srgbClr val="000000"/>
                </a:solidFill>
                <a:latin typeface="Arial"/>
                <a:ea typeface="Arial"/>
                <a:cs typeface="Arial"/>
              </a:rPr>
              <a:t>Best-model validation macro-F1 across seeds</a:t>
            </a:r>
          </a:p>
        </p:txBody>
      </p:sp>
      <p:sp>
        <p:nvSpPr>
          <p:cNvPr id="22" name="">
            <a:extLst xmlns:a="http://schemas.openxmlformats.org/drawingml/2006/main">
              <a:ext uri="{FF2B5EF4-FFF2-40B4-BE49-F238E27FC236}">
                <a16:creationId xmlns:a16="http://schemas.microsoft.com/office/drawing/2014/main" id="{E327D0D5-9B49-46F0-BA31-B064987BD821}"/>
              </a:ext>
            </a:extLst>
          </p:cNvPr>
          <p:cNvSpPr>
            <a:spLocks xmlns:a="http://schemas.openxmlformats.org/drawingml/2006/main" noGrp="1"/>
          </p:cNvSpPr>
          <p:nvPr/>
        </p:nvSpPr>
        <p:spPr>
          <a:xfrm xmlns:a="http://schemas.openxmlformats.org/drawingml/2006/main">
            <a:off x="6191250" y="1285875"/>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3375" b="1">
                <a:solidFill>
                  <a:srgbClr val="3D8DFF"/>
                </a:solidFill>
                <a:latin typeface="Arial"/>
                <a:ea typeface="Arial"/>
                <a:cs typeface="Arial"/>
              </a:defRPr>
            </a:pPr>
            <a:r>
              <a:rPr sz="3375" b="1">
                <a:solidFill>
                  <a:srgbClr val="3D8DFF"/>
                </a:solidFill>
                <a:latin typeface="Arial"/>
                <a:ea typeface="Arial"/>
                <a:cs typeface="Arial"/>
              </a:rPr>
              <a:t>0.9394 +/- 0.0005</a:t>
            </a:r>
          </a:p>
        </p:txBody>
      </p:sp>
      <p:sp>
        <p:nvSpPr>
          <p:cNvPr id="23" name="">
            <a:extLst xmlns:a="http://schemas.openxmlformats.org/drawingml/2006/main">
              <a:ext uri="{FF2B5EF4-FFF2-40B4-BE49-F238E27FC236}">
                <a16:creationId xmlns:a16="http://schemas.microsoft.com/office/drawing/2014/main" id="{369E9706-28AD-4574-8E5F-5357895058C3}"/>
              </a:ext>
            </a:extLst>
          </p:cNvPr>
          <p:cNvSpPr>
            <a:spLocks xmlns:a="http://schemas.openxmlformats.org/drawingml/2006/main" noGrp="1"/>
          </p:cNvSpPr>
          <p:nvPr/>
        </p:nvSpPr>
        <p:spPr>
          <a:xfrm xmlns:a="http://schemas.openxmlformats.org/drawingml/2006/main">
            <a:off x="6858000" y="1905000"/>
            <a:ext cx="409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575" b="0">
                <a:solidFill>
                  <a:srgbClr val="59616B"/>
                </a:solidFill>
                <a:latin typeface="Arial"/>
                <a:ea typeface="Arial"/>
                <a:cs typeface="Arial"/>
              </a:defRPr>
            </a:pPr>
            <a:r>
              <a:rPr sz="1575" b="0">
                <a:solidFill>
                  <a:srgbClr val="59616B"/>
                </a:solidFill>
                <a:latin typeface="Arial"/>
                <a:ea typeface="Arial"/>
                <a:cs typeface="Arial"/>
              </a:rPr>
              <a:t>The stability check did not reopen architecture selection.</a:t>
            </a:r>
          </a:p>
        </p:txBody>
      </p:sp>
    </p:spTree>
    <p:extLst>
      <p:ext uri="{BB962C8B-B14F-4D97-AF65-F5344CB8AC3E}">
        <p14:creationId xmlns:p14="http://schemas.microsoft.com/office/powerpoint/2010/main" val="4452139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46A13D9-2B76-4727-AA07-ACD79B6C0B80}"/>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10-title">
            <a:extLst xmlns:a="http://schemas.openxmlformats.org/drawingml/2006/main">
              <a:ext uri="{FF2B5EF4-FFF2-40B4-BE49-F238E27FC236}">
                <a16:creationId xmlns:a16="http://schemas.microsoft.com/office/drawing/2014/main" id="{A1B19DD1-8CAC-4BA2-8F1D-AC5E9F70319C}"/>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CRNN leads validation; DS-CNN stays compact</a:t>
            </a:r>
          </a:p>
        </p:txBody>
      </p:sp>
      <p:sp>
        <p:nvSpPr>
          <p:cNvPr id="3" name="">
            <a:extLst xmlns:a="http://schemas.openxmlformats.org/drawingml/2006/main">
              <a:ext uri="{FF2B5EF4-FFF2-40B4-BE49-F238E27FC236}">
                <a16:creationId xmlns:a16="http://schemas.microsoft.com/office/drawing/2014/main" id="{0170C226-6C5F-4DF5-A29C-BEB324C6B702}"/>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10</a:t>
            </a:r>
          </a:p>
        </p:txBody>
      </p:sp>
      <p:graphicFrame>
        <p:nvGraphicFramePr>
          <p:cNvPr id="19" name="Chart"/>
          <p:cNvGraphicFramePr/>
          <p:nvPr/>
        </p:nvGraphicFramePr>
        <p:xfrm>
          <a:off xmlns:a="http://schemas.openxmlformats.org/drawingml/2006/main" x="457200" y="1428750"/>
          <a:ext xmlns:a="http://schemas.openxmlformats.org/drawingml/2006/main" cx="6858000" cy="4476750"/>
        </p:xfrm>
        <a:graphic xmlns:a="http://schemas.openxmlformats.org/drawingml/2006/main">
          <a:graphicData uri="http://schemas.openxmlformats.org/drawingml/2006/chart">
            <c:chart xmlns:r="http://schemas.openxmlformats.org/officeDocument/2006/relationships" xmlns:c="http://schemas.openxmlformats.org/drawingml/2006/chart" r:id="R942614dccdad4d69"/>
          </a:graphicData>
        </a:graphic>
      </p:graphicFrame>
      <p:sp>
        <p:nvSpPr>
          <p:cNvPr id="5" name="">
            <a:extLst xmlns:a="http://schemas.openxmlformats.org/drawingml/2006/main">
              <a:ext uri="{FF2B5EF4-FFF2-40B4-BE49-F238E27FC236}">
                <a16:creationId xmlns:a16="http://schemas.microsoft.com/office/drawing/2014/main" id="{42A30A77-889F-49E4-BFB6-9CC838629CDE}"/>
              </a:ext>
            </a:extLst>
          </p:cNvPr>
          <p:cNvSpPr>
            <a:spLocks xmlns:a="http://schemas.openxmlformats.org/drawingml/2006/main" noGrp="1"/>
          </p:cNvSpPr>
          <p:nvPr/>
        </p:nvSpPr>
        <p:spPr>
          <a:xfrm xmlns:a="http://schemas.openxmlformats.org/drawingml/2006/main">
            <a:off x="7286625" y="180975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350" b="1">
                <a:solidFill>
                  <a:srgbClr val="000000"/>
                </a:solidFill>
                <a:latin typeface="Arial"/>
                <a:ea typeface="Arial"/>
                <a:cs typeface="Arial"/>
              </a:defRPr>
            </a:pPr>
            <a:r>
              <a:rPr sz="1350" b="1">
                <a:solidFill>
                  <a:srgbClr val="000000"/>
                </a:solidFill>
                <a:latin typeface="Arial"/>
                <a:ea typeface="Arial"/>
                <a:cs typeface="Arial"/>
              </a:rPr>
              <a:t>0.9399</a:t>
            </a:r>
          </a:p>
        </p:txBody>
      </p:sp>
      <p:sp>
        <p:nvSpPr>
          <p:cNvPr id="6" name="">
            <a:extLst xmlns:a="http://schemas.openxmlformats.org/drawingml/2006/main">
              <a:ext uri="{FF2B5EF4-FFF2-40B4-BE49-F238E27FC236}">
                <a16:creationId xmlns:a16="http://schemas.microsoft.com/office/drawing/2014/main" id="{81F718FA-39FB-4B69-823F-DEDC37162243}"/>
              </a:ext>
            </a:extLst>
          </p:cNvPr>
          <p:cNvSpPr>
            <a:spLocks xmlns:a="http://schemas.openxmlformats.org/drawingml/2006/main" noGrp="1"/>
          </p:cNvSpPr>
          <p:nvPr/>
        </p:nvSpPr>
        <p:spPr>
          <a:xfrm xmlns:a="http://schemas.openxmlformats.org/drawingml/2006/main">
            <a:off x="7286625" y="262890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350" b="1">
                <a:solidFill>
                  <a:srgbClr val="000000"/>
                </a:solidFill>
                <a:latin typeface="Arial"/>
                <a:ea typeface="Arial"/>
                <a:cs typeface="Arial"/>
              </a:defRPr>
            </a:pPr>
            <a:r>
              <a:rPr sz="1350" b="1">
                <a:solidFill>
                  <a:srgbClr val="000000"/>
                </a:solidFill>
                <a:latin typeface="Arial"/>
                <a:ea typeface="Arial"/>
                <a:cs typeface="Arial"/>
              </a:rPr>
              <a:t>0.9324</a:t>
            </a:r>
          </a:p>
        </p:txBody>
      </p:sp>
      <p:sp>
        <p:nvSpPr>
          <p:cNvPr id="7" name="">
            <a:extLst xmlns:a="http://schemas.openxmlformats.org/drawingml/2006/main">
              <a:ext uri="{FF2B5EF4-FFF2-40B4-BE49-F238E27FC236}">
                <a16:creationId xmlns:a16="http://schemas.microsoft.com/office/drawing/2014/main" id="{6F6EA22E-B781-47B6-96D5-938BD15B9376}"/>
              </a:ext>
            </a:extLst>
          </p:cNvPr>
          <p:cNvSpPr>
            <a:spLocks xmlns:a="http://schemas.openxmlformats.org/drawingml/2006/main" noGrp="1"/>
          </p:cNvSpPr>
          <p:nvPr/>
        </p:nvSpPr>
        <p:spPr>
          <a:xfrm xmlns:a="http://schemas.openxmlformats.org/drawingml/2006/main">
            <a:off x="7286625" y="346710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350" b="1">
                <a:solidFill>
                  <a:srgbClr val="000000"/>
                </a:solidFill>
                <a:latin typeface="Arial"/>
                <a:ea typeface="Arial"/>
                <a:cs typeface="Arial"/>
              </a:defRPr>
            </a:pPr>
            <a:r>
              <a:rPr sz="1350" b="1">
                <a:solidFill>
                  <a:srgbClr val="000000"/>
                </a:solidFill>
                <a:latin typeface="Arial"/>
                <a:ea typeface="Arial"/>
                <a:cs typeface="Arial"/>
              </a:rPr>
              <a:t>0.9095</a:t>
            </a:r>
          </a:p>
        </p:txBody>
      </p:sp>
      <p:sp>
        <p:nvSpPr>
          <p:cNvPr id="8" name="">
            <a:extLst xmlns:a="http://schemas.openxmlformats.org/drawingml/2006/main">
              <a:ext uri="{FF2B5EF4-FFF2-40B4-BE49-F238E27FC236}">
                <a16:creationId xmlns:a16="http://schemas.microsoft.com/office/drawing/2014/main" id="{72C2BB67-3C40-44E4-BFE1-4C672F8F4B81}"/>
              </a:ext>
            </a:extLst>
          </p:cNvPr>
          <p:cNvSpPr>
            <a:spLocks xmlns:a="http://schemas.openxmlformats.org/drawingml/2006/main" noGrp="1"/>
          </p:cNvSpPr>
          <p:nvPr/>
        </p:nvSpPr>
        <p:spPr>
          <a:xfrm xmlns:a="http://schemas.openxmlformats.org/drawingml/2006/main">
            <a:off x="7286625" y="430530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350" b="1">
                <a:solidFill>
                  <a:srgbClr val="000000"/>
                </a:solidFill>
                <a:latin typeface="Arial"/>
                <a:ea typeface="Arial"/>
                <a:cs typeface="Arial"/>
              </a:defRPr>
            </a:pPr>
            <a:r>
              <a:rPr sz="1350" b="1">
                <a:solidFill>
                  <a:srgbClr val="000000"/>
                </a:solidFill>
                <a:latin typeface="Arial"/>
                <a:ea typeface="Arial"/>
                <a:cs typeface="Arial"/>
              </a:rPr>
              <a:t>0.8759</a:t>
            </a:r>
          </a:p>
        </p:txBody>
      </p:sp>
      <p:sp>
        <p:nvSpPr>
          <p:cNvPr id="9" name="">
            <a:extLst xmlns:a="http://schemas.openxmlformats.org/drawingml/2006/main">
              <a:ext uri="{FF2B5EF4-FFF2-40B4-BE49-F238E27FC236}">
                <a16:creationId xmlns:a16="http://schemas.microsoft.com/office/drawing/2014/main" id="{65F1DAD3-358B-47B3-AD1C-25F0EB1FB159}"/>
              </a:ext>
            </a:extLst>
          </p:cNvPr>
          <p:cNvSpPr>
            <a:spLocks xmlns:a="http://schemas.openxmlformats.org/drawingml/2006/main" noGrp="1"/>
          </p:cNvSpPr>
          <p:nvPr/>
        </p:nvSpPr>
        <p:spPr>
          <a:xfrm xmlns:a="http://schemas.openxmlformats.org/drawingml/2006/main">
            <a:off x="7286625" y="510540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350" b="1">
                <a:solidFill>
                  <a:srgbClr val="000000"/>
                </a:solidFill>
                <a:latin typeface="Arial"/>
                <a:ea typeface="Arial"/>
                <a:cs typeface="Arial"/>
              </a:defRPr>
            </a:pPr>
            <a:r>
              <a:rPr sz="1350" b="1">
                <a:solidFill>
                  <a:srgbClr val="000000"/>
                </a:solidFill>
                <a:latin typeface="Arial"/>
                <a:ea typeface="Arial"/>
                <a:cs typeface="Arial"/>
              </a:rPr>
              <a:t>0.8390</a:t>
            </a:r>
          </a:p>
        </p:txBody>
      </p:sp>
      <p:sp>
        <p:nvSpPr>
          <p:cNvPr id="10" name="">
            <a:extLst xmlns:a="http://schemas.openxmlformats.org/drawingml/2006/main">
              <a:ext uri="{FF2B5EF4-FFF2-40B4-BE49-F238E27FC236}">
                <a16:creationId xmlns:a16="http://schemas.microsoft.com/office/drawing/2014/main" id="{B2756E5F-236C-4EB8-8333-6A8ED1EC6960}"/>
              </a:ext>
            </a:extLst>
          </p:cNvPr>
          <p:cNvSpPr>
            <a:spLocks xmlns:a="http://schemas.openxmlformats.org/drawingml/2006/main" noGrp="1"/>
          </p:cNvSpPr>
          <p:nvPr/>
        </p:nvSpPr>
        <p:spPr>
          <a:xfrm xmlns:a="http://schemas.openxmlformats.org/drawingml/2006/main">
            <a:off x="8096250" y="1714500"/>
            <a:ext cx="3333750" cy="3333750"/>
          </a:xfrm>
          <a:prstGeom xmlns:a="http://schemas.openxmlformats.org/drawingml/2006/main" prst="rect">
            <a:avLst/>
          </a:prstGeom>
          <a:solidFill xmlns:a="http://schemas.openxmlformats.org/drawingml/2006/main">
            <a:srgbClr val="D0EDFA"/>
          </a:solidFill>
          <a:ln xmlns:a="http://schemas.openxmlformats.org/drawingml/2006/main" w="19050">
            <a:solidFill>
              <a:srgbClr val="3D8DFF"/>
            </a:solidFill>
            <a:prstDash val="solid"/>
          </a:ln>
        </p:spPr>
      </p:sp>
      <p:sp>
        <p:nvSpPr>
          <p:cNvPr id="11" name="">
            <a:extLst xmlns:a="http://schemas.openxmlformats.org/drawingml/2006/main">
              <a:ext uri="{FF2B5EF4-FFF2-40B4-BE49-F238E27FC236}">
                <a16:creationId xmlns:a16="http://schemas.microsoft.com/office/drawing/2014/main" id="{276D5807-D30F-41B2-A16D-18D9889FCC29}"/>
              </a:ext>
            </a:extLst>
          </p:cNvPr>
          <p:cNvSpPr>
            <a:spLocks xmlns:a="http://schemas.openxmlformats.org/drawingml/2006/main" noGrp="1"/>
          </p:cNvSpPr>
          <p:nvPr/>
        </p:nvSpPr>
        <p:spPr>
          <a:xfrm xmlns:a="http://schemas.openxmlformats.org/drawingml/2006/main">
            <a:off x="8429625" y="209550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200" b="1">
                <a:solidFill>
                  <a:srgbClr val="3D8DFF"/>
                </a:solidFill>
                <a:latin typeface="Arial"/>
                <a:ea typeface="Arial"/>
                <a:cs typeface="Arial"/>
              </a:defRPr>
            </a:pPr>
            <a:r>
              <a:rPr sz="4200" b="1">
                <a:solidFill>
                  <a:srgbClr val="3D8DFF"/>
                </a:solidFill>
                <a:latin typeface="Arial"/>
                <a:ea typeface="Arial"/>
                <a:cs typeface="Arial"/>
              </a:rPr>
              <a:t>0.9399</a:t>
            </a:r>
          </a:p>
        </p:txBody>
      </p:sp>
      <p:sp>
        <p:nvSpPr>
          <p:cNvPr id="12" name="">
            <a:extLst xmlns:a="http://schemas.openxmlformats.org/drawingml/2006/main">
              <a:ext uri="{FF2B5EF4-FFF2-40B4-BE49-F238E27FC236}">
                <a16:creationId xmlns:a16="http://schemas.microsoft.com/office/drawing/2014/main" id="{E0CEE33E-2AF5-4B65-A101-A020C8BACDF9}"/>
              </a:ext>
            </a:extLst>
          </p:cNvPr>
          <p:cNvSpPr>
            <a:spLocks xmlns:a="http://schemas.openxmlformats.org/drawingml/2006/main" noGrp="1"/>
          </p:cNvSpPr>
          <p:nvPr/>
        </p:nvSpPr>
        <p:spPr>
          <a:xfrm xmlns:a="http://schemas.openxmlformats.org/drawingml/2006/main">
            <a:off x="8429625" y="28575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validation macro-F1</a:t>
            </a:r>
          </a:p>
        </p:txBody>
      </p:sp>
      <p:sp>
        <p:nvSpPr>
          <p:cNvPr id="13" name="">
            <a:extLst xmlns:a="http://schemas.openxmlformats.org/drawingml/2006/main">
              <a:ext uri="{FF2B5EF4-FFF2-40B4-BE49-F238E27FC236}">
                <a16:creationId xmlns:a16="http://schemas.microsoft.com/office/drawing/2014/main" id="{23C66FD9-7A3C-441D-B622-C8CEEC51C7D4}"/>
              </a:ext>
            </a:extLst>
          </p:cNvPr>
          <p:cNvSpPr>
            <a:spLocks xmlns:a="http://schemas.openxmlformats.org/drawingml/2006/main" noGrp="1"/>
          </p:cNvSpPr>
          <p:nvPr/>
        </p:nvSpPr>
        <p:spPr>
          <a:xfrm xmlns:a="http://schemas.openxmlformats.org/drawingml/2006/main">
            <a:off x="8429625" y="3571875"/>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+0.76 points over clean DS-CNN</a:t>
            </a:r>
          </a:p>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6.24x more parameters</a:t>
            </a:r>
          </a:p>
        </p:txBody>
      </p:sp>
    </p:spTree>
    <p:extLst>
      <p:ext uri="{BB962C8B-B14F-4D97-AF65-F5344CB8AC3E}">
        <p14:creationId xmlns:p14="http://schemas.microsoft.com/office/powerpoint/2010/main" val="163611014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9C4E24-B78B-4435-A3E9-8719E5FF9233}"/>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11-title">
            <a:extLst xmlns:a="http://schemas.openxmlformats.org/drawingml/2006/main">
              <a:ext uri="{FF2B5EF4-FFF2-40B4-BE49-F238E27FC236}">
                <a16:creationId xmlns:a16="http://schemas.microsoft.com/office/drawing/2014/main" id="{61A29750-6363-4FBC-9F25-B41217FF44C7}"/>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Augmentation buys noise robustness</a:t>
            </a:r>
          </a:p>
        </p:txBody>
      </p:sp>
      <p:sp>
        <p:nvSpPr>
          <p:cNvPr id="3" name="">
            <a:extLst xmlns:a="http://schemas.openxmlformats.org/drawingml/2006/main">
              <a:ext uri="{FF2B5EF4-FFF2-40B4-BE49-F238E27FC236}">
                <a16:creationId xmlns:a16="http://schemas.microsoft.com/office/drawing/2014/main" id="{DFBFF81D-817F-4FA7-81D9-8337ECF0E7D5}"/>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11</a:t>
            </a:r>
          </a:p>
        </p:txBody>
      </p:sp>
      <p:graphicFrame>
        <p:nvGraphicFramePr>
          <p:cNvPr id="18" name="Chart"/>
          <p:cNvGraphicFramePr/>
          <p:nvPr/>
        </p:nvGraphicFramePr>
        <p:xfrm>
          <a:off xmlns:a="http://schemas.openxmlformats.org/drawingml/2006/main" x="457200" y="1476375"/>
          <a:ext xmlns:a="http://schemas.openxmlformats.org/drawingml/2006/main" cx="7524750" cy="4286250"/>
        </p:xfrm>
        <a:graphic xmlns:a="http://schemas.openxmlformats.org/drawingml/2006/main">
          <a:graphicData uri="http://schemas.openxmlformats.org/drawingml/2006/chart">
            <c:chart xmlns:r="http://schemas.openxmlformats.org/officeDocument/2006/relationships" xmlns:c="http://schemas.openxmlformats.org/drawingml/2006/chart" r:id="Rb817fed16d994214"/>
          </a:graphicData>
        </a:graphic>
      </p:graphicFrame>
      <p:sp>
        <p:nvSpPr>
          <p:cNvPr id="5" name="">
            <a:extLst xmlns:a="http://schemas.openxmlformats.org/drawingml/2006/main">
              <a:ext uri="{FF2B5EF4-FFF2-40B4-BE49-F238E27FC236}">
                <a16:creationId xmlns:a16="http://schemas.microsoft.com/office/drawing/2014/main" id="{5E18A319-4811-44E3-A4A9-BA90E57C1C85}"/>
              </a:ext>
            </a:extLst>
          </p:cNvPr>
          <p:cNvSpPr>
            <a:spLocks xmlns:a="http://schemas.openxmlformats.org/drawingml/2006/main" noGrp="1"/>
          </p:cNvSpPr>
          <p:nvPr/>
        </p:nvSpPr>
        <p:spPr>
          <a:xfrm xmlns:a="http://schemas.openxmlformats.org/drawingml/2006/main">
            <a:off x="8382000" y="1714500"/>
            <a:ext cx="304800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6" name="">
            <a:extLst xmlns:a="http://schemas.openxmlformats.org/drawingml/2006/main">
              <a:ext uri="{FF2B5EF4-FFF2-40B4-BE49-F238E27FC236}">
                <a16:creationId xmlns:a16="http://schemas.microsoft.com/office/drawing/2014/main" id="{FF8AB1B0-2423-4573-BF74-496B7407D991}"/>
              </a:ext>
            </a:extLst>
          </p:cNvPr>
          <p:cNvSpPr>
            <a:spLocks xmlns:a="http://schemas.openxmlformats.org/drawingml/2006/main" noGrp="1"/>
          </p:cNvSpPr>
          <p:nvPr/>
        </p:nvSpPr>
        <p:spPr>
          <a:xfrm xmlns:a="http://schemas.openxmlformats.org/drawingml/2006/main">
            <a:off x="8382000" y="1714500"/>
            <a:ext cx="3048000" cy="0"/>
          </a:xfrm>
          <a:prstGeom xmlns:a="http://schemas.openxmlformats.org/drawingml/2006/main" prst="line">
            <a:avLst/>
          </a:prstGeom>
          <a:noFill xmlns:a="http://schemas.openxmlformats.org/drawingml/2006/main"/>
          <a:ln xmlns:a="http://schemas.openxmlformats.org/drawingml/2006/main" w="66675">
            <a:solidFill>
              <a:srgbClr val="C23B3B"/>
            </a:solidFill>
            <a:prstDash val="solid"/>
          </a:ln>
        </p:spPr>
      </p:sp>
      <p:sp>
        <p:nvSpPr>
          <p:cNvPr id="7" name="">
            <a:extLst xmlns:a="http://schemas.openxmlformats.org/drawingml/2006/main">
              <a:ext uri="{FF2B5EF4-FFF2-40B4-BE49-F238E27FC236}">
                <a16:creationId xmlns:a16="http://schemas.microsoft.com/office/drawing/2014/main" id="{BED43F23-F1F6-4FD7-96C6-40E090CF9C49}"/>
              </a:ext>
            </a:extLst>
          </p:cNvPr>
          <p:cNvSpPr>
            <a:spLocks xmlns:a="http://schemas.openxmlformats.org/drawingml/2006/main" noGrp="1"/>
          </p:cNvSpPr>
          <p:nvPr/>
        </p:nvSpPr>
        <p:spPr>
          <a:xfrm xmlns:a="http://schemas.openxmlformats.org/drawingml/2006/main">
            <a:off x="8610600" y="2019300"/>
            <a:ext cx="259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-2.29 pt</a:t>
            </a:r>
          </a:p>
        </p:txBody>
      </p:sp>
      <p:sp>
        <p:nvSpPr>
          <p:cNvPr id="8" name="">
            <a:extLst xmlns:a="http://schemas.openxmlformats.org/drawingml/2006/main">
              <a:ext uri="{FF2B5EF4-FFF2-40B4-BE49-F238E27FC236}">
                <a16:creationId xmlns:a16="http://schemas.microsoft.com/office/drawing/2014/main" id="{4E09201B-514A-4BF9-868B-AC7E3BB58B81}"/>
              </a:ext>
            </a:extLst>
          </p:cNvPr>
          <p:cNvSpPr>
            <a:spLocks xmlns:a="http://schemas.openxmlformats.org/drawingml/2006/main" noGrp="1"/>
          </p:cNvSpPr>
          <p:nvPr/>
        </p:nvSpPr>
        <p:spPr>
          <a:xfrm xmlns:a="http://schemas.openxmlformats.org/drawingml/2006/main">
            <a:off x="8610600" y="2781300"/>
            <a:ext cx="259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clean cost for DS-CNN augmentation</a:t>
            </a:r>
          </a:p>
        </p:txBody>
      </p:sp>
      <p:sp>
        <p:nvSpPr>
          <p:cNvPr id="9" name="">
            <a:extLst xmlns:a="http://schemas.openxmlformats.org/drawingml/2006/main">
              <a:ext uri="{FF2B5EF4-FFF2-40B4-BE49-F238E27FC236}">
                <a16:creationId xmlns:a16="http://schemas.microsoft.com/office/drawing/2014/main" id="{DE6BA815-56CC-4BA1-AE31-F8512917CCB2}"/>
              </a:ext>
            </a:extLst>
          </p:cNvPr>
          <p:cNvSpPr>
            <a:spLocks xmlns:a="http://schemas.openxmlformats.org/drawingml/2006/main" noGrp="1"/>
          </p:cNvSpPr>
          <p:nvPr/>
        </p:nvSpPr>
        <p:spPr>
          <a:xfrm xmlns:a="http://schemas.openxmlformats.org/drawingml/2006/main">
            <a:off x="8382000" y="3857625"/>
            <a:ext cx="304800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10" name="">
            <a:extLst xmlns:a="http://schemas.openxmlformats.org/drawingml/2006/main">
              <a:ext uri="{FF2B5EF4-FFF2-40B4-BE49-F238E27FC236}">
                <a16:creationId xmlns:a16="http://schemas.microsoft.com/office/drawing/2014/main" id="{04A3A557-6771-4198-B46A-9904473CC1A5}"/>
              </a:ext>
            </a:extLst>
          </p:cNvPr>
          <p:cNvSpPr>
            <a:spLocks xmlns:a="http://schemas.openxmlformats.org/drawingml/2006/main" noGrp="1"/>
          </p:cNvSpPr>
          <p:nvPr/>
        </p:nvSpPr>
        <p:spPr>
          <a:xfrm xmlns:a="http://schemas.openxmlformats.org/drawingml/2006/main">
            <a:off x="8382000" y="3857625"/>
            <a:ext cx="3048000" cy="0"/>
          </a:xfrm>
          <a:prstGeom xmlns:a="http://schemas.openxmlformats.org/drawingml/2006/main" prst="line">
            <a:avLst/>
          </a:prstGeom>
          <a:noFill xmlns:a="http://schemas.openxmlformats.org/drawingml/2006/main"/>
          <a:ln xmlns:a="http://schemas.openxmlformats.org/drawingml/2006/main" w="66675">
            <a:solidFill>
              <a:srgbClr val="2A9D3F"/>
            </a:solidFill>
            <a:prstDash val="solid"/>
          </a:ln>
        </p:spPr>
      </p:sp>
      <p:sp>
        <p:nvSpPr>
          <p:cNvPr id="11" name="">
            <a:extLst xmlns:a="http://schemas.openxmlformats.org/drawingml/2006/main">
              <a:ext uri="{FF2B5EF4-FFF2-40B4-BE49-F238E27FC236}">
                <a16:creationId xmlns:a16="http://schemas.microsoft.com/office/drawing/2014/main" id="{1392264E-B482-4D5A-9504-1827F7021260}"/>
              </a:ext>
            </a:extLst>
          </p:cNvPr>
          <p:cNvSpPr>
            <a:spLocks xmlns:a="http://schemas.openxmlformats.org/drawingml/2006/main" noGrp="1"/>
          </p:cNvSpPr>
          <p:nvPr/>
        </p:nvSpPr>
        <p:spPr>
          <a:xfrm xmlns:a="http://schemas.openxmlformats.org/drawingml/2006/main">
            <a:off x="8610600" y="4162425"/>
            <a:ext cx="259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+50.20 pt</a:t>
            </a:r>
          </a:p>
        </p:txBody>
      </p:sp>
      <p:sp>
        <p:nvSpPr>
          <p:cNvPr id="12" name="">
            <a:extLst xmlns:a="http://schemas.openxmlformats.org/drawingml/2006/main">
              <a:ext uri="{FF2B5EF4-FFF2-40B4-BE49-F238E27FC236}">
                <a16:creationId xmlns:a16="http://schemas.microsoft.com/office/drawing/2014/main" id="{891C909A-D764-43FC-B0AF-DF3FC5C568F9}"/>
              </a:ext>
            </a:extLst>
          </p:cNvPr>
          <p:cNvSpPr>
            <a:spLocks xmlns:a="http://schemas.openxmlformats.org/drawingml/2006/main" noGrp="1"/>
          </p:cNvSpPr>
          <p:nvPr/>
        </p:nvSpPr>
        <p:spPr>
          <a:xfrm xmlns:a="http://schemas.openxmlformats.org/drawingml/2006/main">
            <a:off x="8610600" y="4924425"/>
            <a:ext cx="259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0 dB gain for the same model</a:t>
            </a:r>
          </a:p>
        </p:txBody>
      </p:sp>
    </p:spTree>
    <p:extLst>
      <p:ext uri="{BB962C8B-B14F-4D97-AF65-F5344CB8AC3E}">
        <p14:creationId xmlns:p14="http://schemas.microsoft.com/office/powerpoint/2010/main" val="31958678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6BA6BB7-5E0B-4AC3-8CCF-B586D6159CC5}"/>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12-title">
            <a:extLst xmlns:a="http://schemas.openxmlformats.org/drawingml/2006/main">
              <a:ext uri="{FF2B5EF4-FFF2-40B4-BE49-F238E27FC236}">
                <a16:creationId xmlns:a16="http://schemas.microsoft.com/office/drawing/2014/main" id="{D2EAC8C0-0856-488C-9D61-837CB6DB4772}"/>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Frozen test confirms the validation result</a:t>
            </a:r>
          </a:p>
        </p:txBody>
      </p:sp>
      <p:sp>
        <p:nvSpPr>
          <p:cNvPr id="3" name="">
            <a:extLst xmlns:a="http://schemas.openxmlformats.org/drawingml/2006/main">
              <a:ext uri="{FF2B5EF4-FFF2-40B4-BE49-F238E27FC236}">
                <a16:creationId xmlns:a16="http://schemas.microsoft.com/office/drawing/2014/main" id="{7FEF5C39-FB14-4A16-A40B-7651ADF53134}"/>
              </a:ext>
            </a:extLst>
          </p:cNvPr>
          <p:cNvSpPr>
            <a:spLocks xmlns:a="http://schemas.openxmlformats.org/drawingml/2006/main" noGrp="1"/>
          </p:cNvSpPr>
          <p:nvPr/>
        </p:nvSpPr>
        <p:spPr>
          <a:xfrm xmlns:a="http://schemas.openxmlformats.org/drawingml/2006/main">
            <a:off x="49530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A58C7E2F-84DC-451C-96F7-8D900A0EE4D4}"/>
              </a:ext>
            </a:extLst>
          </p:cNvPr>
          <p:cNvSpPr>
            <a:spLocks xmlns:a="http://schemas.openxmlformats.org/drawingml/2006/main" noGrp="1"/>
          </p:cNvSpPr>
          <p:nvPr/>
        </p:nvSpPr>
        <p:spPr>
          <a:xfrm xmlns:a="http://schemas.openxmlformats.org/drawingml/2006/main">
            <a:off x="457200" y="1571625"/>
            <a:ext cx="342900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5" name="">
            <a:extLst xmlns:a="http://schemas.openxmlformats.org/drawingml/2006/main">
              <a:ext uri="{FF2B5EF4-FFF2-40B4-BE49-F238E27FC236}">
                <a16:creationId xmlns:a16="http://schemas.microsoft.com/office/drawing/2014/main" id="{F3284319-3A9A-4369-ACE9-2201E9D65350}"/>
              </a:ext>
            </a:extLst>
          </p:cNvPr>
          <p:cNvSpPr>
            <a:spLocks xmlns:a="http://schemas.openxmlformats.org/drawingml/2006/main" noGrp="1"/>
          </p:cNvSpPr>
          <p:nvPr/>
        </p:nvSpPr>
        <p:spPr>
          <a:xfrm xmlns:a="http://schemas.openxmlformats.org/drawingml/2006/main">
            <a:off x="457200" y="1571625"/>
            <a:ext cx="3429000" cy="0"/>
          </a:xfrm>
          <a:prstGeom xmlns:a="http://schemas.openxmlformats.org/drawingml/2006/main" prst="line">
            <a:avLst/>
          </a:prstGeom>
          <a:noFill xmlns:a="http://schemas.openxmlformats.org/drawingml/2006/main"/>
          <a:ln xmlns:a="http://schemas.openxmlformats.org/drawingml/2006/main" w="66675">
            <a:solidFill>
              <a:srgbClr val="3D8DFF"/>
            </a:solidFill>
            <a:prstDash val="solid"/>
          </a:ln>
        </p:spPr>
      </p:sp>
      <p:sp>
        <p:nvSpPr>
          <p:cNvPr id="6" name="">
            <a:extLst xmlns:a="http://schemas.openxmlformats.org/drawingml/2006/main">
              <a:ext uri="{FF2B5EF4-FFF2-40B4-BE49-F238E27FC236}">
                <a16:creationId xmlns:a16="http://schemas.microsoft.com/office/drawing/2014/main" id="{5BFB083B-651B-47A8-9B23-E5189744A957}"/>
              </a:ext>
            </a:extLst>
          </p:cNvPr>
          <p:cNvSpPr>
            <a:spLocks xmlns:a="http://schemas.openxmlformats.org/drawingml/2006/main" noGrp="1"/>
          </p:cNvSpPr>
          <p:nvPr/>
        </p:nvSpPr>
        <p:spPr>
          <a:xfrm xmlns:a="http://schemas.openxmlformats.org/drawingml/2006/main">
            <a:off x="685800" y="1876425"/>
            <a:ext cx="2971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93.12%</a:t>
            </a:r>
          </a:p>
        </p:txBody>
      </p:sp>
      <p:sp>
        <p:nvSpPr>
          <p:cNvPr id="7" name="">
            <a:extLst xmlns:a="http://schemas.openxmlformats.org/drawingml/2006/main">
              <a:ext uri="{FF2B5EF4-FFF2-40B4-BE49-F238E27FC236}">
                <a16:creationId xmlns:a16="http://schemas.microsoft.com/office/drawing/2014/main" id="{0AA7BA2A-E516-44C8-90AC-19A107FE5B19}"/>
              </a:ext>
            </a:extLst>
          </p:cNvPr>
          <p:cNvSpPr>
            <a:spLocks xmlns:a="http://schemas.openxmlformats.org/drawingml/2006/main" noGrp="1"/>
          </p:cNvSpPr>
          <p:nvPr/>
        </p:nvSpPr>
        <p:spPr>
          <a:xfrm xmlns:a="http://schemas.openxmlformats.org/drawingml/2006/main">
            <a:off x="685800" y="26384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test accuracy</a:t>
            </a:r>
          </a:p>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95% CI: 92.24-94.00</a:t>
            </a:r>
          </a:p>
        </p:txBody>
      </p:sp>
      <p:sp>
        <p:nvSpPr>
          <p:cNvPr id="8" name="">
            <a:extLst xmlns:a="http://schemas.openxmlformats.org/drawingml/2006/main">
              <a:ext uri="{FF2B5EF4-FFF2-40B4-BE49-F238E27FC236}">
                <a16:creationId xmlns:a16="http://schemas.microsoft.com/office/drawing/2014/main" id="{515F36F5-4B43-4064-91B7-A8C5E4BC30AB}"/>
              </a:ext>
            </a:extLst>
          </p:cNvPr>
          <p:cNvSpPr>
            <a:spLocks xmlns:a="http://schemas.openxmlformats.org/drawingml/2006/main" noGrp="1"/>
          </p:cNvSpPr>
          <p:nvPr/>
        </p:nvSpPr>
        <p:spPr>
          <a:xfrm xmlns:a="http://schemas.openxmlformats.org/drawingml/2006/main">
            <a:off x="457200" y="3714750"/>
            <a:ext cx="342900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9" name="">
            <a:extLst xmlns:a="http://schemas.openxmlformats.org/drawingml/2006/main">
              <a:ext uri="{FF2B5EF4-FFF2-40B4-BE49-F238E27FC236}">
                <a16:creationId xmlns:a16="http://schemas.microsoft.com/office/drawing/2014/main" id="{49A060FF-0D63-4F66-92B0-43C883A08970}"/>
              </a:ext>
            </a:extLst>
          </p:cNvPr>
          <p:cNvSpPr>
            <a:spLocks xmlns:a="http://schemas.openxmlformats.org/drawingml/2006/main" noGrp="1"/>
          </p:cNvSpPr>
          <p:nvPr/>
        </p:nvSpPr>
        <p:spPr>
          <a:xfrm xmlns:a="http://schemas.openxmlformats.org/drawingml/2006/main">
            <a:off x="457200" y="3714750"/>
            <a:ext cx="3429000" cy="0"/>
          </a:xfrm>
          <a:prstGeom xmlns:a="http://schemas.openxmlformats.org/drawingml/2006/main" prst="line">
            <a:avLst/>
          </a:prstGeom>
          <a:noFill xmlns:a="http://schemas.openxmlformats.org/drawingml/2006/main"/>
          <a:ln xmlns:a="http://schemas.openxmlformats.org/drawingml/2006/main" w="66675">
            <a:solidFill>
              <a:srgbClr val="7B2CBF"/>
            </a:solidFill>
            <a:prstDash val="solid"/>
          </a:ln>
        </p:spPr>
      </p:sp>
      <p:sp>
        <p:nvSpPr>
          <p:cNvPr id="10" name="">
            <a:extLst xmlns:a="http://schemas.openxmlformats.org/drawingml/2006/main">
              <a:ext uri="{FF2B5EF4-FFF2-40B4-BE49-F238E27FC236}">
                <a16:creationId xmlns:a16="http://schemas.microsoft.com/office/drawing/2014/main" id="{726443A7-55F1-43BF-B5EB-2BDB242EC64C}"/>
              </a:ext>
            </a:extLst>
          </p:cNvPr>
          <p:cNvSpPr>
            <a:spLocks xmlns:a="http://schemas.openxmlformats.org/drawingml/2006/main" noGrp="1"/>
          </p:cNvSpPr>
          <p:nvPr/>
        </p:nvSpPr>
        <p:spPr>
          <a:xfrm xmlns:a="http://schemas.openxmlformats.org/drawingml/2006/main">
            <a:off x="685800" y="4019550"/>
            <a:ext cx="2971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0.9315</a:t>
            </a:r>
          </a:p>
        </p:txBody>
      </p:sp>
      <p:sp>
        <p:nvSpPr>
          <p:cNvPr id="11" name="">
            <a:extLst xmlns:a="http://schemas.openxmlformats.org/drawingml/2006/main">
              <a:ext uri="{FF2B5EF4-FFF2-40B4-BE49-F238E27FC236}">
                <a16:creationId xmlns:a16="http://schemas.microsoft.com/office/drawing/2014/main" id="{B7980D28-5EA2-4638-B417-62AD1F5B43D7}"/>
              </a:ext>
            </a:extLst>
          </p:cNvPr>
          <p:cNvSpPr>
            <a:spLocks xmlns:a="http://schemas.openxmlformats.org/drawingml/2006/main" noGrp="1"/>
          </p:cNvSpPr>
          <p:nvPr/>
        </p:nvSpPr>
        <p:spPr>
          <a:xfrm xmlns:a="http://schemas.openxmlformats.org/drawingml/2006/main">
            <a:off x="685800" y="47815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test macro-F1</a:t>
            </a:r>
          </a:p>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95% CI: 0.9228-0.9402</a:t>
            </a:r>
          </a:p>
        </p:txBody>
      </p:sp>
      <p:sp>
        <p:nvSpPr>
          <p:cNvPr id="12" name="">
            <a:extLst xmlns:a="http://schemas.openxmlformats.org/drawingml/2006/main">
              <a:ext uri="{FF2B5EF4-FFF2-40B4-BE49-F238E27FC236}">
                <a16:creationId xmlns:a16="http://schemas.microsoft.com/office/drawing/2014/main" id="{2DD0FF8B-0B34-4C25-989B-B45A101D1256}"/>
              </a:ext>
            </a:extLst>
          </p:cNvPr>
          <p:cNvSpPr>
            <a:spLocks xmlns:a="http://schemas.openxmlformats.org/drawingml/2006/main" noGrp="1"/>
          </p:cNvSpPr>
          <p:nvPr/>
        </p:nvSpPr>
        <p:spPr>
          <a:xfrm xmlns:a="http://schemas.openxmlformats.org/drawingml/2006/main">
            <a:off x="457200" y="58102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2A9D3F"/>
                </a:solidFill>
                <a:latin typeface="Arial"/>
                <a:ea typeface="Arial"/>
                <a:cs typeface="Arial"/>
              </a:defRPr>
            </a:pPr>
            <a:r>
              <a:rPr sz="1650" b="1">
                <a:solidFill>
                  <a:srgbClr val="2A9D3F"/>
                </a:solidFill>
                <a:latin typeface="Arial"/>
                <a:ea typeface="Arial"/>
                <a:cs typeface="Arial"/>
              </a:rPr>
              <a:t>Validation -&gt; test: -0.85 points</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b48cd50c69cf4652"/>
          <a:srcRect xmlns:a="http://schemas.openxmlformats.org/drawingml/2006/main" l="50000" t="0" r="0" b="0"/>
          <a:stretch xmlns:a="http://schemas.openxmlformats.org/drawingml/2006/main"/>
        </p:blipFill>
        <p:spPr>
          <a:xfrm xmlns:a="http://schemas.openxmlformats.org/drawingml/2006/main" flipH="0" flipV="0">
            <a:off x="5766681" y="1285875"/>
            <a:ext cx="5706889" cy="5048250"/>
          </a:xfrm>
          <a:prstGeom xmlns:a="http://schemas.openxmlformats.org/drawingml/2006/main" prst="rect">
            <a:avLst/>
          </a:prstGeom>
        </p:spPr>
      </p:pic>
    </p:spTree>
    <p:extLst>
      <p:ext uri="{BB962C8B-B14F-4D97-AF65-F5344CB8AC3E}">
        <p14:creationId xmlns:p14="http://schemas.microsoft.com/office/powerpoint/2010/main" val="93610586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66E00D3-E8D8-4225-B3AC-3B35830406FD}"/>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13-title">
            <a:extLst xmlns:a="http://schemas.openxmlformats.org/drawingml/2006/main">
              <a:ext uri="{FF2B5EF4-FFF2-40B4-BE49-F238E27FC236}">
                <a16:creationId xmlns:a16="http://schemas.microsoft.com/office/drawing/2014/main" id="{3CE0901C-87F7-4DDE-811A-56F43F8A7DE3}"/>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Noise remains the main failure axis</a:t>
            </a:r>
          </a:p>
        </p:txBody>
      </p:sp>
      <p:sp>
        <p:nvSpPr>
          <p:cNvPr id="3" name="">
            <a:extLst xmlns:a="http://schemas.openxmlformats.org/drawingml/2006/main">
              <a:ext uri="{FF2B5EF4-FFF2-40B4-BE49-F238E27FC236}">
                <a16:creationId xmlns:a16="http://schemas.microsoft.com/office/drawing/2014/main" id="{FFA61490-F115-42CE-AF54-1F2EB1177575}"/>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13</a:t>
            </a:r>
          </a:p>
        </p:txBody>
      </p:sp>
      <p:graphicFrame>
        <p:nvGraphicFramePr>
          <p:cNvPr id="23" name="Chart"/>
          <p:cNvGraphicFramePr/>
          <p:nvPr/>
        </p:nvGraphicFramePr>
        <p:xfrm>
          <a:off xmlns:a="http://schemas.openxmlformats.org/drawingml/2006/main" x="457200" y="1524000"/>
          <a:ext xmlns:a="http://schemas.openxmlformats.org/drawingml/2006/main" cx="6096000" cy="4095750"/>
        </p:xfrm>
        <a:graphic xmlns:a="http://schemas.openxmlformats.org/drawingml/2006/main">
          <a:graphicData uri="http://schemas.openxmlformats.org/drawingml/2006/chart">
            <c:chart xmlns:r="http://schemas.openxmlformats.org/officeDocument/2006/relationships" xmlns:c="http://schemas.openxmlformats.org/drawingml/2006/chart" r:id="R39a551da7da6405f"/>
          </a:graphicData>
        </a:graphic>
      </p:graphicFrame>
      <p:sp>
        <p:nvSpPr>
          <p:cNvPr id="5" name="">
            <a:extLst xmlns:a="http://schemas.openxmlformats.org/drawingml/2006/main">
              <a:ext uri="{FF2B5EF4-FFF2-40B4-BE49-F238E27FC236}">
                <a16:creationId xmlns:a16="http://schemas.microsoft.com/office/drawing/2014/main" id="{318C4D07-7ECC-4B10-A548-522A83627716}"/>
              </a:ext>
            </a:extLst>
          </p:cNvPr>
          <p:cNvSpPr>
            <a:spLocks xmlns:a="http://schemas.openxmlformats.org/drawingml/2006/main" noGrp="1"/>
          </p:cNvSpPr>
          <p:nvPr/>
        </p:nvSpPr>
        <p:spPr>
          <a:xfrm xmlns:a="http://schemas.openxmlformats.org/drawingml/2006/main">
            <a:off x="1714500" y="171450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Arial"/>
                <a:ea typeface="Arial"/>
                <a:cs typeface="Arial"/>
              </a:defRPr>
            </a:pPr>
            <a:r>
              <a:rPr sz="1500" b="1">
                <a:solidFill>
                  <a:srgbClr val="000000"/>
                </a:solidFill>
                <a:latin typeface="Arial"/>
                <a:ea typeface="Arial"/>
                <a:cs typeface="Arial"/>
              </a:rPr>
              <a:t>0.93</a:t>
            </a:r>
          </a:p>
        </p:txBody>
      </p:sp>
      <p:sp>
        <p:nvSpPr>
          <p:cNvPr id="6" name="">
            <a:extLst xmlns:a="http://schemas.openxmlformats.org/drawingml/2006/main">
              <a:ext uri="{FF2B5EF4-FFF2-40B4-BE49-F238E27FC236}">
                <a16:creationId xmlns:a16="http://schemas.microsoft.com/office/drawing/2014/main" id="{3C08F6A3-DC5C-46DE-A979-8D45ECBB5A35}"/>
              </a:ext>
            </a:extLst>
          </p:cNvPr>
          <p:cNvSpPr>
            <a:spLocks xmlns:a="http://schemas.openxmlformats.org/drawingml/2006/main" noGrp="1"/>
          </p:cNvSpPr>
          <p:nvPr/>
        </p:nvSpPr>
        <p:spPr>
          <a:xfrm xmlns:a="http://schemas.openxmlformats.org/drawingml/2006/main">
            <a:off x="3095625" y="1952625"/>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Arial"/>
                <a:ea typeface="Arial"/>
                <a:cs typeface="Arial"/>
              </a:defRPr>
            </a:pPr>
            <a:r>
              <a:rPr sz="1500" b="1">
                <a:solidFill>
                  <a:srgbClr val="000000"/>
                </a:solidFill>
                <a:latin typeface="Arial"/>
                <a:ea typeface="Arial"/>
                <a:cs typeface="Arial"/>
              </a:rPr>
              <a:t>0.92</a:t>
            </a:r>
          </a:p>
        </p:txBody>
      </p:sp>
      <p:sp>
        <p:nvSpPr>
          <p:cNvPr id="7" name="">
            <a:extLst xmlns:a="http://schemas.openxmlformats.org/drawingml/2006/main">
              <a:ext uri="{FF2B5EF4-FFF2-40B4-BE49-F238E27FC236}">
                <a16:creationId xmlns:a16="http://schemas.microsoft.com/office/drawing/2014/main" id="{19045064-E5A4-429E-B79C-7EE356F60CAB}"/>
              </a:ext>
            </a:extLst>
          </p:cNvPr>
          <p:cNvSpPr>
            <a:spLocks xmlns:a="http://schemas.openxmlformats.org/drawingml/2006/main" noGrp="1"/>
          </p:cNvSpPr>
          <p:nvPr/>
        </p:nvSpPr>
        <p:spPr>
          <a:xfrm xmlns:a="http://schemas.openxmlformats.org/drawingml/2006/main">
            <a:off x="4429125" y="228600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Arial"/>
                <a:ea typeface="Arial"/>
                <a:cs typeface="Arial"/>
              </a:defRPr>
            </a:pPr>
            <a:r>
              <a:rPr sz="1500" b="1">
                <a:solidFill>
                  <a:srgbClr val="000000"/>
                </a:solidFill>
                <a:latin typeface="Arial"/>
                <a:ea typeface="Arial"/>
                <a:cs typeface="Arial"/>
              </a:rPr>
              <a:t>0.91</a:t>
            </a:r>
          </a:p>
        </p:txBody>
      </p:sp>
      <p:sp>
        <p:nvSpPr>
          <p:cNvPr id="8" name="">
            <a:extLst xmlns:a="http://schemas.openxmlformats.org/drawingml/2006/main">
              <a:ext uri="{FF2B5EF4-FFF2-40B4-BE49-F238E27FC236}">
                <a16:creationId xmlns:a16="http://schemas.microsoft.com/office/drawing/2014/main" id="{F167DCAD-98CA-49C5-BC42-261BE5F9BC81}"/>
              </a:ext>
            </a:extLst>
          </p:cNvPr>
          <p:cNvSpPr>
            <a:spLocks xmlns:a="http://schemas.openxmlformats.org/drawingml/2006/main" noGrp="1"/>
          </p:cNvSpPr>
          <p:nvPr/>
        </p:nvSpPr>
        <p:spPr>
          <a:xfrm xmlns:a="http://schemas.openxmlformats.org/drawingml/2006/main">
            <a:off x="5715000" y="3762375"/>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Arial"/>
                <a:ea typeface="Arial"/>
                <a:cs typeface="Arial"/>
              </a:defRPr>
            </a:pPr>
            <a:r>
              <a:rPr sz="1500" b="1">
                <a:solidFill>
                  <a:srgbClr val="000000"/>
                </a:solidFill>
                <a:latin typeface="Arial"/>
                <a:ea typeface="Arial"/>
                <a:cs typeface="Arial"/>
              </a:rPr>
              <a:t>0.82</a:t>
            </a:r>
          </a:p>
        </p:txBody>
      </p:sp>
      <p:sp>
        <p:nvSpPr>
          <p:cNvPr id="9" name="">
            <a:extLst xmlns:a="http://schemas.openxmlformats.org/drawingml/2006/main">
              <a:ext uri="{FF2B5EF4-FFF2-40B4-BE49-F238E27FC236}">
                <a16:creationId xmlns:a16="http://schemas.microsoft.com/office/drawing/2014/main" id="{210C4813-9B4D-4657-A4D9-9D3D64AE0E05}"/>
              </a:ext>
            </a:extLst>
          </p:cNvPr>
          <p:cNvSpPr>
            <a:spLocks xmlns:a="http://schemas.openxmlformats.org/drawingml/2006/main" noGrp="1"/>
          </p:cNvSpPr>
          <p:nvPr/>
        </p:nvSpPr>
        <p:spPr>
          <a:xfrm xmlns:a="http://schemas.openxmlformats.org/drawingml/2006/main">
            <a:off x="7048500" y="1476375"/>
            <a:ext cx="419100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10" name="">
            <a:extLst xmlns:a="http://schemas.openxmlformats.org/drawingml/2006/main">
              <a:ext uri="{FF2B5EF4-FFF2-40B4-BE49-F238E27FC236}">
                <a16:creationId xmlns:a16="http://schemas.microsoft.com/office/drawing/2014/main" id="{A983B76C-FE3F-499A-BD72-9C82727BAD3F}"/>
              </a:ext>
            </a:extLst>
          </p:cNvPr>
          <p:cNvSpPr>
            <a:spLocks xmlns:a="http://schemas.openxmlformats.org/drawingml/2006/main" noGrp="1"/>
          </p:cNvSpPr>
          <p:nvPr/>
        </p:nvSpPr>
        <p:spPr>
          <a:xfrm xmlns:a="http://schemas.openxmlformats.org/drawingml/2006/main">
            <a:off x="7048500" y="1476375"/>
            <a:ext cx="4191000" cy="0"/>
          </a:xfrm>
          <a:prstGeom xmlns:a="http://schemas.openxmlformats.org/drawingml/2006/main" prst="line">
            <a:avLst/>
          </a:prstGeom>
          <a:noFill xmlns:a="http://schemas.openxmlformats.org/drawingml/2006/main"/>
          <a:ln xmlns:a="http://schemas.openxmlformats.org/drawingml/2006/main" w="66675">
            <a:solidFill>
              <a:srgbClr val="7B2CBF"/>
            </a:solidFill>
            <a:prstDash val="solid"/>
          </a:ln>
        </p:spPr>
      </p:sp>
      <p:sp>
        <p:nvSpPr>
          <p:cNvPr id="11" name="">
            <a:extLst xmlns:a="http://schemas.openxmlformats.org/drawingml/2006/main">
              <a:ext uri="{FF2B5EF4-FFF2-40B4-BE49-F238E27FC236}">
                <a16:creationId xmlns:a16="http://schemas.microsoft.com/office/drawing/2014/main" id="{5F83185C-67E1-4A46-B75F-56150559EDE7}"/>
              </a:ext>
            </a:extLst>
          </p:cNvPr>
          <p:cNvSpPr>
            <a:spLocks xmlns:a="http://schemas.openxmlformats.org/drawingml/2006/main" noGrp="1"/>
          </p:cNvSpPr>
          <p:nvPr/>
        </p:nvSpPr>
        <p:spPr>
          <a:xfrm xmlns:a="http://schemas.openxmlformats.org/drawingml/2006/main">
            <a:off x="7277100" y="1781175"/>
            <a:ext cx="3733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0.0303</a:t>
            </a:r>
          </a:p>
        </p:txBody>
      </p:sp>
      <p:sp>
        <p:nvSpPr>
          <p:cNvPr id="12" name="">
            <a:extLst xmlns:a="http://schemas.openxmlformats.org/drawingml/2006/main">
              <a:ext uri="{FF2B5EF4-FFF2-40B4-BE49-F238E27FC236}">
                <a16:creationId xmlns:a16="http://schemas.microsoft.com/office/drawing/2014/main" id="{9078E7C6-F7CE-4627-B952-211B3D36945F}"/>
              </a:ext>
            </a:extLst>
          </p:cNvPr>
          <p:cNvSpPr>
            <a:spLocks xmlns:a="http://schemas.openxmlformats.org/drawingml/2006/main" noGrp="1"/>
          </p:cNvSpPr>
          <p:nvPr/>
        </p:nvSpPr>
        <p:spPr>
          <a:xfrm xmlns:a="http://schemas.openxmlformats.org/drawingml/2006/main">
            <a:off x="7277100" y="2543175"/>
            <a:ext cx="3733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expected calibration error</a:t>
            </a:r>
          </a:p>
        </p:txBody>
      </p:sp>
      <p:sp>
        <p:nvSpPr>
          <p:cNvPr id="13" name="">
            <a:extLst xmlns:a="http://schemas.openxmlformats.org/drawingml/2006/main">
              <a:ext uri="{FF2B5EF4-FFF2-40B4-BE49-F238E27FC236}">
                <a16:creationId xmlns:a16="http://schemas.microsoft.com/office/drawing/2014/main" id="{E94D57DA-A938-4F82-9C24-A8917D5C0D49}"/>
              </a:ext>
            </a:extLst>
          </p:cNvPr>
          <p:cNvSpPr>
            <a:spLocks xmlns:a="http://schemas.openxmlformats.org/drawingml/2006/main" noGrp="1"/>
          </p:cNvSpPr>
          <p:nvPr/>
        </p:nvSpPr>
        <p:spPr>
          <a:xfrm xmlns:a="http://schemas.openxmlformats.org/drawingml/2006/main">
            <a:off x="7048500" y="3476625"/>
            <a:ext cx="4191000" cy="1809750"/>
          </a:xfrm>
          <a:prstGeom xmlns:a="http://schemas.openxmlformats.org/drawingml/2006/main" prst="rect">
            <a:avLst/>
          </a:prstGeom>
          <a:solidFill xmlns:a="http://schemas.openxmlformats.org/drawingml/2006/main">
            <a:srgbClr val="F2F2F2"/>
          </a:solidFill>
          <a:ln xmlns:a="http://schemas.openxmlformats.org/drawingml/2006/main" w="0">
            <a:solidFill>
              <a:srgbClr val="F2F2F2"/>
            </a:solidFill>
            <a:prstDash val="solid"/>
          </a:ln>
        </p:spPr>
      </p:sp>
      <p:sp>
        <p:nvSpPr>
          <p:cNvPr id="14" name="">
            <a:extLst xmlns:a="http://schemas.openxmlformats.org/drawingml/2006/main">
              <a:ext uri="{FF2B5EF4-FFF2-40B4-BE49-F238E27FC236}">
                <a16:creationId xmlns:a16="http://schemas.microsoft.com/office/drawing/2014/main" id="{CA272344-F24B-44F2-87FC-2ADEC4E7BAC5}"/>
              </a:ext>
            </a:extLst>
          </p:cNvPr>
          <p:cNvSpPr>
            <a:spLocks xmlns:a="http://schemas.openxmlformats.org/drawingml/2006/main" noGrp="1"/>
          </p:cNvSpPr>
          <p:nvPr/>
        </p:nvSpPr>
        <p:spPr>
          <a:xfrm xmlns:a="http://schemas.openxmlformats.org/drawingml/2006/main">
            <a:off x="7048500" y="3476625"/>
            <a:ext cx="4191000" cy="0"/>
          </a:xfrm>
          <a:prstGeom xmlns:a="http://schemas.openxmlformats.org/drawingml/2006/main" prst="line">
            <a:avLst/>
          </a:prstGeom>
          <a:noFill xmlns:a="http://schemas.openxmlformats.org/drawingml/2006/main"/>
          <a:ln xmlns:a="http://schemas.openxmlformats.org/drawingml/2006/main" w="66675">
            <a:solidFill>
              <a:srgbClr val="3D8DFF"/>
            </a:solidFill>
            <a:prstDash val="solid"/>
          </a:ln>
        </p:spPr>
      </p:sp>
      <p:sp>
        <p:nvSpPr>
          <p:cNvPr id="15" name="">
            <a:extLst xmlns:a="http://schemas.openxmlformats.org/drawingml/2006/main">
              <a:ext uri="{FF2B5EF4-FFF2-40B4-BE49-F238E27FC236}">
                <a16:creationId xmlns:a16="http://schemas.microsoft.com/office/drawing/2014/main" id="{DDC466D8-3FBB-4570-962C-540B918A8640}"/>
              </a:ext>
            </a:extLst>
          </p:cNvPr>
          <p:cNvSpPr>
            <a:spLocks xmlns:a="http://schemas.openxmlformats.org/drawingml/2006/main" noGrp="1"/>
          </p:cNvSpPr>
          <p:nvPr/>
        </p:nvSpPr>
        <p:spPr>
          <a:xfrm xmlns:a="http://schemas.openxmlformats.org/drawingml/2006/main">
            <a:off x="7277100" y="3781425"/>
            <a:ext cx="3733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900" b="1">
                <a:solidFill>
                  <a:srgbClr val="000000"/>
                </a:solidFill>
                <a:latin typeface="Arial"/>
                <a:ea typeface="Arial"/>
                <a:cs typeface="Arial"/>
              </a:defRPr>
            </a:pPr>
            <a:r>
              <a:rPr sz="3900" b="1">
                <a:solidFill>
                  <a:srgbClr val="000000"/>
                </a:solidFill>
                <a:latin typeface="Arial"/>
                <a:ea typeface="Arial"/>
                <a:cs typeface="Arial"/>
              </a:rPr>
              <a:t>3.33 ms</a:t>
            </a:r>
          </a:p>
        </p:txBody>
      </p:sp>
      <p:sp>
        <p:nvSpPr>
          <p:cNvPr id="16" name="">
            <a:extLst xmlns:a="http://schemas.openxmlformats.org/drawingml/2006/main">
              <a:ext uri="{FF2B5EF4-FFF2-40B4-BE49-F238E27FC236}">
                <a16:creationId xmlns:a16="http://schemas.microsoft.com/office/drawing/2014/main" id="{F99292DF-EBDF-4A0A-8DC4-35090FB498C2}"/>
              </a:ext>
            </a:extLst>
          </p:cNvPr>
          <p:cNvSpPr>
            <a:spLocks xmlns:a="http://schemas.openxmlformats.org/drawingml/2006/main" noGrp="1"/>
          </p:cNvSpPr>
          <p:nvPr/>
        </p:nvSpPr>
        <p:spPr>
          <a:xfrm xmlns:a="http://schemas.openxmlformats.org/drawingml/2006/main">
            <a:off x="7277100" y="4543425"/>
            <a:ext cx="3733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9616B"/>
                </a:solidFill>
                <a:latin typeface="Arial"/>
                <a:ea typeface="Arial"/>
                <a:cs typeface="Arial"/>
              </a:defRPr>
            </a:pPr>
            <a:r>
              <a:rPr sz="1650" b="0">
                <a:solidFill>
                  <a:srgbClr val="59616B"/>
                </a:solidFill>
                <a:latin typeface="Arial"/>
                <a:ea typeface="Arial"/>
                <a:cs typeface="Arial"/>
              </a:rPr>
              <a:t>median CPU end-to-end latency</a:t>
            </a:r>
          </a:p>
        </p:txBody>
      </p:sp>
      <p:sp>
        <p:nvSpPr>
          <p:cNvPr id="17" name="">
            <a:extLst xmlns:a="http://schemas.openxmlformats.org/drawingml/2006/main">
              <a:ext uri="{FF2B5EF4-FFF2-40B4-BE49-F238E27FC236}">
                <a16:creationId xmlns:a16="http://schemas.microsoft.com/office/drawing/2014/main" id="{267E93FF-D8E0-4835-A97F-16592E0FCC47}"/>
              </a:ext>
            </a:extLst>
          </p:cNvPr>
          <p:cNvSpPr>
            <a:spLocks xmlns:a="http://schemas.openxmlformats.org/drawingml/2006/main" noGrp="1"/>
          </p:cNvSpPr>
          <p:nvPr/>
        </p:nvSpPr>
        <p:spPr>
          <a:xfrm xmlns:a="http://schemas.openxmlformats.org/drawingml/2006/main">
            <a:off x="6858000" y="5715000"/>
            <a:ext cx="466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575" b="1">
                <a:solidFill>
                  <a:srgbClr val="000000"/>
                </a:solidFill>
                <a:latin typeface="Arial"/>
                <a:ea typeface="Arial"/>
                <a:cs typeface="Arial"/>
              </a:defRPr>
            </a:pPr>
            <a:r>
              <a:rPr sz="1575" b="1">
                <a:solidFill>
                  <a:srgbClr val="000000"/>
                </a:solidFill>
                <a:latin typeface="Arial"/>
                <a:ea typeface="Arial"/>
                <a:cs typeface="Arial"/>
              </a:rPr>
              <a:t>3.42 MiB serialized  |  +/-100 ms shift costs at most 0.38 points</a:t>
            </a:r>
          </a:p>
        </p:txBody>
      </p:sp>
    </p:spTree>
    <p:extLst>
      <p:ext uri="{BB962C8B-B14F-4D97-AF65-F5344CB8AC3E}">
        <p14:creationId xmlns:p14="http://schemas.microsoft.com/office/powerpoint/2010/main" val="92112259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B817B8-1D6C-41DC-BAC0-FC395AD6D27A}"/>
              </a:ext>
            </a:extLst>
          </p:cNvPr>
          <p:cNvSpPr>
            <a:spLocks xmlns:a="http://schemas.openxmlformats.org/drawingml/2006/main" noGrp="1"/>
          </p:cNvSpPr>
          <p:nvPr/>
        </p:nvSpPr>
        <p:spPr>
          <a:xfrm xmlns:a="http://schemas.openxmlformats.org/drawingml/2006/main">
            <a:off x="457200" y="2381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9616B"/>
                </a:solidFill>
                <a:latin typeface="Arial"/>
                <a:ea typeface="Arial"/>
                <a:cs typeface="Arial"/>
              </a:defRPr>
            </a:pPr>
            <a:r>
              <a:rPr sz="1200" b="1">
                <a:solidFill>
                  <a:srgbClr val="59616B"/>
                </a:solidFill>
                <a:latin typeface="Arial"/>
                <a:ea typeface="Arial"/>
                <a:cs typeface="Arial"/>
              </a:rPr>
              <a:t>SPEECH COMMANDS</a:t>
            </a:r>
          </a:p>
        </p:txBody>
      </p:sp>
      <p:sp>
        <p:nvSpPr>
          <p:cNvPr id="2" name="slide-14-title">
            <a:extLst xmlns:a="http://schemas.openxmlformats.org/drawingml/2006/main">
              <a:ext uri="{FF2B5EF4-FFF2-40B4-BE49-F238E27FC236}">
                <a16:creationId xmlns:a16="http://schemas.microsoft.com/office/drawing/2014/main" id="{2C126FD0-808A-410A-8D5F-726A8C7518AA}"/>
              </a:ext>
            </a:extLst>
          </p:cNvPr>
          <p:cNvSpPr>
            <a:spLocks xmlns:a="http://schemas.openxmlformats.org/drawingml/2006/main" noGrp="1"/>
          </p:cNvSpPr>
          <p:nvPr/>
        </p:nvSpPr>
        <p:spPr>
          <a:xfrm xmlns:a="http://schemas.openxmlformats.org/drawingml/2006/main">
            <a:off x="457200" y="51435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000000"/>
                </a:solidFill>
                <a:latin typeface="Arial"/>
                <a:ea typeface="Arial"/>
                <a:cs typeface="Arial"/>
              </a:defRPr>
            </a:pPr>
            <a:r>
              <a:rPr sz="3600" b="1">
                <a:solidFill>
                  <a:srgbClr val="000000"/>
                </a:solidFill>
                <a:latin typeface="Arial"/>
                <a:ea typeface="Arial"/>
                <a:cs typeface="Arial"/>
              </a:rPr>
              <a:t>Rare confident failures survive good calibration</a:t>
            </a:r>
          </a:p>
        </p:txBody>
      </p:sp>
      <p:sp>
        <p:nvSpPr>
          <p:cNvPr id="3" name="">
            <a:extLst xmlns:a="http://schemas.openxmlformats.org/drawingml/2006/main">
              <a:ext uri="{FF2B5EF4-FFF2-40B4-BE49-F238E27FC236}">
                <a16:creationId xmlns:a16="http://schemas.microsoft.com/office/drawing/2014/main" id="{35F907BF-702D-4F49-9737-33EBE012A3F1}"/>
              </a:ext>
            </a:extLst>
          </p:cNvPr>
          <p:cNvSpPr>
            <a:spLocks xmlns:a="http://schemas.openxmlformats.org/drawingml/2006/main" noGrp="1"/>
          </p:cNvSpPr>
          <p:nvPr/>
        </p:nvSpPr>
        <p:spPr>
          <a:xfrm xmlns:a="http://schemas.openxmlformats.org/drawingml/2006/main">
            <a:off x="1123950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14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bfe69f2b67b4268"/>
          <a:srcRect xmlns:a="http://schemas.openxmlformats.org/drawingml/2006/main" l="0" t="3500" r="50000" b="65000"/>
          <a:stretch xmlns:a="http://schemas.openxmlformats.org/drawingml/2006/main"/>
        </p:blipFill>
        <p:spPr>
          <a:xfrm xmlns:a="http://schemas.openxmlformats.org/drawingml/2006/main" flipH="0" flipV="0">
            <a:off x="457200" y="1722973"/>
            <a:ext cx="7477125" cy="2935804"/>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C82B097-8D63-46BF-AC14-5A87406B2737}"/>
              </a:ext>
            </a:extLst>
          </p:cNvPr>
          <p:cNvSpPr>
            <a:spLocks xmlns:a="http://schemas.openxmlformats.org/drawingml/2006/main" noGrp="1"/>
          </p:cNvSpPr>
          <p:nvPr/>
        </p:nvSpPr>
        <p:spPr>
          <a:xfrm xmlns:a="http://schemas.openxmlformats.org/drawingml/2006/main">
            <a:off x="762000" y="5000625"/>
            <a:ext cx="685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75" b="1">
                <a:solidFill>
                  <a:srgbClr val="000000"/>
                </a:solidFill>
                <a:latin typeface="Arial"/>
                <a:ea typeface="Arial"/>
                <a:cs typeface="Arial"/>
              </a:defRPr>
            </a:pPr>
            <a:r>
              <a:rPr sz="1875" b="1">
                <a:solidFill>
                  <a:srgbClr val="000000"/>
                </a:solidFill>
                <a:latin typeface="Arial"/>
                <a:ea typeface="Arial"/>
                <a:cs typeface="Arial"/>
              </a:rPr>
              <a:t>Every gallery item links to a playable WAV for listening during the defense.</a:t>
            </a:r>
          </a:p>
        </p:txBody>
      </p:sp>
      <p:sp>
        <p:nvSpPr>
          <p:cNvPr id="6" name="">
            <a:extLst xmlns:a="http://schemas.openxmlformats.org/drawingml/2006/main">
              <a:ext uri="{FF2B5EF4-FFF2-40B4-BE49-F238E27FC236}">
                <a16:creationId xmlns:a16="http://schemas.microsoft.com/office/drawing/2014/main" id="{317154DF-26FF-4318-B828-0B1B22F3A7B2}"/>
              </a:ext>
            </a:extLst>
          </p:cNvPr>
          <p:cNvSpPr>
            <a:spLocks xmlns:a="http://schemas.openxmlformats.org/drawingml/2006/main" noGrp="1"/>
          </p:cNvSpPr>
          <p:nvPr/>
        </p:nvSpPr>
        <p:spPr>
          <a:xfrm xmlns:a="http://schemas.openxmlformats.org/drawingml/2006/main">
            <a:off x="8286750" y="1619250"/>
            <a:ext cx="3143250" cy="3905250"/>
          </a:xfrm>
          <a:prstGeom xmlns:a="http://schemas.openxmlformats.org/drawingml/2006/main" prst="rect">
            <a:avLst/>
          </a:prstGeom>
          <a:solidFill xmlns:a="http://schemas.openxmlformats.org/drawingml/2006/main">
            <a:srgbClr val="F2F2F2"/>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EDFD7A08-B1A7-4F45-BC50-8B91077DC758}"/>
              </a:ext>
            </a:extLst>
          </p:cNvPr>
          <p:cNvSpPr>
            <a:spLocks xmlns:a="http://schemas.openxmlformats.org/drawingml/2006/main" noGrp="1"/>
          </p:cNvSpPr>
          <p:nvPr/>
        </p:nvSpPr>
        <p:spPr>
          <a:xfrm xmlns:a="http://schemas.openxmlformats.org/drawingml/2006/main">
            <a:off x="8572500" y="1952625"/>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59616B"/>
                </a:solidFill>
                <a:latin typeface="Arial"/>
                <a:ea typeface="Arial"/>
                <a:cs typeface="Arial"/>
              </a:defRPr>
            </a:pPr>
            <a:r>
              <a:rPr sz="1650" b="1">
                <a:solidFill>
                  <a:srgbClr val="59616B"/>
                </a:solidFill>
                <a:latin typeface="Arial"/>
                <a:ea typeface="Arial"/>
                <a:cs typeface="Arial"/>
              </a:rPr>
              <a:t>Weakest class</a:t>
            </a:r>
          </a:p>
        </p:txBody>
      </p:sp>
      <p:sp>
        <p:nvSpPr>
          <p:cNvPr id="8" name="">
            <a:extLst xmlns:a="http://schemas.openxmlformats.org/drawingml/2006/main">
              <a:ext uri="{FF2B5EF4-FFF2-40B4-BE49-F238E27FC236}">
                <a16:creationId xmlns:a16="http://schemas.microsoft.com/office/drawing/2014/main" id="{B401331C-E8F2-4C86-9D49-130452804400}"/>
              </a:ext>
            </a:extLst>
          </p:cNvPr>
          <p:cNvSpPr>
            <a:spLocks xmlns:a="http://schemas.openxmlformats.org/drawingml/2006/main" noGrp="1"/>
          </p:cNvSpPr>
          <p:nvPr/>
        </p:nvSpPr>
        <p:spPr>
          <a:xfrm xmlns:a="http://schemas.openxmlformats.org/drawingml/2006/main">
            <a:off x="8572500" y="2333625"/>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000000"/>
                </a:solidFill>
                <a:latin typeface="Arial"/>
                <a:ea typeface="Arial"/>
                <a:cs typeface="Arial"/>
              </a:defRPr>
            </a:pPr>
            <a:r>
              <a:rPr sz="2175" b="1">
                <a:solidFill>
                  <a:srgbClr val="000000"/>
                </a:solidFill>
                <a:latin typeface="Arial"/>
                <a:ea typeface="Arial"/>
                <a:cs typeface="Arial"/>
              </a:rPr>
              <a:t>unknown  F1 = 0.840</a:t>
            </a:r>
          </a:p>
        </p:txBody>
      </p:sp>
      <p:sp>
        <p:nvSpPr>
          <p:cNvPr id="9" name="">
            <a:extLst xmlns:a="http://schemas.openxmlformats.org/drawingml/2006/main">
              <a:ext uri="{FF2B5EF4-FFF2-40B4-BE49-F238E27FC236}">
                <a16:creationId xmlns:a16="http://schemas.microsoft.com/office/drawing/2014/main" id="{498DE47A-F379-413D-9363-75E772BD7655}"/>
              </a:ext>
            </a:extLst>
          </p:cNvPr>
          <p:cNvSpPr>
            <a:spLocks xmlns:a="http://schemas.openxmlformats.org/drawingml/2006/main" noGrp="1"/>
          </p:cNvSpPr>
          <p:nvPr/>
        </p:nvSpPr>
        <p:spPr>
          <a:xfrm xmlns:a="http://schemas.openxmlformats.org/drawingml/2006/main">
            <a:off x="8572500" y="3095625"/>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59616B"/>
                </a:solidFill>
                <a:latin typeface="Arial"/>
                <a:ea typeface="Arial"/>
                <a:cs typeface="Arial"/>
              </a:defRPr>
            </a:pPr>
            <a:r>
              <a:rPr sz="1650" b="1">
                <a:solidFill>
                  <a:srgbClr val="59616B"/>
                </a:solidFill>
                <a:latin typeface="Arial"/>
                <a:ea typeface="Arial"/>
                <a:cs typeface="Arial"/>
              </a:rPr>
              <a:t>Most common error</a:t>
            </a:r>
          </a:p>
        </p:txBody>
      </p:sp>
      <p:sp>
        <p:nvSpPr>
          <p:cNvPr id="10" name="">
            <a:extLst xmlns:a="http://schemas.openxmlformats.org/drawingml/2006/main">
              <a:ext uri="{FF2B5EF4-FFF2-40B4-BE49-F238E27FC236}">
                <a16:creationId xmlns:a16="http://schemas.microsoft.com/office/drawing/2014/main" id="{F781EA84-9F9D-4266-981C-0E4B5D0E678D}"/>
              </a:ext>
            </a:extLst>
          </p:cNvPr>
          <p:cNvSpPr>
            <a:spLocks xmlns:a="http://schemas.openxmlformats.org/drawingml/2006/main" noGrp="1"/>
          </p:cNvSpPr>
          <p:nvPr/>
        </p:nvSpPr>
        <p:spPr>
          <a:xfrm xmlns:a="http://schemas.openxmlformats.org/drawingml/2006/main">
            <a:off x="8572500" y="3476625"/>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silence -&gt; up  (17 clips)</a:t>
            </a:r>
          </a:p>
        </p:txBody>
      </p:sp>
      <p:sp>
        <p:nvSpPr>
          <p:cNvPr id="11" name="">
            <a:extLst xmlns:a="http://schemas.openxmlformats.org/drawingml/2006/main">
              <a:ext uri="{FF2B5EF4-FFF2-40B4-BE49-F238E27FC236}">
                <a16:creationId xmlns:a16="http://schemas.microsoft.com/office/drawing/2014/main" id="{5E2D7775-34C7-45FF-85D6-D4AC7BCF1C35}"/>
              </a:ext>
            </a:extLst>
          </p:cNvPr>
          <p:cNvSpPr>
            <a:spLocks xmlns:a="http://schemas.openxmlformats.org/drawingml/2006/main" noGrp="1"/>
          </p:cNvSpPr>
          <p:nvPr/>
        </p:nvSpPr>
        <p:spPr>
          <a:xfrm xmlns:a="http://schemas.openxmlformats.org/drawingml/2006/main">
            <a:off x="8572500" y="428625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59616B"/>
                </a:solidFill>
                <a:latin typeface="Arial"/>
                <a:ea typeface="Arial"/>
                <a:cs typeface="Arial"/>
              </a:defRPr>
            </a:pPr>
            <a:r>
              <a:rPr sz="1650" b="1">
                <a:solidFill>
                  <a:srgbClr val="59616B"/>
                </a:solidFill>
                <a:latin typeface="Arial"/>
                <a:ea typeface="Arial"/>
                <a:cs typeface="Arial"/>
              </a:rPr>
              <a:t>6 confident errors</a:t>
            </a:r>
          </a:p>
        </p:txBody>
      </p:sp>
      <p:sp>
        <p:nvSpPr>
          <p:cNvPr id="12" name="">
            <a:extLst xmlns:a="http://schemas.openxmlformats.org/drawingml/2006/main">
              <a:ext uri="{FF2B5EF4-FFF2-40B4-BE49-F238E27FC236}">
                <a16:creationId xmlns:a16="http://schemas.microsoft.com/office/drawing/2014/main" id="{2479BE41-FD32-481E-9131-51F5A2149066}"/>
              </a:ext>
            </a:extLst>
          </p:cNvPr>
          <p:cNvSpPr>
            <a:spLocks xmlns:a="http://schemas.openxmlformats.org/drawingml/2006/main" noGrp="1"/>
          </p:cNvSpPr>
          <p:nvPr/>
        </p:nvSpPr>
        <p:spPr>
          <a:xfrm xmlns:a="http://schemas.openxmlformats.org/drawingml/2006/main">
            <a:off x="8572500" y="46672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23B3B"/>
                </a:solidFill>
                <a:latin typeface="Arial"/>
                <a:ea typeface="Arial"/>
                <a:cs typeface="Arial"/>
              </a:defRPr>
            </a:pPr>
            <a:r>
              <a:rPr sz="2025" b="1">
                <a:solidFill>
                  <a:srgbClr val="C23B3B"/>
                </a:solidFill>
                <a:latin typeface="Arial"/>
                <a:ea typeface="Arial"/>
                <a:cs typeface="Arial"/>
              </a:rPr>
              <a:t>all confidence &gt;= 0.998</a:t>
            </a:r>
          </a:p>
        </p:txBody>
      </p:sp>
    </p:spTree>
    <p:extLst>
      <p:ext uri="{BB962C8B-B14F-4D97-AF65-F5344CB8AC3E}">
        <p14:creationId xmlns:p14="http://schemas.microsoft.com/office/powerpoint/2010/main" val="184703202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74A1E69-C6A4-404C-8155-07D5F9C570C3}"/>
              </a:ext>
            </a:extLst>
          </p:cNvPr>
          <p:cNvSpPr>
            <a:spLocks xmlns:a="http://schemas.openxmlformats.org/drawingml/2006/main" noGrp="1"/>
          </p:cNvSpPr>
          <p:nvPr/>
        </p:nvSpPr>
        <p:spPr>
          <a:xfrm xmlns:a="http://schemas.openxmlformats.org/drawingml/2006/main">
            <a:off x="457200" y="3333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9616B"/>
                </a:solidFill>
                <a:latin typeface="Arial"/>
                <a:ea typeface="Arial"/>
                <a:cs typeface="Arial"/>
              </a:defRPr>
            </a:pPr>
            <a:r>
              <a:rPr sz="1350" b="1">
                <a:solidFill>
                  <a:srgbClr val="59616B"/>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95B92577-FBFA-4FE9-9436-47BC1D6C6E22}"/>
              </a:ext>
            </a:extLst>
          </p:cNvPr>
          <p:cNvSpPr>
            <a:spLocks xmlns:a="http://schemas.openxmlformats.org/drawingml/2006/main" noGrp="1"/>
          </p:cNvSpPr>
          <p:nvPr/>
        </p:nvSpPr>
        <p:spPr>
          <a:xfrm xmlns:a="http://schemas.openxmlformats.org/drawingml/2006/main">
            <a:off x="457200" y="857250"/>
            <a:ext cx="1066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000000"/>
                </a:solidFill>
                <a:latin typeface="Arial"/>
                <a:ea typeface="Arial"/>
                <a:cs typeface="Arial"/>
              </a:defRPr>
            </a:pPr>
            <a:r>
              <a:rPr sz="4050" b="1">
                <a:solidFill>
                  <a:srgbClr val="000000"/>
                </a:solidFill>
                <a:latin typeface="Arial"/>
                <a:ea typeface="Arial"/>
                <a:cs typeface="Arial"/>
              </a:rPr>
              <a:t>Protocol matters as much as architecture</a:t>
            </a:r>
          </a:p>
        </p:txBody>
      </p:sp>
      <p:sp>
        <p:nvSpPr>
          <p:cNvPr id="3" name="">
            <a:extLst xmlns:a="http://schemas.openxmlformats.org/drawingml/2006/main">
              <a:ext uri="{FF2B5EF4-FFF2-40B4-BE49-F238E27FC236}">
                <a16:creationId xmlns:a16="http://schemas.microsoft.com/office/drawing/2014/main" id="{6B429AED-5CCB-4E02-9A36-1BA619711768}"/>
              </a:ext>
            </a:extLst>
          </p:cNvPr>
          <p:cNvSpPr>
            <a:spLocks xmlns:a="http://schemas.openxmlformats.org/drawingml/2006/main" noGrp="1"/>
          </p:cNvSpPr>
          <p:nvPr/>
        </p:nvSpPr>
        <p:spPr>
          <a:xfrm xmlns:a="http://schemas.openxmlformats.org/drawingml/2006/main">
            <a:off x="457200" y="2190750"/>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3D8DFF"/>
                </a:solidFill>
                <a:latin typeface="Arial"/>
                <a:ea typeface="Arial"/>
                <a:cs typeface="Arial"/>
              </a:defRPr>
            </a:pPr>
            <a:r>
              <a:rPr sz="1800" b="1">
                <a:solidFill>
                  <a:srgbClr val="3D8DFF"/>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8F27DF9F-7AAE-4067-922A-C19488711779}"/>
              </a:ext>
            </a:extLst>
          </p:cNvPr>
          <p:cNvSpPr>
            <a:spLocks xmlns:a="http://schemas.openxmlformats.org/drawingml/2006/main" noGrp="1"/>
          </p:cNvSpPr>
          <p:nvPr/>
        </p:nvSpPr>
        <p:spPr>
          <a:xfrm xmlns:a="http://schemas.openxmlformats.org/drawingml/2006/main">
            <a:off x="1381125" y="2171700"/>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Structure</a:t>
            </a:r>
          </a:p>
        </p:txBody>
      </p:sp>
      <p:sp>
        <p:nvSpPr>
          <p:cNvPr id="5" name="">
            <a:extLst xmlns:a="http://schemas.openxmlformats.org/drawingml/2006/main">
              <a:ext uri="{FF2B5EF4-FFF2-40B4-BE49-F238E27FC236}">
                <a16:creationId xmlns:a16="http://schemas.microsoft.com/office/drawing/2014/main" id="{0F52652F-06C5-473D-A872-DC9EB56FE331}"/>
              </a:ext>
            </a:extLst>
          </p:cNvPr>
          <p:cNvSpPr>
            <a:spLocks xmlns:a="http://schemas.openxmlformats.org/drawingml/2006/main" noGrp="1"/>
          </p:cNvSpPr>
          <p:nvPr/>
        </p:nvSpPr>
        <p:spPr>
          <a:xfrm xmlns:a="http://schemas.openxmlformats.org/drawingml/2006/main">
            <a:off x="3619500" y="2190750"/>
            <a:ext cx="7620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Log-Mel convolution plus temporal recurrence reached 0.9315 test macro-F1.</a:t>
            </a:r>
          </a:p>
        </p:txBody>
      </p:sp>
      <p:sp>
        <p:nvSpPr>
          <p:cNvPr id="6" name="">
            <a:extLst xmlns:a="http://schemas.openxmlformats.org/drawingml/2006/main">
              <a:ext uri="{FF2B5EF4-FFF2-40B4-BE49-F238E27FC236}">
                <a16:creationId xmlns:a16="http://schemas.microsoft.com/office/drawing/2014/main" id="{06050FD9-598D-4209-8EE7-2A5EDC8D739C}"/>
              </a:ext>
            </a:extLst>
          </p:cNvPr>
          <p:cNvSpPr>
            <a:spLocks xmlns:a="http://schemas.openxmlformats.org/drawingml/2006/main" noGrp="1"/>
          </p:cNvSpPr>
          <p:nvPr/>
        </p:nvSpPr>
        <p:spPr>
          <a:xfrm xmlns:a="http://schemas.openxmlformats.org/drawingml/2006/main">
            <a:off x="457200" y="2952750"/>
            <a:ext cx="1076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E79BD166-4C70-45E8-BD9F-92D13CAE8F45}"/>
              </a:ext>
            </a:extLst>
          </p:cNvPr>
          <p:cNvSpPr>
            <a:spLocks xmlns:a="http://schemas.openxmlformats.org/drawingml/2006/main" noGrp="1"/>
          </p:cNvSpPr>
          <p:nvPr/>
        </p:nvSpPr>
        <p:spPr>
          <a:xfrm xmlns:a="http://schemas.openxmlformats.org/drawingml/2006/main">
            <a:off x="457200" y="3381375"/>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3D8DFF"/>
                </a:solidFill>
                <a:latin typeface="Arial"/>
                <a:ea typeface="Arial"/>
                <a:cs typeface="Arial"/>
              </a:defRPr>
            </a:pPr>
            <a:r>
              <a:rPr sz="1800" b="1">
                <a:solidFill>
                  <a:srgbClr val="3D8DFF"/>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8ED4C2B7-2B91-445E-BE92-3DABCA2DC789}"/>
              </a:ext>
            </a:extLst>
          </p:cNvPr>
          <p:cNvSpPr>
            <a:spLocks xmlns:a="http://schemas.openxmlformats.org/drawingml/2006/main" noGrp="1"/>
          </p:cNvSpPr>
          <p:nvPr/>
        </p:nvSpPr>
        <p:spPr>
          <a:xfrm xmlns:a="http://schemas.openxmlformats.org/drawingml/2006/main">
            <a:off x="1381125" y="336232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Trade-offs</a:t>
            </a:r>
          </a:p>
        </p:txBody>
      </p:sp>
      <p:sp>
        <p:nvSpPr>
          <p:cNvPr id="9" name="">
            <a:extLst xmlns:a="http://schemas.openxmlformats.org/drawingml/2006/main">
              <a:ext uri="{FF2B5EF4-FFF2-40B4-BE49-F238E27FC236}">
                <a16:creationId xmlns:a16="http://schemas.microsoft.com/office/drawing/2014/main" id="{9ACB62D3-9596-44F4-888D-8FDB3D9DFB80}"/>
              </a:ext>
            </a:extLst>
          </p:cNvPr>
          <p:cNvSpPr>
            <a:spLocks xmlns:a="http://schemas.openxmlformats.org/drawingml/2006/main" noGrp="1"/>
          </p:cNvSpPr>
          <p:nvPr/>
        </p:nvSpPr>
        <p:spPr>
          <a:xfrm xmlns:a="http://schemas.openxmlformats.org/drawingml/2006/main">
            <a:off x="3619500" y="3381375"/>
            <a:ext cx="7620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A 46.9k-parameter DS-CNN remains compelling when footprint matters.</a:t>
            </a:r>
          </a:p>
        </p:txBody>
      </p:sp>
      <p:sp>
        <p:nvSpPr>
          <p:cNvPr id="10" name="">
            <a:extLst xmlns:a="http://schemas.openxmlformats.org/drawingml/2006/main">
              <a:ext uri="{FF2B5EF4-FFF2-40B4-BE49-F238E27FC236}">
                <a16:creationId xmlns:a16="http://schemas.microsoft.com/office/drawing/2014/main" id="{632B3EE6-01A2-47D1-926C-F6BBA4E1F79A}"/>
              </a:ext>
            </a:extLst>
          </p:cNvPr>
          <p:cNvSpPr>
            <a:spLocks xmlns:a="http://schemas.openxmlformats.org/drawingml/2006/main" noGrp="1"/>
          </p:cNvSpPr>
          <p:nvPr/>
        </p:nvSpPr>
        <p:spPr>
          <a:xfrm xmlns:a="http://schemas.openxmlformats.org/drawingml/2006/main">
            <a:off x="457200" y="4143375"/>
            <a:ext cx="1076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01B8CA24-A94A-460D-849B-747736C100A9}"/>
              </a:ext>
            </a:extLst>
          </p:cNvPr>
          <p:cNvSpPr>
            <a:spLocks xmlns:a="http://schemas.openxmlformats.org/drawingml/2006/main" noGrp="1"/>
          </p:cNvSpPr>
          <p:nvPr/>
        </p:nvSpPr>
        <p:spPr>
          <a:xfrm xmlns:a="http://schemas.openxmlformats.org/drawingml/2006/main">
            <a:off x="457200" y="4572000"/>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3D8DFF"/>
                </a:solidFill>
                <a:latin typeface="Arial"/>
                <a:ea typeface="Arial"/>
                <a:cs typeface="Arial"/>
              </a:defRPr>
            </a:pPr>
            <a:r>
              <a:rPr sz="1800" b="1">
                <a:solidFill>
                  <a:srgbClr val="3D8DFF"/>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0104232C-101C-400B-920B-16B6D8E4E4F8}"/>
              </a:ext>
            </a:extLst>
          </p:cNvPr>
          <p:cNvSpPr>
            <a:spLocks xmlns:a="http://schemas.openxmlformats.org/drawingml/2006/main" noGrp="1"/>
          </p:cNvSpPr>
          <p:nvPr/>
        </p:nvSpPr>
        <p:spPr>
          <a:xfrm xmlns:a="http://schemas.openxmlformats.org/drawingml/2006/main">
            <a:off x="1381125" y="4552950"/>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Honest limits</a:t>
            </a:r>
          </a:p>
        </p:txBody>
      </p:sp>
      <p:sp>
        <p:nvSpPr>
          <p:cNvPr id="13" name="">
            <a:extLst xmlns:a="http://schemas.openxmlformats.org/drawingml/2006/main">
              <a:ext uri="{FF2B5EF4-FFF2-40B4-BE49-F238E27FC236}">
                <a16:creationId xmlns:a16="http://schemas.microsoft.com/office/drawing/2014/main" id="{CE613110-FB2B-4C76-ACD2-00BC5B84FCB7}"/>
              </a:ext>
            </a:extLst>
          </p:cNvPr>
          <p:cNvSpPr>
            <a:spLocks xmlns:a="http://schemas.openxmlformats.org/drawingml/2006/main" noGrp="1"/>
          </p:cNvSpPr>
          <p:nvPr/>
        </p:nvSpPr>
        <p:spPr>
          <a:xfrm xmlns:a="http://schemas.openxmlformats.org/drawingml/2006/main">
            <a:off x="3619500" y="4572000"/>
            <a:ext cx="7620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9616B"/>
                </a:solidFill>
                <a:latin typeface="Arial"/>
                <a:ea typeface="Arial"/>
                <a:cs typeface="Arial"/>
              </a:defRPr>
            </a:pPr>
            <a:r>
              <a:rPr sz="1725" b="0">
                <a:solidFill>
                  <a:srgbClr val="59616B"/>
                </a:solidFill>
                <a:latin typeface="Arial"/>
                <a:ea typeface="Arial"/>
                <a:cs typeface="Arial"/>
              </a:rPr>
              <a:t>Noise, unknown speech, and rare overconfidence remain the deployment risks.</a:t>
            </a:r>
          </a:p>
        </p:txBody>
      </p:sp>
      <p:sp>
        <p:nvSpPr>
          <p:cNvPr id="14" name="">
            <a:extLst xmlns:a="http://schemas.openxmlformats.org/drawingml/2006/main">
              <a:ext uri="{FF2B5EF4-FFF2-40B4-BE49-F238E27FC236}">
                <a16:creationId xmlns:a16="http://schemas.microsoft.com/office/drawing/2014/main" id="{8C828840-247A-45A7-A06F-2235DE218B58}"/>
              </a:ext>
            </a:extLst>
          </p:cNvPr>
          <p:cNvSpPr>
            <a:spLocks xmlns:a="http://schemas.openxmlformats.org/drawingml/2006/main" noGrp="1"/>
          </p:cNvSpPr>
          <p:nvPr/>
        </p:nvSpPr>
        <p:spPr>
          <a:xfrm xmlns:a="http://schemas.openxmlformats.org/drawingml/2006/main">
            <a:off x="457200" y="5810250"/>
            <a:ext cx="10763250" cy="552450"/>
          </a:xfrm>
          <a:prstGeom xmlns:a="http://schemas.openxmlformats.org/drawingml/2006/main" prst="rect">
            <a:avLst/>
          </a:prstGeom>
          <a:solidFill xmlns:a="http://schemas.openxmlformats.org/drawingml/2006/main">
            <a:srgbClr val="D0EDFA"/>
          </a:solidFill>
          <a:ln xmlns:a="http://schemas.openxmlformats.org/drawingml/2006/main" w="9525">
            <a:solidFill>
              <a:srgbClr val="3D8DFF"/>
            </a:solidFill>
            <a:prstDash val="solid"/>
          </a:ln>
        </p:spPr>
      </p:sp>
      <p:sp>
        <p:nvSpPr>
          <p:cNvPr id="15" name="">
            <a:extLst xmlns:a="http://schemas.openxmlformats.org/drawingml/2006/main">
              <a:ext uri="{FF2B5EF4-FFF2-40B4-BE49-F238E27FC236}">
                <a16:creationId xmlns:a16="http://schemas.microsoft.com/office/drawing/2014/main" id="{29108A4E-40E4-42E1-B038-82592295E370}"/>
              </a:ext>
            </a:extLst>
          </p:cNvPr>
          <p:cNvSpPr>
            <a:spLocks xmlns:a="http://schemas.openxmlformats.org/drawingml/2006/main" noGrp="1"/>
          </p:cNvSpPr>
          <p:nvPr/>
        </p:nvSpPr>
        <p:spPr>
          <a:xfrm xmlns:a="http://schemas.openxmlformats.org/drawingml/2006/main">
            <a:off x="685800" y="5953125"/>
            <a:ext cx="1028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1">
                <a:solidFill>
                  <a:srgbClr val="000000"/>
                </a:solidFill>
                <a:latin typeface="Arial"/>
                <a:ea typeface="Arial"/>
                <a:cs typeface="Arial"/>
              </a:defRPr>
            </a:pPr>
            <a:r>
              <a:rPr sz="1650" b="1">
                <a:solidFill>
                  <a:srgbClr val="000000"/>
                </a:solidFill>
                <a:latin typeface="Arial"/>
                <a:ea typeface="Arial"/>
                <a:cs typeface="Arial"/>
              </a:rPr>
              <a:t>Reproducible: manifest, five runs, frozen weights, bootstrap, WAV gallery, CLI demo.</a:t>
            </a:r>
          </a:p>
        </p:txBody>
      </p:sp>
      <p:sp>
        <p:nvSpPr>
          <p:cNvPr id="16" name="">
            <a:extLst xmlns:a="http://schemas.openxmlformats.org/drawingml/2006/main">
              <a:ext uri="{FF2B5EF4-FFF2-40B4-BE49-F238E27FC236}">
                <a16:creationId xmlns:a16="http://schemas.microsoft.com/office/drawing/2014/main" id="{311FD109-C85B-41D6-BC27-9AFAB33FF50E}"/>
              </a:ext>
            </a:extLst>
          </p:cNvPr>
          <p:cNvSpPr>
            <a:spLocks xmlns:a="http://schemas.openxmlformats.org/drawingml/2006/main" noGrp="1"/>
          </p:cNvSpPr>
          <p:nvPr/>
        </p:nvSpPr>
        <p:spPr>
          <a:xfrm xmlns:a="http://schemas.openxmlformats.org/drawingml/2006/main">
            <a:off x="1123950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9616B"/>
                </a:solidFill>
                <a:latin typeface="Arial"/>
                <a:ea typeface="Arial"/>
                <a:cs typeface="Arial"/>
              </a:defRPr>
            </a:pPr>
            <a:r>
              <a:rPr sz="1050" b="0">
                <a:solidFill>
                  <a:srgbClr val="59616B"/>
                </a:solidFill>
                <a:latin typeface="Arial"/>
                <a:ea typeface="Arial"/>
                <a:cs typeface="Arial"/>
              </a:rPr>
              <a:t>15</a:t>
            </a:r>
          </a:p>
        </p:txBody>
      </p:sp>
    </p:spTree>
    <p:extLst>
      <p:ext uri="{BB962C8B-B14F-4D97-AF65-F5344CB8AC3E}">
        <p14:creationId xmlns:p14="http://schemas.microsoft.com/office/powerpoint/2010/main" val="12829084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2026-08-27T14:30:22.5930000Z</dcterms:created>
  <dcterms:modified xsi:type="dcterms:W3CDTF">2026-08-27T14:30:22.5930000Z</dcterms:modified>
</coreProperties>
</file>