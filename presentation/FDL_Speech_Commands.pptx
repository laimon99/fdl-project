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3.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a9b7f2277cb4ebf" /><Relationship Type="http://schemas.openxmlformats.org/officeDocument/2006/relationships/extended-properties" Target="/docProps/app.xml" Id="Rc90b01a980034bc5" /><Relationship Type="http://schemas.openxmlformats.org/officeDocument/2006/relationships/officeDocument" Target="/ppt/presentation.xml" Id="Rd3a5dceb45db46e4" /></Relationships>
</file>

<file path=ppt/presentation.xml><?xml version="1.0" encoding="utf-8"?>
<p:presentation xmlns:p="http://schemas.openxmlformats.org/presentationml/2006/main">
  <p:sldMasterIdLst>
    <p:sldMasterId xmlns:r="http://schemas.openxmlformats.org/officeDocument/2006/relationships" id="2147483648" r:id="Rf9dbd2527ad54ece"/>
  </p:sldMasterIdLst>
  <p:notesMasterIdLst>
    <p:notesMasterId xmlns:r="http://schemas.openxmlformats.org/officeDocument/2006/relationships" r:id="Rac69c6c2667c4be3"/>
  </p:notesMasterIdLst>
  <p:sldIdLst>
    <p:sldId xmlns:r="http://schemas.openxmlformats.org/officeDocument/2006/relationships" id="256" r:id="R825a6cdb76ab4846"/>
    <p:sldId xmlns:r="http://schemas.openxmlformats.org/officeDocument/2006/relationships" id="257" r:id="Rf45a10811f874780"/>
    <p:sldId xmlns:r="http://schemas.openxmlformats.org/officeDocument/2006/relationships" id="258" r:id="R28ef78df8e454623"/>
    <p:sldId xmlns:r="http://schemas.openxmlformats.org/officeDocument/2006/relationships" id="259" r:id="R030f16bf41e54e65"/>
    <p:sldId xmlns:r="http://schemas.openxmlformats.org/officeDocument/2006/relationships" id="260" r:id="R78b4339c4d1547e7"/>
    <p:sldId xmlns:r="http://schemas.openxmlformats.org/officeDocument/2006/relationships" id="261" r:id="R2bc1c0177947481a"/>
    <p:sldId xmlns:r="http://schemas.openxmlformats.org/officeDocument/2006/relationships" id="262" r:id="Rdba2826eaf124d7f"/>
    <p:sldId xmlns:r="http://schemas.openxmlformats.org/officeDocument/2006/relationships" id="263" r:id="R2a93b38393174d5d"/>
    <p:sldId xmlns:r="http://schemas.openxmlformats.org/officeDocument/2006/relationships" id="264" r:id="R81664e67ff1d4743"/>
    <p:sldId xmlns:r="http://schemas.openxmlformats.org/officeDocument/2006/relationships" id="265" r:id="R87e3af6094d64bc2"/>
    <p:sldId xmlns:r="http://schemas.openxmlformats.org/officeDocument/2006/relationships" id="266" r:id="Rbc85ce5de46b4422"/>
    <p:sldId xmlns:r="http://schemas.openxmlformats.org/officeDocument/2006/relationships" id="267" r:id="R5355ea6132744ffa"/>
    <p:sldId xmlns:r="http://schemas.openxmlformats.org/officeDocument/2006/relationships" id="268" r:id="R66bc6a632f664024"/>
    <p:sldId xmlns:r="http://schemas.openxmlformats.org/officeDocument/2006/relationships" id="269" r:id="Rf5a6510073064ad8"/>
    <p:sldId xmlns:r="http://schemas.openxmlformats.org/officeDocument/2006/relationships" id="270" r:id="Rb395555bc20c47d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c0e93b30fde409e" /><Relationship Type="http://schemas.openxmlformats.org/officeDocument/2006/relationships/slideMaster" Target="/ppt/slideMasters/slideMaster1.xml" Id="Rf9dbd2527ad54ece" /><Relationship Type="http://schemas.openxmlformats.org/officeDocument/2006/relationships/notesMaster" Target="/ppt/notesMasters/notesMaster1.xml" Id="Rac69c6c2667c4be3" /><Relationship Type="http://schemas.openxmlformats.org/officeDocument/2006/relationships/presProps" Target="/ppt/presProps.xml" Id="Rb8426d2e20a448ca" /><Relationship Type="http://schemas.openxmlformats.org/officeDocument/2006/relationships/tableStyles" Target="/ppt/tableStyles.xml" Id="Re5e40a2d49554894" /><Relationship Type="http://schemas.openxmlformats.org/officeDocument/2006/relationships/slide" Target="/ppt/slides/slide1.xml" Id="R825a6cdb76ab4846" /><Relationship Type="http://schemas.openxmlformats.org/officeDocument/2006/relationships/slide" Target="/ppt/slides/slide2.xml" Id="Rf45a10811f874780" /><Relationship Type="http://schemas.openxmlformats.org/officeDocument/2006/relationships/slide" Target="/ppt/slides/slide3.xml" Id="R28ef78df8e454623" /><Relationship Type="http://schemas.openxmlformats.org/officeDocument/2006/relationships/slide" Target="/ppt/slides/slide4.xml" Id="R030f16bf41e54e65" /><Relationship Type="http://schemas.openxmlformats.org/officeDocument/2006/relationships/slide" Target="/ppt/slides/slide5.xml" Id="R78b4339c4d1547e7" /><Relationship Type="http://schemas.openxmlformats.org/officeDocument/2006/relationships/slide" Target="/ppt/slides/slide6.xml" Id="R2bc1c0177947481a" /><Relationship Type="http://schemas.openxmlformats.org/officeDocument/2006/relationships/slide" Target="/ppt/slides/slide7.xml" Id="Rdba2826eaf124d7f" /><Relationship Type="http://schemas.openxmlformats.org/officeDocument/2006/relationships/slide" Target="/ppt/slides/slide8.xml" Id="R2a93b38393174d5d" /><Relationship Type="http://schemas.openxmlformats.org/officeDocument/2006/relationships/slide" Target="/ppt/slides/slide9.xml" Id="R81664e67ff1d4743" /><Relationship Type="http://schemas.openxmlformats.org/officeDocument/2006/relationships/slide" Target="/ppt/slides/slide10.xml" Id="R87e3af6094d64bc2" /><Relationship Type="http://schemas.openxmlformats.org/officeDocument/2006/relationships/slide" Target="/ppt/slides/slide11.xml" Id="Rbc85ce5de46b4422" /><Relationship Type="http://schemas.openxmlformats.org/officeDocument/2006/relationships/slide" Target="/ppt/slides/slide12.xml" Id="R5355ea6132744ffa" /><Relationship Type="http://schemas.openxmlformats.org/officeDocument/2006/relationships/slide" Target="/ppt/slides/slide13.xml" Id="R66bc6a632f664024" /><Relationship Type="http://schemas.openxmlformats.org/officeDocument/2006/relationships/slide" Target="/ppt/slides/slide14.xml" Id="Rf5a6510073064ad8" /><Relationship Type="http://schemas.openxmlformats.org/officeDocument/2006/relationships/slide" Target="/ppt/slides/slide15.xml" Id="Rb395555bc20c47d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87b7cf37e3c429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3a3f3034c274d88" /><Relationship Type="http://schemas.openxmlformats.org/officeDocument/2006/relationships/notesMaster" Target="/ppt/notesMasters/notesMaster1.xml" Id="R734eda45986e4af1" /></Relationships>
</file>

<file path=ppt/notesSlides/_rels/notesSlide2.xml.rels>&#65279;<?xml version="1.0" encoding="utf-8"?><Relationships xmlns="http://schemas.openxmlformats.org/package/2006/relationships"><Relationship Type="http://schemas.openxmlformats.org/officeDocument/2006/relationships/slide" Target="/ppt/slides/slide2.xml" Id="Rc1d8dcacea0847bc" /><Relationship Type="http://schemas.openxmlformats.org/officeDocument/2006/relationships/notesMaster" Target="/ppt/notesMasters/notesMaster1.xml" Id="R15e0fb9250c246b9" /></Relationships>
</file>

<file path=ppt/notesSlides/_rels/notesSlide3.xml.rels>&#65279;<?xml version="1.0" encoding="utf-8"?><Relationships xmlns="http://schemas.openxmlformats.org/package/2006/relationships"><Relationship Type="http://schemas.openxmlformats.org/officeDocument/2006/relationships/slide" Target="/ppt/slides/slide3.xml" Id="R858582ef8b004be2" /><Relationship Type="http://schemas.openxmlformats.org/officeDocument/2006/relationships/notesMaster" Target="/ppt/notesMasters/notesMaster1.xml" Id="Re0fb2ecfd03d4f4e" /></Relationships>
</file>

<file path=ppt/notesSlides/_rels/notesSlide4.xml.rels>&#65279;<?xml version="1.0" encoding="utf-8"?><Relationships xmlns="http://schemas.openxmlformats.org/package/2006/relationships"><Relationship Type="http://schemas.openxmlformats.org/officeDocument/2006/relationships/slide" Target="/ppt/slides/slide4.xml" Id="R4d5c81cafccb4042" /><Relationship Type="http://schemas.openxmlformats.org/officeDocument/2006/relationships/notesMaster" Target="/ppt/notesMasters/notesMaster1.xml" Id="R5f4ef6f77beb4842" /></Relationships>
</file>

<file path=ppt/notesSlides/_rels/notesSlide5.xml.rels>&#65279;<?xml version="1.0" encoding="utf-8"?><Relationships xmlns="http://schemas.openxmlformats.org/package/2006/relationships"><Relationship Type="http://schemas.openxmlformats.org/officeDocument/2006/relationships/slide" Target="/ppt/slides/slide5.xml" Id="R3d5906943edb414f" /><Relationship Type="http://schemas.openxmlformats.org/officeDocument/2006/relationships/notesMaster" Target="/ppt/notesMasters/notesMaster1.xml" Id="R345d7fa2f05c46e0" /></Relationships>
</file>

<file path=ppt/notesSlides/_rels/notesSlide6.xml.rels>&#65279;<?xml version="1.0" encoding="utf-8"?><Relationships xmlns="http://schemas.openxmlformats.org/package/2006/relationships"><Relationship Type="http://schemas.openxmlformats.org/officeDocument/2006/relationships/slide" Target="/ppt/slides/slide6.xml" Id="R7f64f6da35dd4ffe" /><Relationship Type="http://schemas.openxmlformats.org/officeDocument/2006/relationships/notesMaster" Target="/ppt/notesMasters/notesMaster1.xml" Id="R6dfb12f6a94045cc" /></Relationships>
</file>

<file path=ppt/notesSlides/_rels/notesSlide7.xml.rels>&#65279;<?xml version="1.0" encoding="utf-8"?><Relationships xmlns="http://schemas.openxmlformats.org/package/2006/relationships"><Relationship Type="http://schemas.openxmlformats.org/officeDocument/2006/relationships/slide" Target="/ppt/slides/slide7.xml" Id="R8c45f66634434ef3" /><Relationship Type="http://schemas.openxmlformats.org/officeDocument/2006/relationships/notesMaster" Target="/ppt/notesMasters/notesMaster1.xml" Id="R4ea031695cfe4253" /></Relationships>
</file>

<file path=ppt/notesSlides/_rels/notesSlide8.xml.rels>&#65279;<?xml version="1.0" encoding="utf-8"?><Relationships xmlns="http://schemas.openxmlformats.org/package/2006/relationships"><Relationship Type="http://schemas.openxmlformats.org/officeDocument/2006/relationships/slide" Target="/ppt/slides/slide8.xml" Id="Ra5da819638cd4754" /><Relationship Type="http://schemas.openxmlformats.org/officeDocument/2006/relationships/notesMaster" Target="/ppt/notesMasters/notesMaster1.xml" Id="Rf40b9816caa54109" /></Relationships>
</file>

<file path=ppt/notesSlides/_rels/notesSlide9.xml.rels>&#65279;<?xml version="1.0" encoding="utf-8"?><Relationships xmlns="http://schemas.openxmlformats.org/package/2006/relationships"><Relationship Type="http://schemas.openxmlformats.org/officeDocument/2006/relationships/slide" Target="/ppt/slides/slide9.xml" Id="R43797a24fffe4f9c" /><Relationship Type="http://schemas.openxmlformats.org/officeDocument/2006/relationships/notesMaster" Target="/ppt/notesMasters/notesMaster1.xml" Id="R6619b0091b364b4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675a670df03400d" /><Relationship Type="http://schemas.openxmlformats.org/officeDocument/2006/relationships/notesMaster" Target="/ppt/notesMasters/notesMaster1.xml" Id="R52f1c7000ed4426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e58c03f80724299" /><Relationship Type="http://schemas.openxmlformats.org/officeDocument/2006/relationships/notesMaster" Target="/ppt/notesMasters/notesMaster1.xml" Id="Rac28d112f93b44c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7f3f1988d7e4a19" /><Relationship Type="http://schemas.openxmlformats.org/officeDocument/2006/relationships/notesMaster" Target="/ppt/notesMasters/notesMaster1.xml" Id="R7209a96d8edc429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aaafd2cfccc4190" /><Relationship Type="http://schemas.openxmlformats.org/officeDocument/2006/relationships/notesMaster" Target="/ppt/notesMasters/notesMaster1.xml" Id="R9b635c7c6e54415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50e5de4658d499b" /><Relationship Type="http://schemas.openxmlformats.org/officeDocument/2006/relationships/notesMaster" Target="/ppt/notesMasters/notesMaster1.xml" Id="R31c4f1298c584e1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be643656a8349a3" /><Relationship Type="http://schemas.openxmlformats.org/officeDocument/2006/relationships/notesMaster" Target="/ppt/notesMasters/notesMaster1.xml" Id="R9d91b04ad67e482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built a complete keyword-spotting system from scratch. The central question is not only which model scores highest, but which design decisions survive a strict speaker-independent protocol and controlled audio corruption.</a:t>
            </a:r>
          </a:p>
          <a:p xmlns:a="http://schemas.openxmlformats.org/drawingml/2006/main">
            <a:r>
              <a:t/>
            </a:r>
          </a:p>
          <a:p xmlns:a="http://schemas.openxmlformats.org/drawingml/2006/main">
            <a:r>
              <a:t>[Sources]</a:t>
            </a:r>
          </a:p>
          <a:p xmlns:a="http://schemas.openxmlformats.org/drawingml/2006/main">
            <a:r>
              <a:t>- Warden, Speech Commands: A Dataset for Limited-Vocabulary Speech Recognition, https://arxiv.org/abs/1804.03209</a:t>
            </a:r>
          </a:p>
          <a:p xmlns:a="http://schemas.openxmlformats.org/drawingml/2006/main">
            <a:r>
              <a:t>- Repository evidence: artifacts/figures/eda/class_spectrogram_examples.png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task is 12-way classification. Ten labels are actionable words; unknown catches non-target speech; silence rejects background audio. We intentionally avoid pretrained encoders so that every learned representation above the log-Mel front end is ours.</a:t>
            </a:r>
          </a:p>
          <a:p xmlns:a="http://schemas.openxmlformats.org/drawingml/2006/main">
            <a:r>
              <a:t/>
            </a:r>
          </a:p>
          <a:p xmlns:a="http://schemas.openxmlformats.org/drawingml/2006/main">
            <a:r>
              <a:t>[Sources]</a:t>
            </a:r>
          </a:p>
          <a:p xmlns:a="http://schemas.openxmlformats.org/drawingml/2006/main">
            <a:r>
              <a:t>- Repository protocol: docs/experiment_protocol.md</a:t>
            </a:r>
          </a:p>
          <a:p xmlns:a="http://schemas.openxmlformats.org/drawingml/2006/main">
            <a:r>
              <a:t>- Repository configuration: configs/e05_logmel_crnn_aug.yaml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release contains 30 spoken words, but the professor-defined task uses 12 modeled classes. We preserve all non-target words as candidates for unknown rather than deleting them. The deterministic manifest gives us a balanced problem while remaining reproducible.</a:t>
            </a:r>
          </a:p>
          <a:p xmlns:a="http://schemas.openxmlformats.org/drawingml/2006/main">
            <a:r>
              <a:t/>
            </a:r>
          </a:p>
          <a:p xmlns:a="http://schemas.openxmlformats.org/drawingml/2006/main">
            <a:r>
              <a:t>[Sources]</a:t>
            </a:r>
          </a:p>
          <a:p xmlns:a="http://schemas.openxmlformats.org/drawingml/2006/main">
            <a:r>
              <a:t>- Warden 2018, https://arxiv.org/abs/1804.03209</a:t>
            </a:r>
          </a:p>
          <a:p xmlns:a="http://schemas.openxmlformats.org/drawingml/2006/main">
            <a:r>
              <a:t>- Repository audit: artifacts/tables/eda_summary.json</a:t>
            </a:r>
          </a:p>
          <a:p xmlns:a="http://schemas.openxmlformats.org/drawingml/2006/main">
            <a:r>
              <a:t>- Repository figure: artifacts/figures/eda/modeling_distribution.png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Duration is nearly standardized, so fixed one-second tensors are natural. Energy is not standardized: quiet and loud speakers overlap across target and unknown classes. This motivates gain perturbation and real background mixing rather than assuming a clean recording level.</a:t>
            </a:r>
          </a:p>
          <a:p xmlns:a="http://schemas.openxmlformats.org/drawingml/2006/main">
            <a:r>
              <a:t/>
            </a:r>
          </a:p>
          <a:p xmlns:a="http://schemas.openxmlformats.org/drawingml/2006/main">
            <a:r>
              <a:t>[Sources]</a:t>
            </a:r>
          </a:p>
          <a:p xmlns:a="http://schemas.openxmlformats.org/drawingml/2006/main">
            <a:r>
              <a:t>- Repository figure: artifacts/figures/eda/duration_and_energy.png</a:t>
            </a:r>
          </a:p>
          <a:p xmlns:a="http://schemas.openxmlformats.org/drawingml/2006/main">
            <a:r>
              <a:t>- Repository table: artifacts/tables/eda_energy_sample.csv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Leakage is the biggest silent risk in small audio datasets. We validate that no speaker appears in more than one split. For synthetic silence, the manifest also reserves disjoint temporal regions of each background recording. Any violation aborts preparation.</a:t>
            </a:r>
          </a:p>
          <a:p xmlns:a="http://schemas.openxmlformats.org/drawingml/2006/main">
            <a:r>
              <a:t/>
            </a:r>
          </a:p>
          <a:p xmlns:a="http://schemas.openxmlformats.org/drawingml/2006/main">
            <a:r>
              <a:t>[Sources]</a:t>
            </a:r>
          </a:p>
          <a:p xmlns:a="http://schemas.openxmlformats.org/drawingml/2006/main">
            <a:r>
              <a:t>- Repository manifest checks: src/fdl_speech_commands/data.py</a:t>
            </a:r>
          </a:p>
          <a:p xmlns:a="http://schemas.openxmlformats.org/drawingml/2006/main">
            <a:r>
              <a:t>- Repository tests: tests/test_data_protocol.py</a:t>
            </a:r>
          </a:p>
          <a:p xmlns:a="http://schemas.openxmlformats.org/drawingml/2006/main">
            <a:r>
              <a:t>- Repository counts: artifacts/tables/modeling_split_counts.csv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first standardize duration, then compute a short-time Fourier transform. Forty Mel filters compress frequency on a perceptual scale, and the logarithm stabilizes amplitude. The resulting map stays two-dimensional, so convolution can exploit local patterns; the recurrent layer later integrates time.</a:t>
            </a:r>
          </a:p>
          <a:p xmlns:a="http://schemas.openxmlformats.org/drawingml/2006/main">
            <a:r>
              <a:t/>
            </a:r>
          </a:p>
          <a:p xmlns:a="http://schemas.openxmlformats.org/drawingml/2006/main">
            <a:r>
              <a:t>[Sources]</a:t>
            </a:r>
          </a:p>
          <a:p xmlns:a="http://schemas.openxmlformats.org/drawingml/2006/main">
            <a:r>
              <a:t>- Repository feature implementation: src/fdl_speech_commands/features.py</a:t>
            </a:r>
          </a:p>
          <a:p xmlns:a="http://schemas.openxmlformats.org/drawingml/2006/main">
            <a:r>
              <a:t>- Repository configuration: configs/e05_logmel_crnn_aug.yaml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matrix is deliberately controlled. E01 changes the representation and capacity; E02 introduces convolution; E03 replaces standard convolution with depthwise-separable blocks; E04 changes only augmentation; E05 adds bidirectional temporal modeling. No experiment sees test labels during selection.</a:t>
            </a:r>
          </a:p>
          <a:p xmlns:a="http://schemas.openxmlformats.org/drawingml/2006/main">
            <a:r>
              <a:t/>
            </a:r>
          </a:p>
          <a:p xmlns:a="http://schemas.openxmlformats.org/drawingml/2006/main">
            <a:r>
              <a:t>[Sources]</a:t>
            </a:r>
          </a:p>
          <a:p xmlns:a="http://schemas.openxmlformats.org/drawingml/2006/main">
            <a:r>
              <a:t>- Repository configurations: configs/e01_mfcc_mlp.yaml through configs/e05_logmel_crnn_aug.yaml</a:t>
            </a:r>
          </a:p>
          <a:p xmlns:a="http://schemas.openxmlformats.org/drawingml/2006/main">
            <a:r>
              <a:t>- Repository protocol: docs/experiment_protocol.md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Parameter count is not a reliable proxy for fit. The MLP has the largest count but discards local time-frequency structure. The DS-CNN is six times smaller than the final CRNN yet strong. The CRNN pays a moderate parameter cost to model sequential context explicitly.</a:t>
            </a:r>
          </a:p>
          <a:p xmlns:a="http://schemas.openxmlformats.org/drawingml/2006/main">
            <a:r>
              <a:t/>
            </a:r>
          </a:p>
          <a:p xmlns:a="http://schemas.openxmlformats.org/drawingml/2006/main">
            <a:r>
              <a:t>[Sources]</a:t>
            </a:r>
          </a:p>
          <a:p xmlns:a="http://schemas.openxmlformats.org/drawingml/2006/main">
            <a:r>
              <a:t>- Repository model builders: src/fdl_speech_commands/models.py</a:t>
            </a:r>
          </a:p>
          <a:p xmlns:a="http://schemas.openxmlformats.org/drawingml/2006/main">
            <a:r>
              <a:t>- Repository summaries: artifacts/runs/*/model_summary.txt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five runs use early stopping and the same data protocol. We rank them on validation macro-F1, promote the winner, and only then repeat that configuration on two additional seeds. The final seed-42 model remains frozen; repeats establish stability, not a new search.</a:t>
            </a:r>
          </a:p>
          <a:p xmlns:a="http://schemas.openxmlformats.org/drawingml/2006/main">
            <a:r>
              <a:t/>
            </a:r>
          </a:p>
          <a:p xmlns:a="http://schemas.openxmlformats.org/drawingml/2006/main">
            <a:r>
              <a:t>[Sources]</a:t>
            </a:r>
          </a:p>
          <a:p xmlns:a="http://schemas.openxmlformats.org/drawingml/2006/main">
            <a:r>
              <a:t>- Repository training implementation: src/fdl_speech_commands/training.py</a:t>
            </a:r>
          </a:p>
          <a:p xmlns:a="http://schemas.openxmlformats.org/drawingml/2006/main">
            <a:r>
              <a:t>- Repository seed study: artifacts/tables/seed_stability_validation.csv</a:t>
            </a:r>
          </a:p>
          <a:p xmlns:a="http://schemas.openxmlformats.org/drawingml/2006/main">
            <a:r>
              <a:t>- Repository frozen selection: artifacts/models/selection.json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CRNN reaches 0.9427 validation macro-F1, about one point above the clean DS-CNN. The margin is meaningful but not free: the final model is 6.24 times larger. The ranking also shows that augmentation is not automatically beneficial on the compact architecture.</a:t>
            </a:r>
          </a:p>
          <a:p xmlns:a="http://schemas.openxmlformats.org/drawingml/2006/main">
            <a:r>
              <a:t/>
            </a:r>
          </a:p>
          <a:p xmlns:a="http://schemas.openxmlformats.org/drawingml/2006/main">
            <a:r>
              <a:t>[Sources]</a:t>
            </a:r>
          </a:p>
          <a:p xmlns:a="http://schemas.openxmlformats.org/drawingml/2006/main">
            <a:r>
              <a:t>- Repository leaderboard: artifacts/tables/experiment_leaderboard.csv</a:t>
            </a:r>
          </a:p>
          <a:p xmlns:a="http://schemas.openxmlformats.org/drawingml/2006/main">
            <a:r>
              <a:t>- Repository validation metrics: artifacts/runs/*/validation_metrics.json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our most useful failed expectation. Adding the full waveform and SpecAugment recipe to the DS-CNN lowers clean macro-F1 by 2.74 points. Under an extreme 0 dB stress test, however, the same recipe improves macro-F1 by 52.35 points. The CRNN combines the best clean score with the strongest curve.</a:t>
            </a:r>
          </a:p>
          <a:p xmlns:a="http://schemas.openxmlformats.org/drawingml/2006/main">
            <a:r>
              <a:t/>
            </a:r>
          </a:p>
          <a:p xmlns:a="http://schemas.openxmlformats.org/drawingml/2006/main">
            <a:r>
              <a:t>[Sources]</a:t>
            </a:r>
          </a:p>
          <a:p xmlns:a="http://schemas.openxmlformats.org/drawingml/2006/main">
            <a:r>
              <a:t>- Park et al., SpecAugment, https://arxiv.org/abs/1904.08779</a:t>
            </a:r>
          </a:p>
          <a:p xmlns:a="http://schemas.openxmlformats.org/drawingml/2006/main">
            <a:r>
              <a:t>- Repository ablation: artifacts/tables/robustness_ablation_validation.csv</a:t>
            </a:r>
          </a:p>
          <a:p xmlns:a="http://schemas.openxmlformats.org/drawingml/2006/main">
            <a:r>
              <a:t>- Repository corruption implementation: src/fdl_speech_commands/evaluation.py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freezing the selected model, we evaluated the official test split once. Accuracy is 94.19 percent and macro-F1 is 0.9421. Ten-thousand stratified bootstrap samples give tight uncertainty intervals. The validation-to-test change is only minus 0.06 points.</a:t>
            </a:r>
          </a:p>
          <a:p xmlns:a="http://schemas.openxmlformats.org/drawingml/2006/main">
            <a:r>
              <a:t/>
            </a:r>
          </a:p>
          <a:p xmlns:a="http://schemas.openxmlformats.org/drawingml/2006/main">
            <a:r>
              <a:t>[Sources]</a:t>
            </a:r>
          </a:p>
          <a:p xmlns:a="http://schemas.openxmlformats.org/drawingml/2006/main">
            <a:r>
              <a:t>- Repository test metrics: artifacts/runs/e05_logmel_crnn_aug/evaluation_testing/metrics.json</a:t>
            </a:r>
          </a:p>
          <a:p xmlns:a="http://schemas.openxmlformats.org/drawingml/2006/main">
            <a:r>
              <a:t>- Repository confusion matrix: artifacts/runs/e05_logmel_crnn_aug/evaluation_testing/confusion_matrices.png</a:t>
            </a:r>
          </a:p>
          <a:p xmlns:a="http://schemas.openxmlformats.org/drawingml/2006/main">
            <a:r>
              <a:t>- Bootstrap implementation: src/fdl_speech_commands/evaluation.py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Temporal shifts of plus or minus 100 milliseconds cost at most 0.34 macro-F1 points. Background noise is the harder axis: 0 dB drops the score by 12.75 points. Calibration is good in aggregate, and compiled feature extraction plus inference takes a 3.41 millisecond median on the recorded CPU machine.</a:t>
            </a:r>
          </a:p>
          <a:p xmlns:a="http://schemas.openxmlformats.org/drawingml/2006/main">
            <a:r>
              <a:t/>
            </a:r>
          </a:p>
          <a:p xmlns:a="http://schemas.openxmlformats.org/drawingml/2006/main">
            <a:r>
              <a:t>[Sources]</a:t>
            </a:r>
          </a:p>
          <a:p xmlns:a="http://schemas.openxmlformats.org/drawingml/2006/main">
            <a:r>
              <a:t>- Repository robustness: artifacts/runs/e05_logmel_crnn_aug/evaluation_testing/robustness.csv</a:t>
            </a:r>
          </a:p>
          <a:p xmlns:a="http://schemas.openxmlformats.org/drawingml/2006/main">
            <a:r>
              <a:t>- Repository calibration bins: artifacts/runs/e05_logmel_crnn_aug/evaluation_testing/calibration_bins.csv</a:t>
            </a:r>
          </a:p>
          <a:p xmlns:a="http://schemas.openxmlformats.org/drawingml/2006/main">
            <a:r>
              <a:t>- Repository latency and model size: artifacts/runs/e05_logmel_crnn_aug/evaluation_testing/metrics.json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Quantitative averages hide rare but important failures. Unknown is the weakest class, and down-to-no is the most common directed confusion. All six most confident errors exceed 0.998 confidence, so low ECE does not mean the model is never overconfident. We export every shown clip as a playable WAV for listening during discussion.</a:t>
            </a:r>
          </a:p>
          <a:p xmlns:a="http://schemas.openxmlformats.org/drawingml/2006/main">
            <a:r>
              <a:t/>
            </a:r>
          </a:p>
          <a:p xmlns:a="http://schemas.openxmlformats.org/drawingml/2006/main">
            <a:r>
              <a:t>[Sources]</a:t>
            </a:r>
          </a:p>
          <a:p xmlns:a="http://schemas.openxmlformats.org/drawingml/2006/main">
            <a:r>
              <a:t>- Repository qualitative gallery: artifacts/runs/e05_logmel_crnn_aug/evaluation_testing/qualitative_gallery.png</a:t>
            </a:r>
          </a:p>
          <a:p xmlns:a="http://schemas.openxmlformats.org/drawingml/2006/main">
            <a:r>
              <a:t>- Repository sample index: artifacts/runs/e05_logmel_crnn_aug/evaluation_testing/qualitative_samples.csv</a:t>
            </a:r>
          </a:p>
          <a:p xmlns:a="http://schemas.openxmlformats.org/drawingml/2006/main">
            <a:r>
              <a:t>- Repository playable files: artifacts/runs/e05_logmel_crnn_aug/evaluation_testing/qualitative_audio/</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conclusion has three parts. First, preserving time-frequency structure and modeling temporal context produces the best score. Second, the compact DS-CNN is a valid alternative when footprint dominates. Third, a strong average does not erase noise sensitivity or rare confident errors. The complete repository reproduces every claim and supports a live inference demo.</a:t>
            </a:r>
          </a:p>
          <a:p xmlns:a="http://schemas.openxmlformats.org/drawingml/2006/main">
            <a:r>
              <a:t/>
            </a:r>
          </a:p>
          <a:p xmlns:a="http://schemas.openxmlformats.org/drawingml/2006/main">
            <a:r>
              <a:t>[Sources]</a:t>
            </a:r>
          </a:p>
          <a:p xmlns:a="http://schemas.openxmlformats.org/drawingml/2006/main">
            <a:r>
              <a:t>- Repository final report: docs/final_report.md</a:t>
            </a:r>
          </a:p>
          <a:p xmlns:a="http://schemas.openxmlformats.org/drawingml/2006/main">
            <a:r>
              <a:t>- Repository model card: docs/model_card.md</a:t>
            </a:r>
          </a:p>
          <a:p xmlns:a="http://schemas.openxmlformats.org/drawingml/2006/main">
            <a:r>
              <a:t>- Repository reproducibility guide: docs/reproducibility.md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97bd08696c74e9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bb247c2b9674704" /><Relationship Type="http://schemas.openxmlformats.org/officeDocument/2006/relationships/slideLayout" Target="/ppt/slideLayouts/slideLayout1.xml" Id="R02cf9f47d61f4bf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2cf9f47d61f4bf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f9e2f86491748e4" /><Relationship Type="http://schemas.openxmlformats.org/officeDocument/2006/relationships/image" Target="/ppt/media/image.png" Id="R67b038a164124288" /><Relationship Type="http://schemas.openxmlformats.org/officeDocument/2006/relationships/notesSlide" Target="/ppt/notesSlides/notesSlide1.xml" Id="R804a21d05f4d414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66333333596426d" /><Relationship Type="http://schemas.openxmlformats.org/officeDocument/2006/relationships/notesSlide" Target="/ppt/notesSlides/notesSlide2.xml" Id="Reb3cf5ebd2ad45e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ab33952a1b3462d" /><Relationship Type="http://schemas.openxmlformats.org/officeDocument/2006/relationships/image" Target="/ppt/media/image2.png" Id="Rc2fea50c046946b4" /><Relationship Type="http://schemas.openxmlformats.org/officeDocument/2006/relationships/notesSlide" Target="/ppt/notesSlides/notesSlide3.xml" Id="Rc540c5b4dd0c4c0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92d0a6be58e4dfa" /><Relationship Type="http://schemas.openxmlformats.org/officeDocument/2006/relationships/image" Target="/ppt/media/image3.png" Id="R93f0dc9b68be43d2" /><Relationship Type="http://schemas.openxmlformats.org/officeDocument/2006/relationships/notesSlide" Target="/ppt/notesSlides/notesSlide4.xml" Id="Rb3c1d4cf56fe43b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3e58b88e9234bed" /><Relationship Type="http://schemas.openxmlformats.org/officeDocument/2006/relationships/notesSlide" Target="/ppt/notesSlides/notesSlide5.xml" Id="Rad831b7304ad464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35f28cadfe8462a" /><Relationship Type="http://schemas.openxmlformats.org/officeDocument/2006/relationships/notesSlide" Target="/ppt/notesSlides/notesSlide6.xml" Id="R87ee541d77b544e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28c8e2f653543b2" /><Relationship Type="http://schemas.openxmlformats.org/officeDocument/2006/relationships/notesSlide" Target="/ppt/notesSlides/notesSlide7.xml" Id="R3c8deeb63bdd41b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53fc660289749cd" /><Relationship Type="http://schemas.openxmlformats.org/officeDocument/2006/relationships/notesSlide" Target="/ppt/notesSlides/notesSlide8.xml" Id="R27aea77688ae4b1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91dd180334340cd" /><Relationship Type="http://schemas.openxmlformats.org/officeDocument/2006/relationships/notesSlide" Target="/ppt/notesSlides/notesSlide9.xml" Id="Rf4390defdb904b7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feb49006b344e1b" /><Relationship Type="http://schemas.openxmlformats.org/officeDocument/2006/relationships/chart" Target="/ppt/slides/charts/chart1.xml" Id="R8c2272b1b3354321" /><Relationship Type="http://schemas.openxmlformats.org/officeDocument/2006/relationships/notesSlide" Target="/ppt/notesSlides/notesSlide10.xml" Id="R658b31b1a5a94a5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c0cc3f2d99a48cc" /><Relationship Type="http://schemas.openxmlformats.org/officeDocument/2006/relationships/chart" Target="/ppt/slides/charts/chart2.xml" Id="Ra8fd5ae30a3c4c54" /><Relationship Type="http://schemas.openxmlformats.org/officeDocument/2006/relationships/notesSlide" Target="/ppt/notesSlides/notesSlide11.xml" Id="R1219e363b16c453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461a5c140de4381" /><Relationship Type="http://schemas.openxmlformats.org/officeDocument/2006/relationships/image" Target="/ppt/media/image4.png" Id="R1e694a4707334e38" /><Relationship Type="http://schemas.openxmlformats.org/officeDocument/2006/relationships/notesSlide" Target="/ppt/notesSlides/notesSlide12.xml" Id="R81372f1bb015446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633d6ba43d14ae5" /><Relationship Type="http://schemas.openxmlformats.org/officeDocument/2006/relationships/chart" Target="/ppt/slides/charts/chart3.xml" Id="R831ec2ee9ba24863" /><Relationship Type="http://schemas.openxmlformats.org/officeDocument/2006/relationships/notesSlide" Target="/ppt/notesSlides/notesSlide13.xml" Id="R309f819a28164a4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9f0abc2d9c14597" /><Relationship Type="http://schemas.openxmlformats.org/officeDocument/2006/relationships/image" Target="/ppt/media/image5.png" Id="R133dcdf5d12045f5" /><Relationship Type="http://schemas.openxmlformats.org/officeDocument/2006/relationships/notesSlide" Target="/ppt/notesSlides/notesSlide14.xml" Id="R6121c5a9800c496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3937ff1d7ea4832" /><Relationship Type="http://schemas.openxmlformats.org/officeDocument/2006/relationships/notesSlide" Target="/ppt/notesSlides/notesSlide15.xml" Id="R2edc1b959570427a" /></Relationships>
</file>

<file path=ppt/slides/charts/chart1.xml><?xml version="1.0" encoding="utf-8"?>
<c:chartSpace xmlns:c="http://schemas.openxmlformats.org/drawingml/2006/chart">
  <c:lang val="en-US"/>
  <c:chart>
    <c:plotArea>
      <c:barChart>
        <c:barDir val="bar"/>
        <c:grouping val="clustered"/>
        <c:varyColors val="0"/>
        <c:ser>
          <c:idx val="0"/>
          <c:order val="0"/>
          <c:tx>
            <c:v>Validation macro-F1</c:v>
          </c:tx>
          <c:spPr>
            <a:solidFill xmlns:a="http://schemas.openxmlformats.org/drawingml/2006/main">
              <a:srgbClr val="3D8DFF"/>
            </a:solidFill>
          </c:spPr>
          <c:dPt>
            <c:idx val="0"/>
            <c:invertIfNegative val="0"/>
            <c:spPr>
              <a:solidFill xmlns:a="http://schemas.openxmlformats.org/drawingml/2006/main">
                <a:srgbClr val="B8BCC4"/>
              </a:solidFill>
            </c:spPr>
          </c:dPt>
          <c:dPt>
            <c:idx val="1"/>
            <c:invertIfNegative val="0"/>
            <c:spPr>
              <a:solidFill xmlns:a="http://schemas.openxmlformats.org/drawingml/2006/main">
                <a:srgbClr val="B8BCC4"/>
              </a:solidFill>
            </c:spPr>
          </c:dPt>
          <c:dPt>
            <c:idx val="2"/>
            <c:invertIfNegative val="0"/>
            <c:spPr>
              <a:solidFill xmlns:a="http://schemas.openxmlformats.org/drawingml/2006/main">
                <a:srgbClr val="7B2CBF"/>
              </a:solidFill>
            </c:spPr>
          </c:dPt>
          <c:dPt>
            <c:idx val="3"/>
            <c:invertIfNegative val="0"/>
            <c:spPr>
              <a:solidFill xmlns:a="http://schemas.openxmlformats.org/drawingml/2006/main">
                <a:srgbClr val="7B2CBF"/>
              </a:solidFill>
            </c:spPr>
          </c:dPt>
          <c:dPt>
            <c:idx val="4"/>
            <c:invertIfNegative val="0"/>
            <c:spPr>
              <a:solidFill xmlns:a="http://schemas.openxmlformats.org/drawingml/2006/main">
                <a:srgbClr val="3D8DFF"/>
              </a:solidFill>
            </c:spPr>
          </c:dPt>
          <c:cat>
            <c:strLit>
              <c:ptCount val="5"/>
              <c:pt idx="0">
                <c:v>E01 MFCC MLP</c:v>
              </c:pt>
              <c:pt idx="1">
                <c:v>E02 CNN</c:v>
              </c:pt>
              <c:pt idx="2">
                <c:v>E04 DS-CNN + aug</c:v>
              </c:pt>
              <c:pt idx="3">
                <c:v>E03 DS-CNN</c:v>
              </c:pt>
              <c:pt idx="4">
                <c:v>E05 CRNN + aug</c:v>
              </c:pt>
            </c:strLit>
          </c:cat>
          <c:val>
            <c:numLit>
              <c:formatCode>General</c:formatCode>
              <c:ptCount val="5"/>
              <c:pt idx="0">
                <c:v>0.839</c:v>
              </c:pt>
              <c:pt idx="1">
                <c:v>0.8759</c:v>
              </c:pt>
              <c:pt idx="2">
                <c:v>0.905</c:v>
              </c:pt>
              <c:pt idx="3">
                <c:v>0.9324</c:v>
              </c:pt>
              <c:pt idx="4">
                <c:v>0.9427</c:v>
              </c:pt>
            </c:numLit>
          </c:val>
        </c:ser>
        <c:dLbls>
          <c:showLegendKey val="0"/>
          <c:showVal val="0"/>
          <c:showCatName val="0"/>
          <c:showSerName val="0"/>
          <c:showPercent val="0"/>
          <c:showBubbleSize val="0"/>
          <c:showLeaderLines val="0"/>
        </c:dLbls>
        <c:gapWidth val="46"/>
        <c:axId val="48650112"/>
        <c:axId val="48672768"/>
      </c:barChart>
      <c:catAx>
        <c:axId val="48650112"/>
        <c:scaling>
          <c:orientation val="minMax"/>
        </c:scaling>
        <c:delete val="0"/>
        <c:axPos val="l"/>
        <c:majorGridlines>
          <c:spPr>
            <a:ln xmlns:a="http://schemas.openxmlformats.org/drawingml/2006/main" w="9525">
              <a:solidFill>
                <a:srgbClr val="EDEDED"/>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9616B"/>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defRPr>
            </a:pPr>
          </a:p>
        </c:txPr>
        <c:crossAx val="48650112"/>
        <c:crossBetween val="between"/>
      </c:valAx>
      <c:spPr>
        <a:noFill xmlns:a="http://schemas.openxmlformats.org/drawingml/2006/main"/>
        <a:ln xmlns:a="http://schemas.openxmlformats.org/drawingml/2006/main" w="0">
          <a:solidFill>
            <a:srgbClr val="FFFFFF"/>
          </a:solidFill>
          <a:prstDash val="solid"/>
        </a:l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2.xml><?xml version="1.0" encoding="utf-8"?>
<c:chartSpace xmlns:c="http://schemas.openxmlformats.org/drawingml/2006/chart">
  <c:lang val="en-US"/>
  <c:chart>
    <c:plotArea>
      <c:lineChart>
        <c:grouping val="standard"/>
        <c:ser>
          <c:idx val="0"/>
          <c:order val="0"/>
          <c:tx>
            <c:v>E03 DS-CNN</c:v>
          </c:tx>
          <c:spPr>
            <a:ln xmlns:a="http://schemas.openxmlformats.org/drawingml/2006/main" w="38100">
              <a:solidFill>
                <a:srgbClr val="B8BCC4"/>
              </a:solidFill>
              <a:prstDash val="solid"/>
            </a:ln>
          </c:spPr>
          <c:marker>
            <c:symbol val="circle"/>
            <c:size val="7"/>
            <c:spPr>
              <a:solidFill xmlns:a="http://schemas.openxmlformats.org/drawingml/2006/main">
                <a:srgbClr val="B8BCC4"/>
              </a:solidFill>
            </c:spPr>
          </c:marker>
          <c:cat>
            <c:strLit>
              <c:ptCount val="4"/>
              <c:pt idx="0">
                <c:v>clean</c:v>
              </c:pt>
              <c:pt idx="1">
                <c:v>20 dB</c:v>
              </c:pt>
              <c:pt idx="2">
                <c:v>10 dB</c:v>
              </c:pt>
              <c:pt idx="3">
                <c:v>0 dB</c:v>
              </c:pt>
            </c:strLit>
          </c:cat>
          <c:val>
            <c:numLit>
              <c:formatCode>General</c:formatCode>
              <c:ptCount val="4"/>
              <c:pt idx="0">
                <c:v>0.9324</c:v>
              </c:pt>
              <c:pt idx="1">
                <c:v>0.8642</c:v>
              </c:pt>
              <c:pt idx="2">
                <c:v>0.6754</c:v>
              </c:pt>
              <c:pt idx="3">
                <c:v>0.166</c:v>
              </c:pt>
            </c:numLit>
          </c:val>
        </c:ser>
        <c:ser>
          <c:idx val="1"/>
          <c:order val="1"/>
          <c:tx>
            <c:v>E04 DS-CNN + aug</c:v>
          </c:tx>
          <c:spPr>
            <a:ln xmlns:a="http://schemas.openxmlformats.org/drawingml/2006/main" w="38100">
              <a:solidFill>
                <a:srgbClr val="7B2CBF"/>
              </a:solidFill>
              <a:prstDash val="solid"/>
            </a:ln>
          </c:spPr>
          <c:marker>
            <c:symbol val="circle"/>
            <c:size val="7"/>
            <c:spPr>
              <a:solidFill xmlns:a="http://schemas.openxmlformats.org/drawingml/2006/main">
                <a:srgbClr val="7B2CBF"/>
              </a:solidFill>
            </c:spPr>
          </c:marker>
          <c:cat>
            <c:strLit>
              <c:ptCount val="4"/>
              <c:pt idx="0">
                <c:v>clean</c:v>
              </c:pt>
              <c:pt idx="1">
                <c:v>20 dB</c:v>
              </c:pt>
              <c:pt idx="2">
                <c:v>10 dB</c:v>
              </c:pt>
              <c:pt idx="3">
                <c:v>0 dB</c:v>
              </c:pt>
            </c:strLit>
          </c:cat>
          <c:val>
            <c:numLit>
              <c:formatCode>General</c:formatCode>
              <c:ptCount val="4"/>
              <c:pt idx="0">
                <c:v>0.905</c:v>
              </c:pt>
              <c:pt idx="1">
                <c:v>0.9003</c:v>
              </c:pt>
              <c:pt idx="2">
                <c:v>0.8692</c:v>
              </c:pt>
              <c:pt idx="3">
                <c:v>0.6895</c:v>
              </c:pt>
            </c:numLit>
          </c:val>
        </c:ser>
        <c:ser>
          <c:idx val="2"/>
          <c:order val="2"/>
          <c:tx>
            <c:v>E05 CRNN + aug</c:v>
          </c:tx>
          <c:spPr>
            <a:ln xmlns:a="http://schemas.openxmlformats.org/drawingml/2006/main" w="38100">
              <a:solidFill>
                <a:srgbClr val="3D8DFF"/>
              </a:solidFill>
              <a:prstDash val="solid"/>
            </a:ln>
          </c:spPr>
          <c:marker>
            <c:symbol val="circle"/>
            <c:size val="7"/>
            <c:spPr>
              <a:solidFill xmlns:a="http://schemas.openxmlformats.org/drawingml/2006/main">
                <a:srgbClr val="3D8DFF"/>
              </a:solidFill>
            </c:spPr>
          </c:marker>
          <c:cat>
            <c:strLit>
              <c:ptCount val="4"/>
              <c:pt idx="0">
                <c:v>clean</c:v>
              </c:pt>
              <c:pt idx="1">
                <c:v>20 dB</c:v>
              </c:pt>
              <c:pt idx="2">
                <c:v>10 dB</c:v>
              </c:pt>
              <c:pt idx="3">
                <c:v>0 dB</c:v>
              </c:pt>
            </c:strLit>
          </c:cat>
          <c:val>
            <c:numLit>
              <c:formatCode>General</c:formatCode>
              <c:ptCount val="4"/>
              <c:pt idx="0">
                <c:v>0.9427</c:v>
              </c:pt>
              <c:pt idx="1">
                <c:v>0.9337</c:v>
              </c:pt>
              <c:pt idx="2">
                <c:v>0.9078</c:v>
              </c:pt>
              <c:pt idx="3">
                <c:v>0.7929</c:v>
              </c:pt>
            </c:numLit>
          </c:val>
        </c:ser>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1500">
                <a:solidFill>
                  <a:srgbClr val="000000"/>
                </a:solidFill>
              </a:defRPr>
            </a:pPr>
          </a:p>
        </c:txPr>
        <c:crossAx val="48672768"/>
      </c:catAx>
      <c:valAx>
        <c:axId val="48672768"/>
        <c:scaling>
          <c:orientation val="minMax"/>
          <c:max val="1"/>
          <c:min val="0"/>
        </c:scaling>
        <c:delete val="0"/>
        <c:axPos val="l"/>
        <c:majorGridlines>
          <c:spPr>
            <a:ln xmlns:a="http://schemas.openxmlformats.org/drawingml/2006/main" w="9525">
              <a:solidFill>
                <a:srgbClr val="EDEDED"/>
              </a:solidFill>
              <a:prstDash val="solid"/>
            </a:ln>
          </c:spPr>
        </c:majorGridlines>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9616B"/>
                </a:solidFill>
              </a:defRPr>
            </a:pPr>
          </a:p>
        </c:txPr>
        <c:crossAx val="48650112"/>
        <c:crossBetween val="between"/>
        <c:majorUnit val="0.2"/>
      </c:valAx>
      <c:spPr>
        <a:noFill xmlns:a="http://schemas.openxmlformats.org/drawingml/2006/main"/>
        <a:ln xmlns:a="http://schemas.openxmlformats.org/drawingml/2006/main" w="0">
          <a:solidFill>
            <a:srgbClr val="FFFFFF"/>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000000"/>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3.xml><?xml version="1.0" encoding="utf-8"?>
<c:chartSpace xmlns:c="http://schemas.openxmlformats.org/drawingml/2006/chart">
  <c:lang val="en-US"/>
  <c:chart>
    <c:plotArea>
      <c:lineChart>
        <c:grouping val="standard"/>
        <c:ser>
          <c:idx val="0"/>
          <c:order val="0"/>
          <c:tx>
            <c:v>Test macro-F1</c:v>
          </c:tx>
          <c:spPr>
            <a:ln xmlns:a="http://schemas.openxmlformats.org/drawingml/2006/main" w="47625">
              <a:solidFill>
                <a:srgbClr val="3D8DFF"/>
              </a:solidFill>
              <a:prstDash val="solid"/>
            </a:ln>
          </c:spPr>
          <c:marker>
            <c:symbol val="circle"/>
            <c:size val="8"/>
            <c:spPr>
              <a:solidFill xmlns:a="http://schemas.openxmlformats.org/drawingml/2006/main">
                <a:srgbClr val="3D8DFF"/>
              </a:solidFill>
            </c:spPr>
          </c:marker>
          <c:cat>
            <c:strLit>
              <c:ptCount val="4"/>
              <c:pt idx="0">
                <c:v>clean</c:v>
              </c:pt>
              <c:pt idx="1">
                <c:v>20 dB</c:v>
              </c:pt>
              <c:pt idx="2">
                <c:v>10 dB</c:v>
              </c:pt>
              <c:pt idx="3">
                <c:v>0 dB</c:v>
              </c:pt>
            </c:strLit>
          </c:cat>
          <c:val>
            <c:numLit>
              <c:formatCode>General</c:formatCode>
              <c:ptCount val="4"/>
              <c:pt idx="0">
                <c:v>0.9421</c:v>
              </c:pt>
              <c:pt idx="1">
                <c:v>0.9308</c:v>
              </c:pt>
              <c:pt idx="2">
                <c:v>0.9096</c:v>
              </c:pt>
              <c:pt idx="3">
                <c:v>0.8146</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defRPr>
            </a:pPr>
          </a:p>
        </c:txPr>
        <c:crossAx val="48672768"/>
      </c:catAx>
      <c:valAx>
        <c:axId val="48672768"/>
        <c:scaling>
          <c:orientation val="minMax"/>
          <c:max val="0.96"/>
          <c:min val="0.75"/>
        </c:scaling>
        <c:delete val="0"/>
        <c:axPos val="l"/>
        <c:majorGridlines>
          <c:spPr>
            <a:ln xmlns:a="http://schemas.openxmlformats.org/drawingml/2006/main" w="9525">
              <a:solidFill>
                <a:srgbClr val="EDEDED"/>
              </a:solidFill>
              <a:prstDash val="solid"/>
            </a:ln>
          </c:spPr>
        </c:majorGridlines>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9616B"/>
                </a:solidFill>
              </a:defRPr>
            </a:pPr>
          </a:p>
        </c:txPr>
        <c:crossAx val="48650112"/>
        <c:crossBetween val="between"/>
        <c:majorUnit val="0.05"/>
      </c:valAx>
      <c:spPr>
        <a:noFill xmlns:a="http://schemas.openxmlformats.org/drawingml/2006/main"/>
        <a:ln xmlns:a="http://schemas.openxmlformats.org/drawingml/2006/main" w="0">
          <a:solidFill>
            <a:srgbClr val="FFFFFF"/>
          </a:solidFill>
          <a:prstDash val="solid"/>
        </a:l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817028A-6916-4AF5-9591-8E2E9F0484B9}"/>
              </a:ext>
            </a:extLst>
          </p:cNvPr>
          <p:cNvSpPr>
            <a:spLocks xmlns:a="http://schemas.openxmlformats.org/drawingml/2006/main" noGrp="1"/>
          </p:cNvSpPr>
          <p:nvPr/>
        </p:nvSpPr>
        <p:spPr>
          <a:xfrm xmlns:a="http://schemas.openxmlformats.org/drawingml/2006/main">
            <a:off x="457200" y="3619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59616B"/>
                </a:solidFill>
                <a:latin typeface="Arial"/>
                <a:ea typeface="Arial"/>
                <a:cs typeface="Arial"/>
              </a:defRPr>
            </a:pPr>
            <a:r>
              <a:rPr sz="1350" b="1">
                <a:solidFill>
                  <a:srgbClr val="59616B"/>
                </a:solidFill>
                <a:latin typeface="Arial"/>
                <a:ea typeface="Arial"/>
                <a:cs typeface="Arial"/>
              </a:rPr>
              <a:t>FOUNDATIONS OF DEEP LEARNING</a:t>
            </a:r>
          </a:p>
        </p:txBody>
      </p:sp>
      <p:sp>
        <p:nvSpPr>
          <p:cNvPr id="2" name="deck-title">
            <a:extLst xmlns:a="http://schemas.openxmlformats.org/drawingml/2006/main">
              <a:ext uri="{FF2B5EF4-FFF2-40B4-BE49-F238E27FC236}">
                <a16:creationId xmlns:a16="http://schemas.microsoft.com/office/drawing/2014/main" id="{326A694E-162C-47CC-803A-3991F8495F2F}"/>
              </a:ext>
            </a:extLst>
          </p:cNvPr>
          <p:cNvSpPr>
            <a:spLocks xmlns:a="http://schemas.openxmlformats.org/drawingml/2006/main" noGrp="1"/>
          </p:cNvSpPr>
          <p:nvPr/>
        </p:nvSpPr>
        <p:spPr>
          <a:xfrm xmlns:a="http://schemas.openxmlformats.org/drawingml/2006/main">
            <a:off x="457200" y="1000125"/>
            <a:ext cx="5286375"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950" b="1">
                <a:solidFill>
                  <a:srgbClr val="000000"/>
                </a:solidFill>
                <a:latin typeface="Arial"/>
                <a:ea typeface="Arial"/>
                <a:cs typeface="Arial"/>
              </a:defRPr>
            </a:pPr>
            <a:r>
              <a:rPr sz="4950" b="1">
                <a:solidFill>
                  <a:srgbClr val="000000"/>
                </a:solidFill>
                <a:latin typeface="Arial"/>
                <a:ea typeface="Arial"/>
                <a:cs typeface="Arial"/>
              </a:rPr>
              <a:t>Robust keyword</a:t>
            </a:r>
          </a:p>
          <a:p xmlns:a="http://schemas.openxmlformats.org/drawingml/2006/main">
            <a:pPr algn="l">
              <a:defRPr sz="4950" b="1">
                <a:solidFill>
                  <a:srgbClr val="000000"/>
                </a:solidFill>
                <a:latin typeface="Arial"/>
                <a:ea typeface="Arial"/>
                <a:cs typeface="Arial"/>
              </a:defRPr>
            </a:pPr>
            <a:r>
              <a:rPr sz="4950" b="1">
                <a:solidFill>
                  <a:srgbClr val="000000"/>
                </a:solidFill>
                <a:latin typeface="Arial"/>
                <a:ea typeface="Arial"/>
                <a:cs typeface="Arial"/>
              </a:rPr>
              <a:t>spotting from scratch</a:t>
            </a:r>
          </a:p>
        </p:txBody>
      </p:sp>
      <p:sp>
        <p:nvSpPr>
          <p:cNvPr id="3" name="">
            <a:extLst xmlns:a="http://schemas.openxmlformats.org/drawingml/2006/main">
              <a:ext uri="{FF2B5EF4-FFF2-40B4-BE49-F238E27FC236}">
                <a16:creationId xmlns:a16="http://schemas.microsoft.com/office/drawing/2014/main" id="{D319E7E4-C171-4B27-BC61-CA55458D78BD}"/>
              </a:ext>
            </a:extLst>
          </p:cNvPr>
          <p:cNvSpPr>
            <a:spLocks xmlns:a="http://schemas.openxmlformats.org/drawingml/2006/main" noGrp="1"/>
          </p:cNvSpPr>
          <p:nvPr/>
        </p:nvSpPr>
        <p:spPr>
          <a:xfrm xmlns:a="http://schemas.openxmlformats.org/drawingml/2006/main">
            <a:off x="457200" y="33337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400" b="0">
                <a:solidFill>
                  <a:srgbClr val="59616B"/>
                </a:solidFill>
                <a:latin typeface="Arial"/>
                <a:ea typeface="Arial"/>
                <a:cs typeface="Arial"/>
              </a:defRPr>
            </a:pPr>
            <a:r>
              <a:rPr sz="2400" b="0">
                <a:solidFill>
                  <a:srgbClr val="59616B"/>
                </a:solidFill>
                <a:latin typeface="Arial"/>
                <a:ea typeface="Arial"/>
                <a:cs typeface="Arial"/>
              </a:rPr>
              <a:t>A leakage-safe study of audio representations, compact neural networks, and failure modes.</a:t>
            </a:r>
          </a:p>
        </p:txBody>
      </p:sp>
      <p:sp>
        <p:nvSpPr>
          <p:cNvPr id="4" name="">
            <a:extLst xmlns:a="http://schemas.openxmlformats.org/drawingml/2006/main">
              <a:ext uri="{FF2B5EF4-FFF2-40B4-BE49-F238E27FC236}">
                <a16:creationId xmlns:a16="http://schemas.microsoft.com/office/drawing/2014/main" id="{3F163CC5-5F70-48FB-BAEB-CAA0AD2DB7C3}"/>
              </a:ext>
            </a:extLst>
          </p:cNvPr>
          <p:cNvSpPr>
            <a:spLocks xmlns:a="http://schemas.openxmlformats.org/drawingml/2006/main" noGrp="1"/>
          </p:cNvSpPr>
          <p:nvPr/>
        </p:nvSpPr>
        <p:spPr>
          <a:xfrm xmlns:a="http://schemas.openxmlformats.org/drawingml/2006/main">
            <a:off x="457200" y="5095875"/>
            <a:ext cx="5286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00000"/>
                </a:solidFill>
                <a:latin typeface="Arial"/>
                <a:ea typeface="Arial"/>
                <a:cs typeface="Arial"/>
              </a:defRPr>
            </a:pPr>
            <a:r>
              <a:rPr sz="1650" b="1">
                <a:solidFill>
                  <a:srgbClr val="000000"/>
                </a:solidFill>
                <a:latin typeface="Arial"/>
                <a:ea typeface="Arial"/>
                <a:cs typeface="Arial"/>
              </a:rPr>
              <a:t>Simone (INSERT SURNAME)  |  Vlad (INSERT SURNAME)  |  INSERT FULL NAME</a:t>
            </a:r>
          </a:p>
        </p:txBody>
      </p:sp>
      <p:sp>
        <p:nvSpPr>
          <p:cNvPr id="5" name="">
            <a:extLst xmlns:a="http://schemas.openxmlformats.org/drawingml/2006/main">
              <a:ext uri="{FF2B5EF4-FFF2-40B4-BE49-F238E27FC236}">
                <a16:creationId xmlns:a16="http://schemas.microsoft.com/office/drawing/2014/main" id="{0F98E848-5F59-4CCA-A298-18C781EEA7A0}"/>
              </a:ext>
            </a:extLst>
          </p:cNvPr>
          <p:cNvSpPr>
            <a:spLocks xmlns:a="http://schemas.openxmlformats.org/drawingml/2006/main" noGrp="1"/>
          </p:cNvSpPr>
          <p:nvPr/>
        </p:nvSpPr>
        <p:spPr>
          <a:xfrm xmlns:a="http://schemas.openxmlformats.org/drawingml/2006/main">
            <a:off x="457200" y="5810250"/>
            <a:ext cx="5286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9616B"/>
                </a:solidFill>
                <a:latin typeface="Arial"/>
                <a:ea typeface="Arial"/>
                <a:cs typeface="Arial"/>
              </a:defRPr>
            </a:pPr>
            <a:r>
              <a:rPr sz="1350" b="0">
                <a:solidFill>
                  <a:srgbClr val="59616B"/>
                </a:solidFill>
                <a:latin typeface="Arial"/>
                <a:ea typeface="Arial"/>
                <a:cs typeface="Arial"/>
              </a:rPr>
              <a:t>Academic Year 2025/2026  |  15 September 2026</a:t>
            </a:r>
          </a:p>
        </p:txBody>
      </p:sp>
      <p:sp>
        <p:nvSpPr>
          <p:cNvPr id="6" name="">
            <a:extLst xmlns:a="http://schemas.openxmlformats.org/drawingml/2006/main">
              <a:ext uri="{FF2B5EF4-FFF2-40B4-BE49-F238E27FC236}">
                <a16:creationId xmlns:a16="http://schemas.microsoft.com/office/drawing/2014/main" id="{0AB7516B-71C1-40E5-893C-C33E6CE8B377}"/>
              </a:ext>
            </a:extLst>
          </p:cNvPr>
          <p:cNvSpPr>
            <a:spLocks xmlns:a="http://schemas.openxmlformats.org/drawingml/2006/main" noGrp="1"/>
          </p:cNvSpPr>
          <p:nvPr/>
        </p:nvSpPr>
        <p:spPr>
          <a:xfrm xmlns:a="http://schemas.openxmlformats.org/drawingml/2006/main">
            <a:off x="6191250" y="361950"/>
            <a:ext cx="5543550" cy="5657850"/>
          </a:xfrm>
          <a:prstGeom xmlns:a="http://schemas.openxmlformats.org/drawingml/2006/main" prst="rect">
            <a:avLst/>
          </a:prstGeom>
          <a:solidFill xmlns:a="http://schemas.openxmlformats.org/drawingml/2006/main">
            <a:srgbClr val="F5F0F8"/>
          </a:solidFill>
          <a:ln xmlns:a="http://schemas.openxmlformats.org/drawingml/2006/main" w="9525">
            <a:solidFill>
              <a:srgbClr val="B8BCC4"/>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7b038a164124288"/>
          <a:stretch xmlns:a="http://schemas.openxmlformats.org/drawingml/2006/main"/>
        </p:blipFill>
        <p:spPr>
          <a:xfrm xmlns:a="http://schemas.openxmlformats.org/drawingml/2006/main">
            <a:off x="6569319" y="361950"/>
            <a:ext cx="4787412" cy="56578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EFDCB54D-AEB5-4F23-9CA3-DAE811228A71}"/>
              </a:ext>
            </a:extLst>
          </p:cNvPr>
          <p:cNvSpPr>
            <a:spLocks xmlns:a="http://schemas.openxmlformats.org/drawingml/2006/main" noGrp="1"/>
          </p:cNvSpPr>
          <p:nvPr/>
        </p:nvSpPr>
        <p:spPr>
          <a:xfrm xmlns:a="http://schemas.openxmlformats.org/drawingml/2006/main">
            <a:off x="1123950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59616B"/>
                </a:solidFill>
                <a:latin typeface="Arial"/>
                <a:ea typeface="Arial"/>
                <a:cs typeface="Arial"/>
              </a:defRPr>
            </a:pPr>
            <a:r>
              <a:rPr sz="1050" b="0">
                <a:solidFill>
                  <a:srgbClr val="59616B"/>
                </a:solidFill>
                <a:latin typeface="Arial"/>
                <a:ea typeface="Arial"/>
                <a:cs typeface="Arial"/>
              </a:rPr>
              <a:t>01</a:t>
            </a:r>
          </a:p>
        </p:txBody>
      </p:sp>
    </p:spTree>
    <p:extLst>
      <p:ext uri="{BB962C8B-B14F-4D97-AF65-F5344CB8AC3E}">
        <p14:creationId xmlns:p14="http://schemas.microsoft.com/office/powerpoint/2010/main" val="67009302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7AA9D66-8267-4F71-81C4-03DACFAD2079}"/>
              </a:ext>
            </a:extLst>
          </p:cNvPr>
          <p:cNvSpPr>
            <a:spLocks xmlns:a="http://schemas.openxmlformats.org/drawingml/2006/main" noGrp="1"/>
          </p:cNvSpPr>
          <p:nvPr/>
        </p:nvSpPr>
        <p:spPr>
          <a:xfrm xmlns:a="http://schemas.openxmlformats.org/drawingml/2006/main">
            <a:off x="457200" y="23812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59616B"/>
                </a:solidFill>
                <a:latin typeface="Arial"/>
                <a:ea typeface="Arial"/>
                <a:cs typeface="Arial"/>
              </a:defRPr>
            </a:pPr>
            <a:r>
              <a:rPr sz="1200" b="1">
                <a:solidFill>
                  <a:srgbClr val="59616B"/>
                </a:solidFill>
                <a:latin typeface="Arial"/>
                <a:ea typeface="Arial"/>
                <a:cs typeface="Arial"/>
              </a:rPr>
              <a:t>SPEECH COMMANDS</a:t>
            </a:r>
          </a:p>
        </p:txBody>
      </p:sp>
      <p:sp>
        <p:nvSpPr>
          <p:cNvPr id="2" name="slide-2-title">
            <a:extLst xmlns:a="http://schemas.openxmlformats.org/drawingml/2006/main">
              <a:ext uri="{FF2B5EF4-FFF2-40B4-BE49-F238E27FC236}">
                <a16:creationId xmlns:a16="http://schemas.microsoft.com/office/drawing/2014/main" id="{4FDF616C-77E8-4DAC-AEDF-860C70CA66AE}"/>
              </a:ext>
            </a:extLst>
          </p:cNvPr>
          <p:cNvSpPr>
            <a:spLocks xmlns:a="http://schemas.openxmlformats.org/drawingml/2006/main" noGrp="1"/>
          </p:cNvSpPr>
          <p:nvPr/>
        </p:nvSpPr>
        <p:spPr>
          <a:xfrm xmlns:a="http://schemas.openxmlformats.org/drawingml/2006/main">
            <a:off x="457200" y="5143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000000"/>
                </a:solidFill>
                <a:latin typeface="Arial"/>
                <a:ea typeface="Arial"/>
                <a:cs typeface="Arial"/>
              </a:defRPr>
            </a:pPr>
            <a:r>
              <a:rPr sz="3600" b="1">
                <a:solidFill>
                  <a:srgbClr val="000000"/>
                </a:solidFill>
                <a:latin typeface="Arial"/>
                <a:ea typeface="Arial"/>
                <a:cs typeface="Arial"/>
              </a:rPr>
              <a:t>One second of audio becomes one reliable intent</a:t>
            </a:r>
          </a:p>
        </p:txBody>
      </p:sp>
      <p:sp>
        <p:nvSpPr>
          <p:cNvPr id="3" name="">
            <a:extLst xmlns:a="http://schemas.openxmlformats.org/drawingml/2006/main">
              <a:ext uri="{FF2B5EF4-FFF2-40B4-BE49-F238E27FC236}">
                <a16:creationId xmlns:a16="http://schemas.microsoft.com/office/drawing/2014/main" id="{9BEB4359-07F3-405B-BD06-7697356B8901}"/>
              </a:ext>
            </a:extLst>
          </p:cNvPr>
          <p:cNvSpPr>
            <a:spLocks xmlns:a="http://schemas.openxmlformats.org/drawingml/2006/main" noGrp="1"/>
          </p:cNvSpPr>
          <p:nvPr/>
        </p:nvSpPr>
        <p:spPr>
          <a:xfrm xmlns:a="http://schemas.openxmlformats.org/drawingml/2006/main">
            <a:off x="1123950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59616B"/>
                </a:solidFill>
                <a:latin typeface="Arial"/>
                <a:ea typeface="Arial"/>
                <a:cs typeface="Arial"/>
              </a:defRPr>
            </a:pPr>
            <a:r>
              <a:rPr sz="1050" b="0">
                <a:solidFill>
                  <a:srgbClr val="59616B"/>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09641B5F-FD71-4ED8-8022-33C19C2F42F8}"/>
              </a:ext>
            </a:extLst>
          </p:cNvPr>
          <p:cNvSpPr>
            <a:spLocks xmlns:a="http://schemas.openxmlformats.org/drawingml/2006/main" noGrp="1"/>
          </p:cNvSpPr>
          <p:nvPr/>
        </p:nvSpPr>
        <p:spPr>
          <a:xfrm xmlns:a="http://schemas.openxmlformats.org/drawingml/2006/main">
            <a:off x="457200" y="144780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59616B"/>
                </a:solidFill>
                <a:latin typeface="Arial"/>
                <a:ea typeface="Arial"/>
                <a:cs typeface="Arial"/>
              </a:defRPr>
            </a:pPr>
            <a:r>
              <a:rPr sz="1650" b="1">
                <a:solidFill>
                  <a:srgbClr val="59616B"/>
                </a:solidFill>
                <a:latin typeface="Arial"/>
                <a:ea typeface="Arial"/>
                <a:cs typeface="Arial"/>
              </a:rPr>
              <a:t>Input</a:t>
            </a:r>
          </a:p>
        </p:txBody>
      </p:sp>
      <p:sp>
        <p:nvSpPr>
          <p:cNvPr id="5" name="">
            <a:extLst xmlns:a="http://schemas.openxmlformats.org/drawingml/2006/main">
              <a:ext uri="{FF2B5EF4-FFF2-40B4-BE49-F238E27FC236}">
                <a16:creationId xmlns:a16="http://schemas.microsoft.com/office/drawing/2014/main" id="{63F453E5-25DA-4153-A248-CF118DBBB233}"/>
              </a:ext>
            </a:extLst>
          </p:cNvPr>
          <p:cNvSpPr>
            <a:spLocks xmlns:a="http://schemas.openxmlformats.org/drawingml/2006/main" noGrp="1"/>
          </p:cNvSpPr>
          <p:nvPr/>
        </p:nvSpPr>
        <p:spPr>
          <a:xfrm xmlns:a="http://schemas.openxmlformats.org/drawingml/2006/main">
            <a:off x="457200" y="1790700"/>
            <a:ext cx="5429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A mono waveform sampled at 16 kHz</a:t>
            </a:r>
          </a:p>
        </p:txBody>
      </p:sp>
      <p:sp>
        <p:nvSpPr>
          <p:cNvPr id="6" name="">
            <a:extLst xmlns:a="http://schemas.openxmlformats.org/drawingml/2006/main">
              <a:ext uri="{FF2B5EF4-FFF2-40B4-BE49-F238E27FC236}">
                <a16:creationId xmlns:a16="http://schemas.microsoft.com/office/drawing/2014/main" id="{D093AACE-6882-4C61-A35D-5159FEE4ABC6}"/>
              </a:ext>
            </a:extLst>
          </p:cNvPr>
          <p:cNvSpPr>
            <a:spLocks xmlns:a="http://schemas.openxmlformats.org/drawingml/2006/main" noGrp="1"/>
          </p:cNvSpPr>
          <p:nvPr/>
        </p:nvSpPr>
        <p:spPr>
          <a:xfrm xmlns:a="http://schemas.openxmlformats.org/drawingml/2006/main">
            <a:off x="6429375" y="144780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59616B"/>
                </a:solidFill>
                <a:latin typeface="Arial"/>
                <a:ea typeface="Arial"/>
                <a:cs typeface="Arial"/>
              </a:defRPr>
            </a:pPr>
            <a:r>
              <a:rPr sz="1650" b="1">
                <a:solidFill>
                  <a:srgbClr val="59616B"/>
                </a:solidFill>
                <a:latin typeface="Arial"/>
                <a:ea typeface="Arial"/>
                <a:cs typeface="Arial"/>
              </a:rPr>
              <a:t>Output</a:t>
            </a:r>
          </a:p>
        </p:txBody>
      </p:sp>
      <p:sp>
        <p:nvSpPr>
          <p:cNvPr id="7" name="">
            <a:extLst xmlns:a="http://schemas.openxmlformats.org/drawingml/2006/main">
              <a:ext uri="{FF2B5EF4-FFF2-40B4-BE49-F238E27FC236}">
                <a16:creationId xmlns:a16="http://schemas.microsoft.com/office/drawing/2014/main" id="{B93DFA2E-615E-418D-8243-A0976930CCFD}"/>
              </a:ext>
            </a:extLst>
          </p:cNvPr>
          <p:cNvSpPr>
            <a:spLocks xmlns:a="http://schemas.openxmlformats.org/drawingml/2006/main" noGrp="1"/>
          </p:cNvSpPr>
          <p:nvPr/>
        </p:nvSpPr>
        <p:spPr>
          <a:xfrm xmlns:a="http://schemas.openxmlformats.org/drawingml/2006/main">
            <a:off x="6429375" y="1790700"/>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10 commands + unknown + silence</a:t>
            </a:r>
          </a:p>
        </p:txBody>
      </p:sp>
      <p:sp>
        <p:nvSpPr>
          <p:cNvPr id="8" name="">
            <a:extLst xmlns:a="http://schemas.openxmlformats.org/drawingml/2006/main">
              <a:ext uri="{FF2B5EF4-FFF2-40B4-BE49-F238E27FC236}">
                <a16:creationId xmlns:a16="http://schemas.microsoft.com/office/drawing/2014/main" id="{EECA072C-D54F-4030-866B-C33833A35935}"/>
              </a:ext>
            </a:extLst>
          </p:cNvPr>
          <p:cNvSpPr>
            <a:spLocks xmlns:a="http://schemas.openxmlformats.org/drawingml/2006/main" noGrp="1"/>
          </p:cNvSpPr>
          <p:nvPr/>
        </p:nvSpPr>
        <p:spPr>
          <a:xfrm xmlns:a="http://schemas.openxmlformats.org/drawingml/2006/main">
            <a:off x="457200" y="3143250"/>
            <a:ext cx="3333750" cy="1809750"/>
          </a:xfrm>
          <a:prstGeom xmlns:a="http://schemas.openxmlformats.org/drawingml/2006/main" prst="rect">
            <a:avLst/>
          </a:prstGeom>
          <a:solidFill xmlns:a="http://schemas.openxmlformats.org/drawingml/2006/main">
            <a:srgbClr val="F2F2F2"/>
          </a:solidFill>
          <a:ln xmlns:a="http://schemas.openxmlformats.org/drawingml/2006/main" w="0">
            <a:solidFill>
              <a:srgbClr val="F2F2F2"/>
            </a:solidFill>
            <a:prstDash val="solid"/>
          </a:ln>
        </p:spPr>
      </p:sp>
      <p:sp>
        <p:nvSpPr>
          <p:cNvPr id="9" name="">
            <a:extLst xmlns:a="http://schemas.openxmlformats.org/drawingml/2006/main">
              <a:ext uri="{FF2B5EF4-FFF2-40B4-BE49-F238E27FC236}">
                <a16:creationId xmlns:a16="http://schemas.microsoft.com/office/drawing/2014/main" id="{46ACED46-7BAF-4D77-ABB7-1E1804C836A3}"/>
              </a:ext>
            </a:extLst>
          </p:cNvPr>
          <p:cNvSpPr>
            <a:spLocks xmlns:a="http://schemas.openxmlformats.org/drawingml/2006/main" noGrp="1"/>
          </p:cNvSpPr>
          <p:nvPr/>
        </p:nvSpPr>
        <p:spPr>
          <a:xfrm xmlns:a="http://schemas.openxmlformats.org/drawingml/2006/main">
            <a:off x="457200" y="3143250"/>
            <a:ext cx="3333750" cy="0"/>
          </a:xfrm>
          <a:prstGeom xmlns:a="http://schemas.openxmlformats.org/drawingml/2006/main" prst="line">
            <a:avLst/>
          </a:prstGeom>
          <a:noFill xmlns:a="http://schemas.openxmlformats.org/drawingml/2006/main"/>
          <a:ln xmlns:a="http://schemas.openxmlformats.org/drawingml/2006/main" w="66675">
            <a:solidFill>
              <a:srgbClr val="3D8DFF"/>
            </a:solidFill>
            <a:prstDash val="solid"/>
          </a:ln>
        </p:spPr>
      </p:sp>
      <p:sp>
        <p:nvSpPr>
          <p:cNvPr id="10" name="">
            <a:extLst xmlns:a="http://schemas.openxmlformats.org/drawingml/2006/main">
              <a:ext uri="{FF2B5EF4-FFF2-40B4-BE49-F238E27FC236}">
                <a16:creationId xmlns:a16="http://schemas.microsoft.com/office/drawing/2014/main" id="{6AF09067-14EE-4659-8BED-0FD54AD2741B}"/>
              </a:ext>
            </a:extLst>
          </p:cNvPr>
          <p:cNvSpPr>
            <a:spLocks xmlns:a="http://schemas.openxmlformats.org/drawingml/2006/main" noGrp="1"/>
          </p:cNvSpPr>
          <p:nvPr/>
        </p:nvSpPr>
        <p:spPr>
          <a:xfrm xmlns:a="http://schemas.openxmlformats.org/drawingml/2006/main">
            <a:off x="685800" y="3448050"/>
            <a:ext cx="28765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900" b="1">
                <a:solidFill>
                  <a:srgbClr val="000000"/>
                </a:solidFill>
                <a:latin typeface="Arial"/>
                <a:ea typeface="Arial"/>
                <a:cs typeface="Arial"/>
              </a:defRPr>
            </a:pPr>
            <a:r>
              <a:rPr sz="3900" b="1">
                <a:solidFill>
                  <a:srgbClr val="000000"/>
                </a:solidFill>
                <a:latin typeface="Arial"/>
                <a:ea typeface="Arial"/>
                <a:cs typeface="Arial"/>
              </a:rPr>
              <a:t>1 s</a:t>
            </a:r>
          </a:p>
        </p:txBody>
      </p:sp>
      <p:sp>
        <p:nvSpPr>
          <p:cNvPr id="11" name="">
            <a:extLst xmlns:a="http://schemas.openxmlformats.org/drawingml/2006/main">
              <a:ext uri="{FF2B5EF4-FFF2-40B4-BE49-F238E27FC236}">
                <a16:creationId xmlns:a16="http://schemas.microsoft.com/office/drawing/2014/main" id="{57772473-96C6-4FEC-A03D-8F4E2B935D0F}"/>
              </a:ext>
            </a:extLst>
          </p:cNvPr>
          <p:cNvSpPr>
            <a:spLocks xmlns:a="http://schemas.openxmlformats.org/drawingml/2006/main" noGrp="1"/>
          </p:cNvSpPr>
          <p:nvPr/>
        </p:nvSpPr>
        <p:spPr>
          <a:xfrm xmlns:a="http://schemas.openxmlformats.org/drawingml/2006/main">
            <a:off x="685800" y="4210050"/>
            <a:ext cx="2876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9616B"/>
                </a:solidFill>
                <a:latin typeface="Arial"/>
                <a:ea typeface="Arial"/>
                <a:cs typeface="Arial"/>
              </a:defRPr>
            </a:pPr>
            <a:r>
              <a:rPr sz="1650" b="0">
                <a:solidFill>
                  <a:srgbClr val="59616B"/>
                </a:solidFill>
                <a:latin typeface="Arial"/>
                <a:ea typeface="Arial"/>
                <a:cs typeface="Arial"/>
              </a:rPr>
              <a:t>maximum clip duration</a:t>
            </a:r>
          </a:p>
        </p:txBody>
      </p:sp>
      <p:sp>
        <p:nvSpPr>
          <p:cNvPr id="12" name="">
            <a:extLst xmlns:a="http://schemas.openxmlformats.org/drawingml/2006/main">
              <a:ext uri="{FF2B5EF4-FFF2-40B4-BE49-F238E27FC236}">
                <a16:creationId xmlns:a16="http://schemas.microsoft.com/office/drawing/2014/main" id="{EBEBA715-DD64-475B-89B9-D7BC986E53FE}"/>
              </a:ext>
            </a:extLst>
          </p:cNvPr>
          <p:cNvSpPr>
            <a:spLocks xmlns:a="http://schemas.openxmlformats.org/drawingml/2006/main" noGrp="1"/>
          </p:cNvSpPr>
          <p:nvPr/>
        </p:nvSpPr>
        <p:spPr>
          <a:xfrm xmlns:a="http://schemas.openxmlformats.org/drawingml/2006/main">
            <a:off x="4429125" y="3143250"/>
            <a:ext cx="3333750" cy="1809750"/>
          </a:xfrm>
          <a:prstGeom xmlns:a="http://schemas.openxmlformats.org/drawingml/2006/main" prst="rect">
            <a:avLst/>
          </a:prstGeom>
          <a:solidFill xmlns:a="http://schemas.openxmlformats.org/drawingml/2006/main">
            <a:srgbClr val="F2F2F2"/>
          </a:solidFill>
          <a:ln xmlns:a="http://schemas.openxmlformats.org/drawingml/2006/main" w="0">
            <a:solidFill>
              <a:srgbClr val="F2F2F2"/>
            </a:solidFill>
            <a:prstDash val="solid"/>
          </a:ln>
        </p:spPr>
      </p:sp>
      <p:sp>
        <p:nvSpPr>
          <p:cNvPr id="13" name="">
            <a:extLst xmlns:a="http://schemas.openxmlformats.org/drawingml/2006/main">
              <a:ext uri="{FF2B5EF4-FFF2-40B4-BE49-F238E27FC236}">
                <a16:creationId xmlns:a16="http://schemas.microsoft.com/office/drawing/2014/main" id="{DA84FE2C-4903-415B-81C0-0CAD965EF30A}"/>
              </a:ext>
            </a:extLst>
          </p:cNvPr>
          <p:cNvSpPr>
            <a:spLocks xmlns:a="http://schemas.openxmlformats.org/drawingml/2006/main" noGrp="1"/>
          </p:cNvSpPr>
          <p:nvPr/>
        </p:nvSpPr>
        <p:spPr>
          <a:xfrm xmlns:a="http://schemas.openxmlformats.org/drawingml/2006/main">
            <a:off x="4429125" y="3143250"/>
            <a:ext cx="3333750" cy="0"/>
          </a:xfrm>
          <a:prstGeom xmlns:a="http://schemas.openxmlformats.org/drawingml/2006/main" prst="line">
            <a:avLst/>
          </a:prstGeom>
          <a:noFill xmlns:a="http://schemas.openxmlformats.org/drawingml/2006/main"/>
          <a:ln xmlns:a="http://schemas.openxmlformats.org/drawingml/2006/main" w="66675">
            <a:solidFill>
              <a:srgbClr val="7B2CBF"/>
            </a:solidFill>
            <a:prstDash val="solid"/>
          </a:ln>
        </p:spPr>
      </p:sp>
      <p:sp>
        <p:nvSpPr>
          <p:cNvPr id="14" name="">
            <a:extLst xmlns:a="http://schemas.openxmlformats.org/drawingml/2006/main">
              <a:ext uri="{FF2B5EF4-FFF2-40B4-BE49-F238E27FC236}">
                <a16:creationId xmlns:a16="http://schemas.microsoft.com/office/drawing/2014/main" id="{0FCCE3FB-A2FC-49A0-8FA1-43482B628465}"/>
              </a:ext>
            </a:extLst>
          </p:cNvPr>
          <p:cNvSpPr>
            <a:spLocks xmlns:a="http://schemas.openxmlformats.org/drawingml/2006/main" noGrp="1"/>
          </p:cNvSpPr>
          <p:nvPr/>
        </p:nvSpPr>
        <p:spPr>
          <a:xfrm xmlns:a="http://schemas.openxmlformats.org/drawingml/2006/main">
            <a:off x="4657725" y="3448050"/>
            <a:ext cx="28765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900" b="1">
                <a:solidFill>
                  <a:srgbClr val="000000"/>
                </a:solidFill>
                <a:latin typeface="Arial"/>
                <a:ea typeface="Arial"/>
                <a:cs typeface="Arial"/>
              </a:defRPr>
            </a:pPr>
            <a:r>
              <a:rPr sz="3900" b="1">
                <a:solidFill>
                  <a:srgbClr val="000000"/>
                </a:solidFill>
                <a:latin typeface="Arial"/>
                <a:ea typeface="Arial"/>
                <a:cs typeface="Arial"/>
              </a:rPr>
              <a:t>12</a:t>
            </a:r>
          </a:p>
        </p:txBody>
      </p:sp>
      <p:sp>
        <p:nvSpPr>
          <p:cNvPr id="15" name="">
            <a:extLst xmlns:a="http://schemas.openxmlformats.org/drawingml/2006/main">
              <a:ext uri="{FF2B5EF4-FFF2-40B4-BE49-F238E27FC236}">
                <a16:creationId xmlns:a16="http://schemas.microsoft.com/office/drawing/2014/main" id="{2664A9DB-9109-4808-9772-1A580A9682F9}"/>
              </a:ext>
            </a:extLst>
          </p:cNvPr>
          <p:cNvSpPr>
            <a:spLocks xmlns:a="http://schemas.openxmlformats.org/drawingml/2006/main" noGrp="1"/>
          </p:cNvSpPr>
          <p:nvPr/>
        </p:nvSpPr>
        <p:spPr>
          <a:xfrm xmlns:a="http://schemas.openxmlformats.org/drawingml/2006/main">
            <a:off x="4657725" y="4210050"/>
            <a:ext cx="2876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9616B"/>
                </a:solidFill>
                <a:latin typeface="Arial"/>
                <a:ea typeface="Arial"/>
                <a:cs typeface="Arial"/>
              </a:defRPr>
            </a:pPr>
            <a:r>
              <a:rPr sz="1650" b="0">
                <a:solidFill>
                  <a:srgbClr val="59616B"/>
                </a:solidFill>
                <a:latin typeface="Arial"/>
                <a:ea typeface="Arial"/>
                <a:cs typeface="Arial"/>
              </a:rPr>
              <a:t>balanced modeled classes</a:t>
            </a:r>
          </a:p>
        </p:txBody>
      </p:sp>
      <p:sp>
        <p:nvSpPr>
          <p:cNvPr id="16" name="">
            <a:extLst xmlns:a="http://schemas.openxmlformats.org/drawingml/2006/main">
              <a:ext uri="{FF2B5EF4-FFF2-40B4-BE49-F238E27FC236}">
                <a16:creationId xmlns:a16="http://schemas.microsoft.com/office/drawing/2014/main" id="{F3F075C1-B11F-448F-A209-9AA9C2746AB2}"/>
              </a:ext>
            </a:extLst>
          </p:cNvPr>
          <p:cNvSpPr>
            <a:spLocks xmlns:a="http://schemas.openxmlformats.org/drawingml/2006/main" noGrp="1"/>
          </p:cNvSpPr>
          <p:nvPr/>
        </p:nvSpPr>
        <p:spPr>
          <a:xfrm xmlns:a="http://schemas.openxmlformats.org/drawingml/2006/main">
            <a:off x="8401050" y="3143250"/>
            <a:ext cx="3333750" cy="1809750"/>
          </a:xfrm>
          <a:prstGeom xmlns:a="http://schemas.openxmlformats.org/drawingml/2006/main" prst="rect">
            <a:avLst/>
          </a:prstGeom>
          <a:solidFill xmlns:a="http://schemas.openxmlformats.org/drawingml/2006/main">
            <a:srgbClr val="F2F2F2"/>
          </a:solidFill>
          <a:ln xmlns:a="http://schemas.openxmlformats.org/drawingml/2006/main" w="0">
            <a:solidFill>
              <a:srgbClr val="F2F2F2"/>
            </a:solidFill>
            <a:prstDash val="solid"/>
          </a:ln>
        </p:spPr>
      </p:sp>
      <p:sp>
        <p:nvSpPr>
          <p:cNvPr id="17" name="">
            <a:extLst xmlns:a="http://schemas.openxmlformats.org/drawingml/2006/main">
              <a:ext uri="{FF2B5EF4-FFF2-40B4-BE49-F238E27FC236}">
                <a16:creationId xmlns:a16="http://schemas.microsoft.com/office/drawing/2014/main" id="{41E3B37B-D284-4EF7-81B2-D42577766AB6}"/>
              </a:ext>
            </a:extLst>
          </p:cNvPr>
          <p:cNvSpPr>
            <a:spLocks xmlns:a="http://schemas.openxmlformats.org/drawingml/2006/main" noGrp="1"/>
          </p:cNvSpPr>
          <p:nvPr/>
        </p:nvSpPr>
        <p:spPr>
          <a:xfrm xmlns:a="http://schemas.openxmlformats.org/drawingml/2006/main">
            <a:off x="8401050" y="3143250"/>
            <a:ext cx="3333750" cy="0"/>
          </a:xfrm>
          <a:prstGeom xmlns:a="http://schemas.openxmlformats.org/drawingml/2006/main" prst="line">
            <a:avLst/>
          </a:prstGeom>
          <a:noFill xmlns:a="http://schemas.openxmlformats.org/drawingml/2006/main"/>
          <a:ln xmlns:a="http://schemas.openxmlformats.org/drawingml/2006/main" w="66675">
            <a:solidFill>
              <a:srgbClr val="F47C20"/>
            </a:solidFill>
            <a:prstDash val="solid"/>
          </a:ln>
        </p:spPr>
      </p:sp>
      <p:sp>
        <p:nvSpPr>
          <p:cNvPr id="18" name="">
            <a:extLst xmlns:a="http://schemas.openxmlformats.org/drawingml/2006/main">
              <a:ext uri="{FF2B5EF4-FFF2-40B4-BE49-F238E27FC236}">
                <a16:creationId xmlns:a16="http://schemas.microsoft.com/office/drawing/2014/main" id="{2136AB87-8916-4CE3-8905-4FC6A57568F7}"/>
              </a:ext>
            </a:extLst>
          </p:cNvPr>
          <p:cNvSpPr>
            <a:spLocks xmlns:a="http://schemas.openxmlformats.org/drawingml/2006/main" noGrp="1"/>
          </p:cNvSpPr>
          <p:nvPr/>
        </p:nvSpPr>
        <p:spPr>
          <a:xfrm xmlns:a="http://schemas.openxmlformats.org/drawingml/2006/main">
            <a:off x="8629650" y="3448050"/>
            <a:ext cx="28765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900" b="1">
                <a:solidFill>
                  <a:srgbClr val="000000"/>
                </a:solidFill>
                <a:latin typeface="Arial"/>
                <a:ea typeface="Arial"/>
                <a:cs typeface="Arial"/>
              </a:defRPr>
            </a:pPr>
            <a:r>
              <a:rPr sz="3900" b="1">
                <a:solidFill>
                  <a:srgbClr val="000000"/>
                </a:solidFill>
                <a:latin typeface="Arial"/>
                <a:ea typeface="Arial"/>
                <a:cs typeface="Arial"/>
              </a:rPr>
              <a:t>0</a:t>
            </a:r>
          </a:p>
        </p:txBody>
      </p:sp>
      <p:sp>
        <p:nvSpPr>
          <p:cNvPr id="19" name="">
            <a:extLst xmlns:a="http://schemas.openxmlformats.org/drawingml/2006/main">
              <a:ext uri="{FF2B5EF4-FFF2-40B4-BE49-F238E27FC236}">
                <a16:creationId xmlns:a16="http://schemas.microsoft.com/office/drawing/2014/main" id="{D073E068-6F86-41E0-9180-D208CD64850E}"/>
              </a:ext>
            </a:extLst>
          </p:cNvPr>
          <p:cNvSpPr>
            <a:spLocks xmlns:a="http://schemas.openxmlformats.org/drawingml/2006/main" noGrp="1"/>
          </p:cNvSpPr>
          <p:nvPr/>
        </p:nvSpPr>
        <p:spPr>
          <a:xfrm xmlns:a="http://schemas.openxmlformats.org/drawingml/2006/main">
            <a:off x="8629650" y="4210050"/>
            <a:ext cx="2876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9616B"/>
                </a:solidFill>
                <a:latin typeface="Arial"/>
                <a:ea typeface="Arial"/>
                <a:cs typeface="Arial"/>
              </a:defRPr>
            </a:pPr>
            <a:r>
              <a:rPr sz="1650" b="0">
                <a:solidFill>
                  <a:srgbClr val="59616B"/>
                </a:solidFill>
                <a:latin typeface="Arial"/>
                <a:ea typeface="Arial"/>
                <a:cs typeface="Arial"/>
              </a:rPr>
              <a:t>pretrained components</a:t>
            </a:r>
          </a:p>
        </p:txBody>
      </p:sp>
      <p:sp>
        <p:nvSpPr>
          <p:cNvPr id="20" name="">
            <a:extLst xmlns:a="http://schemas.openxmlformats.org/drawingml/2006/main">
              <a:ext uri="{FF2B5EF4-FFF2-40B4-BE49-F238E27FC236}">
                <a16:creationId xmlns:a16="http://schemas.microsoft.com/office/drawing/2014/main" id="{3952F7DF-2263-4A6F-A322-1855DE471075}"/>
              </a:ext>
            </a:extLst>
          </p:cNvPr>
          <p:cNvSpPr>
            <a:spLocks xmlns:a="http://schemas.openxmlformats.org/drawingml/2006/main" noGrp="1"/>
          </p:cNvSpPr>
          <p:nvPr/>
        </p:nvSpPr>
        <p:spPr>
          <a:xfrm xmlns:a="http://schemas.openxmlformats.org/drawingml/2006/main">
            <a:off x="457200" y="5429250"/>
            <a:ext cx="10763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0">
                <a:solidFill>
                  <a:srgbClr val="59616B"/>
                </a:solidFill>
                <a:latin typeface="Arial"/>
                <a:ea typeface="Arial"/>
                <a:cs typeface="Arial"/>
              </a:defRPr>
            </a:pPr>
            <a:r>
              <a:rPr sz="1800" b="0">
                <a:solidFill>
                  <a:srgbClr val="59616B"/>
                </a:solidFill>
                <a:latin typeface="Arial"/>
                <a:ea typeface="Arial"/>
                <a:cs typeface="Arial"/>
              </a:rPr>
              <a:t>Educational goal: isolate the impact of representation, architecture, and augmentation without transfer learning.</a:t>
            </a:r>
          </a:p>
        </p:txBody>
      </p:sp>
    </p:spTree>
    <p:extLst>
      <p:ext uri="{BB962C8B-B14F-4D97-AF65-F5344CB8AC3E}">
        <p14:creationId xmlns:p14="http://schemas.microsoft.com/office/powerpoint/2010/main" val="88558445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18A8425-07E6-42C1-8221-B8D84FCCCF36}"/>
              </a:ext>
            </a:extLst>
          </p:cNvPr>
          <p:cNvSpPr>
            <a:spLocks xmlns:a="http://schemas.openxmlformats.org/drawingml/2006/main" noGrp="1"/>
          </p:cNvSpPr>
          <p:nvPr/>
        </p:nvSpPr>
        <p:spPr>
          <a:xfrm xmlns:a="http://schemas.openxmlformats.org/drawingml/2006/main">
            <a:off x="457200" y="23812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59616B"/>
                </a:solidFill>
                <a:latin typeface="Arial"/>
                <a:ea typeface="Arial"/>
                <a:cs typeface="Arial"/>
              </a:defRPr>
            </a:pPr>
            <a:r>
              <a:rPr sz="1200" b="1">
                <a:solidFill>
                  <a:srgbClr val="59616B"/>
                </a:solidFill>
                <a:latin typeface="Arial"/>
                <a:ea typeface="Arial"/>
                <a:cs typeface="Arial"/>
              </a:rPr>
              <a:t>SPEECH COMMANDS</a:t>
            </a:r>
          </a:p>
        </p:txBody>
      </p:sp>
      <p:sp>
        <p:nvSpPr>
          <p:cNvPr id="2" name="slide-3-title">
            <a:extLst xmlns:a="http://schemas.openxmlformats.org/drawingml/2006/main">
              <a:ext uri="{FF2B5EF4-FFF2-40B4-BE49-F238E27FC236}">
                <a16:creationId xmlns:a16="http://schemas.microsoft.com/office/drawing/2014/main" id="{C175A9B3-E788-488B-AEB6-E085047EA7A3}"/>
              </a:ext>
            </a:extLst>
          </p:cNvPr>
          <p:cNvSpPr>
            <a:spLocks xmlns:a="http://schemas.openxmlformats.org/drawingml/2006/main" noGrp="1"/>
          </p:cNvSpPr>
          <p:nvPr/>
        </p:nvSpPr>
        <p:spPr>
          <a:xfrm xmlns:a="http://schemas.openxmlformats.org/drawingml/2006/main">
            <a:off x="457200" y="5143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000000"/>
                </a:solidFill>
                <a:latin typeface="Arial"/>
                <a:ea typeface="Arial"/>
                <a:cs typeface="Arial"/>
              </a:defRPr>
            </a:pPr>
            <a:r>
              <a:rPr sz="3600" b="1">
                <a:solidFill>
                  <a:srgbClr val="000000"/>
                </a:solidFill>
                <a:latin typeface="Arial"/>
                <a:ea typeface="Arial"/>
                <a:cs typeface="Arial"/>
              </a:rPr>
              <a:t>Balanced modeling preserves the raw audit</a:t>
            </a:r>
          </a:p>
        </p:txBody>
      </p:sp>
      <p:sp>
        <p:nvSpPr>
          <p:cNvPr id="3" name="">
            <a:extLst xmlns:a="http://schemas.openxmlformats.org/drawingml/2006/main">
              <a:ext uri="{FF2B5EF4-FFF2-40B4-BE49-F238E27FC236}">
                <a16:creationId xmlns:a16="http://schemas.microsoft.com/office/drawing/2014/main" id="{4138ECF5-91C2-4850-8EFB-91E0DE0ADC44}"/>
              </a:ext>
            </a:extLst>
          </p:cNvPr>
          <p:cNvSpPr>
            <a:spLocks xmlns:a="http://schemas.openxmlformats.org/drawingml/2006/main" noGrp="1"/>
          </p:cNvSpPr>
          <p:nvPr/>
        </p:nvSpPr>
        <p:spPr>
          <a:xfrm xmlns:a="http://schemas.openxmlformats.org/drawingml/2006/main">
            <a:off x="1123950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59616B"/>
                </a:solidFill>
                <a:latin typeface="Arial"/>
                <a:ea typeface="Arial"/>
                <a:cs typeface="Arial"/>
              </a:defRPr>
            </a:pPr>
            <a:r>
              <a:rPr sz="1050" b="0">
                <a:solidFill>
                  <a:srgbClr val="59616B"/>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1B6AFE12-4E9F-44CF-BD46-149FEA537E0A}"/>
              </a:ext>
            </a:extLst>
          </p:cNvPr>
          <p:cNvSpPr>
            <a:spLocks xmlns:a="http://schemas.openxmlformats.org/drawingml/2006/main" noGrp="1"/>
          </p:cNvSpPr>
          <p:nvPr/>
        </p:nvSpPr>
        <p:spPr>
          <a:xfrm xmlns:a="http://schemas.openxmlformats.org/drawingml/2006/main">
            <a:off x="457200" y="1381125"/>
            <a:ext cx="2857500" cy="1809750"/>
          </a:xfrm>
          <a:prstGeom xmlns:a="http://schemas.openxmlformats.org/drawingml/2006/main" prst="rect">
            <a:avLst/>
          </a:prstGeom>
          <a:solidFill xmlns:a="http://schemas.openxmlformats.org/drawingml/2006/main">
            <a:srgbClr val="F2F2F2"/>
          </a:solidFill>
          <a:ln xmlns:a="http://schemas.openxmlformats.org/drawingml/2006/main" w="0">
            <a:solidFill>
              <a:srgbClr val="F2F2F2"/>
            </a:solidFill>
            <a:prstDash val="solid"/>
          </a:ln>
        </p:spPr>
      </p:sp>
      <p:sp>
        <p:nvSpPr>
          <p:cNvPr id="5" name="">
            <a:extLst xmlns:a="http://schemas.openxmlformats.org/drawingml/2006/main">
              <a:ext uri="{FF2B5EF4-FFF2-40B4-BE49-F238E27FC236}">
                <a16:creationId xmlns:a16="http://schemas.microsoft.com/office/drawing/2014/main" id="{546E5DFF-B774-4CAF-AEBC-262D506A2D00}"/>
              </a:ext>
            </a:extLst>
          </p:cNvPr>
          <p:cNvSpPr>
            <a:spLocks xmlns:a="http://schemas.openxmlformats.org/drawingml/2006/main" noGrp="1"/>
          </p:cNvSpPr>
          <p:nvPr/>
        </p:nvSpPr>
        <p:spPr>
          <a:xfrm xmlns:a="http://schemas.openxmlformats.org/drawingml/2006/main">
            <a:off x="457200" y="1381125"/>
            <a:ext cx="2857500" cy="0"/>
          </a:xfrm>
          <a:prstGeom xmlns:a="http://schemas.openxmlformats.org/drawingml/2006/main" prst="line">
            <a:avLst/>
          </a:prstGeom>
          <a:noFill xmlns:a="http://schemas.openxmlformats.org/drawingml/2006/main"/>
          <a:ln xmlns:a="http://schemas.openxmlformats.org/drawingml/2006/main" w="66675">
            <a:solidFill>
              <a:srgbClr val="3D8DFF"/>
            </a:solidFill>
            <a:prstDash val="solid"/>
          </a:ln>
        </p:spPr>
      </p:sp>
      <p:sp>
        <p:nvSpPr>
          <p:cNvPr id="6" name="">
            <a:extLst xmlns:a="http://schemas.openxmlformats.org/drawingml/2006/main">
              <a:ext uri="{FF2B5EF4-FFF2-40B4-BE49-F238E27FC236}">
                <a16:creationId xmlns:a16="http://schemas.microsoft.com/office/drawing/2014/main" id="{5C63C725-68EA-4D0E-9798-1E6315939949}"/>
              </a:ext>
            </a:extLst>
          </p:cNvPr>
          <p:cNvSpPr>
            <a:spLocks xmlns:a="http://schemas.openxmlformats.org/drawingml/2006/main" noGrp="1"/>
          </p:cNvSpPr>
          <p:nvPr/>
        </p:nvSpPr>
        <p:spPr>
          <a:xfrm xmlns:a="http://schemas.openxmlformats.org/drawingml/2006/main">
            <a:off x="685800" y="1685925"/>
            <a:ext cx="2400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900" b="1">
                <a:solidFill>
                  <a:srgbClr val="000000"/>
                </a:solidFill>
                <a:latin typeface="Arial"/>
                <a:ea typeface="Arial"/>
                <a:cs typeface="Arial"/>
              </a:defRPr>
            </a:pPr>
            <a:r>
              <a:rPr sz="3900" b="1">
                <a:solidFill>
                  <a:srgbClr val="000000"/>
                </a:solidFill>
                <a:latin typeface="Arial"/>
                <a:ea typeface="Arial"/>
                <a:cs typeface="Arial"/>
              </a:rPr>
              <a:t>64,721</a:t>
            </a:r>
          </a:p>
        </p:txBody>
      </p:sp>
      <p:sp>
        <p:nvSpPr>
          <p:cNvPr id="7" name="">
            <a:extLst xmlns:a="http://schemas.openxmlformats.org/drawingml/2006/main">
              <a:ext uri="{FF2B5EF4-FFF2-40B4-BE49-F238E27FC236}">
                <a16:creationId xmlns:a16="http://schemas.microsoft.com/office/drawing/2014/main" id="{F5EF6155-FF3F-4695-B02E-B4EFF1C1328C}"/>
              </a:ext>
            </a:extLst>
          </p:cNvPr>
          <p:cNvSpPr>
            <a:spLocks xmlns:a="http://schemas.openxmlformats.org/drawingml/2006/main" noGrp="1"/>
          </p:cNvSpPr>
          <p:nvPr/>
        </p:nvSpPr>
        <p:spPr>
          <a:xfrm xmlns:a="http://schemas.openxmlformats.org/drawingml/2006/main">
            <a:off x="685800" y="2447925"/>
            <a:ext cx="24003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9616B"/>
                </a:solidFill>
                <a:latin typeface="Arial"/>
                <a:ea typeface="Arial"/>
                <a:cs typeface="Arial"/>
              </a:defRPr>
            </a:pPr>
            <a:r>
              <a:rPr sz="1650" b="0">
                <a:solidFill>
                  <a:srgbClr val="59616B"/>
                </a:solidFill>
                <a:latin typeface="Arial"/>
                <a:ea typeface="Arial"/>
                <a:cs typeface="Arial"/>
              </a:rPr>
              <a:t>spoken clips in the raw audit</a:t>
            </a:r>
          </a:p>
        </p:txBody>
      </p:sp>
      <p:sp>
        <p:nvSpPr>
          <p:cNvPr id="8" name="">
            <a:extLst xmlns:a="http://schemas.openxmlformats.org/drawingml/2006/main">
              <a:ext uri="{FF2B5EF4-FFF2-40B4-BE49-F238E27FC236}">
                <a16:creationId xmlns:a16="http://schemas.microsoft.com/office/drawing/2014/main" id="{05B996C6-AEF4-46B8-BA61-51E9C8F4D2FC}"/>
              </a:ext>
            </a:extLst>
          </p:cNvPr>
          <p:cNvSpPr>
            <a:spLocks xmlns:a="http://schemas.openxmlformats.org/drawingml/2006/main" noGrp="1"/>
          </p:cNvSpPr>
          <p:nvPr/>
        </p:nvSpPr>
        <p:spPr>
          <a:xfrm xmlns:a="http://schemas.openxmlformats.org/drawingml/2006/main">
            <a:off x="457200" y="3381375"/>
            <a:ext cx="2857500" cy="1809750"/>
          </a:xfrm>
          <a:prstGeom xmlns:a="http://schemas.openxmlformats.org/drawingml/2006/main" prst="rect">
            <a:avLst/>
          </a:prstGeom>
          <a:solidFill xmlns:a="http://schemas.openxmlformats.org/drawingml/2006/main">
            <a:srgbClr val="F2F2F2"/>
          </a:solidFill>
          <a:ln xmlns:a="http://schemas.openxmlformats.org/drawingml/2006/main" w="0">
            <a:solidFill>
              <a:srgbClr val="F2F2F2"/>
            </a:solidFill>
            <a:prstDash val="solid"/>
          </a:ln>
        </p:spPr>
      </p:sp>
      <p:sp>
        <p:nvSpPr>
          <p:cNvPr id="9" name="">
            <a:extLst xmlns:a="http://schemas.openxmlformats.org/drawingml/2006/main">
              <a:ext uri="{FF2B5EF4-FFF2-40B4-BE49-F238E27FC236}">
                <a16:creationId xmlns:a16="http://schemas.microsoft.com/office/drawing/2014/main" id="{2C6AD4E8-7A91-446B-AE81-85B4CFCBBA7C}"/>
              </a:ext>
            </a:extLst>
          </p:cNvPr>
          <p:cNvSpPr>
            <a:spLocks xmlns:a="http://schemas.openxmlformats.org/drawingml/2006/main" noGrp="1"/>
          </p:cNvSpPr>
          <p:nvPr/>
        </p:nvSpPr>
        <p:spPr>
          <a:xfrm xmlns:a="http://schemas.openxmlformats.org/drawingml/2006/main">
            <a:off x="457200" y="3381375"/>
            <a:ext cx="2857500" cy="0"/>
          </a:xfrm>
          <a:prstGeom xmlns:a="http://schemas.openxmlformats.org/drawingml/2006/main" prst="line">
            <a:avLst/>
          </a:prstGeom>
          <a:noFill xmlns:a="http://schemas.openxmlformats.org/drawingml/2006/main"/>
          <a:ln xmlns:a="http://schemas.openxmlformats.org/drawingml/2006/main" w="66675">
            <a:solidFill>
              <a:srgbClr val="7B2CBF"/>
            </a:solidFill>
            <a:prstDash val="solid"/>
          </a:ln>
        </p:spPr>
      </p:sp>
      <p:sp>
        <p:nvSpPr>
          <p:cNvPr id="10" name="">
            <a:extLst xmlns:a="http://schemas.openxmlformats.org/drawingml/2006/main">
              <a:ext uri="{FF2B5EF4-FFF2-40B4-BE49-F238E27FC236}">
                <a16:creationId xmlns:a16="http://schemas.microsoft.com/office/drawing/2014/main" id="{7443686B-C6F0-41D1-9D1B-18AF5CA0B570}"/>
              </a:ext>
            </a:extLst>
          </p:cNvPr>
          <p:cNvSpPr>
            <a:spLocks xmlns:a="http://schemas.openxmlformats.org/drawingml/2006/main" noGrp="1"/>
          </p:cNvSpPr>
          <p:nvPr/>
        </p:nvSpPr>
        <p:spPr>
          <a:xfrm xmlns:a="http://schemas.openxmlformats.org/drawingml/2006/main">
            <a:off x="685800" y="3686175"/>
            <a:ext cx="2400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900" b="1">
                <a:solidFill>
                  <a:srgbClr val="000000"/>
                </a:solidFill>
                <a:latin typeface="Arial"/>
                <a:ea typeface="Arial"/>
                <a:cs typeface="Arial"/>
              </a:defRPr>
            </a:pPr>
            <a:r>
              <a:rPr sz="3900" b="1">
                <a:solidFill>
                  <a:srgbClr val="000000"/>
                </a:solidFill>
                <a:latin typeface="Arial"/>
                <a:ea typeface="Arial"/>
                <a:cs typeface="Arial"/>
              </a:rPr>
              <a:t>1,881</a:t>
            </a:r>
          </a:p>
        </p:txBody>
      </p:sp>
      <p:sp>
        <p:nvSpPr>
          <p:cNvPr id="11" name="">
            <a:extLst xmlns:a="http://schemas.openxmlformats.org/drawingml/2006/main">
              <a:ext uri="{FF2B5EF4-FFF2-40B4-BE49-F238E27FC236}">
                <a16:creationId xmlns:a16="http://schemas.microsoft.com/office/drawing/2014/main" id="{F9D67808-10C5-4E40-AA17-EC319DED3BF4}"/>
              </a:ext>
            </a:extLst>
          </p:cNvPr>
          <p:cNvSpPr>
            <a:spLocks xmlns:a="http://schemas.openxmlformats.org/drawingml/2006/main" noGrp="1"/>
          </p:cNvSpPr>
          <p:nvPr/>
        </p:nvSpPr>
        <p:spPr>
          <a:xfrm xmlns:a="http://schemas.openxmlformats.org/drawingml/2006/main">
            <a:off x="685800" y="4448175"/>
            <a:ext cx="24003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9616B"/>
                </a:solidFill>
                <a:latin typeface="Arial"/>
                <a:ea typeface="Arial"/>
                <a:cs typeface="Arial"/>
              </a:defRPr>
            </a:pPr>
            <a:r>
              <a:rPr sz="1650" b="0">
                <a:solidFill>
                  <a:srgbClr val="59616B"/>
                </a:solidFill>
                <a:latin typeface="Arial"/>
                <a:ea typeface="Arial"/>
                <a:cs typeface="Arial"/>
              </a:rPr>
              <a:t>anonymized speakers</a:t>
            </a:r>
          </a:p>
        </p:txBody>
      </p:sp>
      <p:sp>
        <p:nvSpPr>
          <p:cNvPr id="12" name="">
            <a:extLst xmlns:a="http://schemas.openxmlformats.org/drawingml/2006/main">
              <a:ext uri="{FF2B5EF4-FFF2-40B4-BE49-F238E27FC236}">
                <a16:creationId xmlns:a16="http://schemas.microsoft.com/office/drawing/2014/main" id="{1A7508FF-0199-4E76-A006-15129C8ED0BE}"/>
              </a:ext>
            </a:extLst>
          </p:cNvPr>
          <p:cNvSpPr>
            <a:spLocks xmlns:a="http://schemas.openxmlformats.org/drawingml/2006/main" noGrp="1"/>
          </p:cNvSpPr>
          <p:nvPr/>
        </p:nvSpPr>
        <p:spPr>
          <a:xfrm xmlns:a="http://schemas.openxmlformats.org/drawingml/2006/main">
            <a:off x="3714750" y="1381125"/>
            <a:ext cx="666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28,420 modeled examples</a:t>
            </a:r>
          </a:p>
        </p:txBody>
      </p:sp>
      <p:sp>
        <p:nvSpPr>
          <p:cNvPr id="13" name="">
            <a:extLst xmlns:a="http://schemas.openxmlformats.org/drawingml/2006/main">
              <a:ext uri="{FF2B5EF4-FFF2-40B4-BE49-F238E27FC236}">
                <a16:creationId xmlns:a16="http://schemas.microsoft.com/office/drawing/2014/main" id="{75BB6D40-F2BE-401B-881B-AB36722FA83E}"/>
              </a:ext>
            </a:extLst>
          </p:cNvPr>
          <p:cNvSpPr>
            <a:spLocks xmlns:a="http://schemas.openxmlformats.org/drawingml/2006/main" noGrp="1"/>
          </p:cNvSpPr>
          <p:nvPr/>
        </p:nvSpPr>
        <p:spPr>
          <a:xfrm xmlns:a="http://schemas.openxmlformats.org/drawingml/2006/main">
            <a:off x="3714750" y="1952625"/>
            <a:ext cx="7524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9616B"/>
                </a:solidFill>
                <a:latin typeface="Arial"/>
                <a:ea typeface="Arial"/>
                <a:cs typeface="Arial"/>
              </a:defRPr>
            </a:pPr>
            <a:r>
              <a:rPr sz="1650" b="0">
                <a:solidFill>
                  <a:srgbClr val="59616B"/>
                </a:solidFill>
                <a:latin typeface="Arial"/>
                <a:ea typeface="Arial"/>
                <a:cs typeface="Arial"/>
              </a:rPr>
              <a:t>Each class contains the same deterministic unknown and silence proportions across the official splits.</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c2fea50c046946b4"/>
          <a:stretch xmlns:a="http://schemas.openxmlformats.org/drawingml/2006/main"/>
        </p:blipFill>
        <p:spPr>
          <a:xfrm xmlns:a="http://schemas.openxmlformats.org/drawingml/2006/main">
            <a:off x="4315691" y="2714625"/>
            <a:ext cx="6418118" cy="3238500"/>
          </a:xfrm>
          <a:prstGeom xmlns:a="http://schemas.openxmlformats.org/drawingml/2006/main" prst="rect">
            <a:avLst/>
          </a:prstGeom>
        </p:spPr>
      </p:pic>
    </p:spTree>
    <p:extLst>
      <p:ext uri="{BB962C8B-B14F-4D97-AF65-F5344CB8AC3E}">
        <p14:creationId xmlns:p14="http://schemas.microsoft.com/office/powerpoint/2010/main" val="184085606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ACCD06A-02D7-4311-BDE8-E199988638CB}"/>
              </a:ext>
            </a:extLst>
          </p:cNvPr>
          <p:cNvSpPr>
            <a:spLocks xmlns:a="http://schemas.openxmlformats.org/drawingml/2006/main" noGrp="1"/>
          </p:cNvSpPr>
          <p:nvPr/>
        </p:nvSpPr>
        <p:spPr>
          <a:xfrm xmlns:a="http://schemas.openxmlformats.org/drawingml/2006/main">
            <a:off x="457200" y="23812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59616B"/>
                </a:solidFill>
                <a:latin typeface="Arial"/>
                <a:ea typeface="Arial"/>
                <a:cs typeface="Arial"/>
              </a:defRPr>
            </a:pPr>
            <a:r>
              <a:rPr sz="1200" b="1">
                <a:solidFill>
                  <a:srgbClr val="59616B"/>
                </a:solidFill>
                <a:latin typeface="Arial"/>
                <a:ea typeface="Arial"/>
                <a:cs typeface="Arial"/>
              </a:rPr>
              <a:t>SPEECH COMMANDS</a:t>
            </a:r>
          </a:p>
        </p:txBody>
      </p:sp>
      <p:sp>
        <p:nvSpPr>
          <p:cNvPr id="2" name="slide-4-title">
            <a:extLst xmlns:a="http://schemas.openxmlformats.org/drawingml/2006/main">
              <a:ext uri="{FF2B5EF4-FFF2-40B4-BE49-F238E27FC236}">
                <a16:creationId xmlns:a16="http://schemas.microsoft.com/office/drawing/2014/main" id="{58E25436-EB78-4C3F-A171-CF3406235254}"/>
              </a:ext>
            </a:extLst>
          </p:cNvPr>
          <p:cNvSpPr>
            <a:spLocks xmlns:a="http://schemas.openxmlformats.org/drawingml/2006/main" noGrp="1"/>
          </p:cNvSpPr>
          <p:nvPr/>
        </p:nvSpPr>
        <p:spPr>
          <a:xfrm xmlns:a="http://schemas.openxmlformats.org/drawingml/2006/main">
            <a:off x="457200" y="5143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000000"/>
                </a:solidFill>
                <a:latin typeface="Arial"/>
                <a:ea typeface="Arial"/>
                <a:cs typeface="Arial"/>
              </a:defRPr>
            </a:pPr>
            <a:r>
              <a:rPr sz="3600" b="1">
                <a:solidFill>
                  <a:srgbClr val="000000"/>
                </a:solidFill>
                <a:latin typeface="Arial"/>
                <a:ea typeface="Arial"/>
                <a:cs typeface="Arial"/>
              </a:rPr>
              <a:t>Clip length is stable; signal energy is not</a:t>
            </a:r>
          </a:p>
        </p:txBody>
      </p:sp>
      <p:sp>
        <p:nvSpPr>
          <p:cNvPr id="3" name="">
            <a:extLst xmlns:a="http://schemas.openxmlformats.org/drawingml/2006/main">
              <a:ext uri="{FF2B5EF4-FFF2-40B4-BE49-F238E27FC236}">
                <a16:creationId xmlns:a16="http://schemas.microsoft.com/office/drawing/2014/main" id="{7B1EE2DD-5F1D-4ED4-B83E-883EA6711EFA}"/>
              </a:ext>
            </a:extLst>
          </p:cNvPr>
          <p:cNvSpPr>
            <a:spLocks xmlns:a="http://schemas.openxmlformats.org/drawingml/2006/main" noGrp="1"/>
          </p:cNvSpPr>
          <p:nvPr/>
        </p:nvSpPr>
        <p:spPr>
          <a:xfrm xmlns:a="http://schemas.openxmlformats.org/drawingml/2006/main">
            <a:off x="1123950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59616B"/>
                </a:solidFill>
                <a:latin typeface="Arial"/>
                <a:ea typeface="Arial"/>
                <a:cs typeface="Arial"/>
              </a:defRPr>
            </a:pPr>
            <a:r>
              <a:rPr sz="1050" b="0">
                <a:solidFill>
                  <a:srgbClr val="59616B"/>
                </a:solidFill>
                <a:latin typeface="Arial"/>
                <a:ea typeface="Arial"/>
                <a:cs typeface="Arial"/>
              </a:rPr>
              <a:t>04</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3f0dc9b68be43d2"/>
          <a:stretch xmlns:a="http://schemas.openxmlformats.org/drawingml/2006/main"/>
        </p:blipFill>
        <p:spPr>
          <a:xfrm xmlns:a="http://schemas.openxmlformats.org/drawingml/2006/main">
            <a:off x="506896" y="1381125"/>
            <a:ext cx="11044859" cy="4000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A5D7BAA-556F-4EFE-9ED5-49FD6C999F56}"/>
              </a:ext>
            </a:extLst>
          </p:cNvPr>
          <p:cNvSpPr>
            <a:spLocks xmlns:a="http://schemas.openxmlformats.org/drawingml/2006/main" noGrp="1"/>
          </p:cNvSpPr>
          <p:nvPr/>
        </p:nvSpPr>
        <p:spPr>
          <a:xfrm xmlns:a="http://schemas.openxmlformats.org/drawingml/2006/main">
            <a:off x="457200" y="557212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EDA implication</a:t>
            </a:r>
          </a:p>
        </p:txBody>
      </p:sp>
      <p:sp>
        <p:nvSpPr>
          <p:cNvPr id="6" name="">
            <a:extLst xmlns:a="http://schemas.openxmlformats.org/drawingml/2006/main">
              <a:ext uri="{FF2B5EF4-FFF2-40B4-BE49-F238E27FC236}">
                <a16:creationId xmlns:a16="http://schemas.microsoft.com/office/drawing/2014/main" id="{0312D03A-878E-4F66-8BF3-2072E204B0F9}"/>
              </a:ext>
            </a:extLst>
          </p:cNvPr>
          <p:cNvSpPr>
            <a:spLocks xmlns:a="http://schemas.openxmlformats.org/drawingml/2006/main" noGrp="1"/>
          </p:cNvSpPr>
          <p:nvPr/>
        </p:nvSpPr>
        <p:spPr>
          <a:xfrm xmlns:a="http://schemas.openxmlformats.org/drawingml/2006/main">
            <a:off x="2714625" y="5543550"/>
            <a:ext cx="857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000000"/>
                </a:solidFill>
                <a:latin typeface="Arial"/>
                <a:ea typeface="Arial"/>
                <a:cs typeface="Arial"/>
              </a:defRPr>
            </a:pPr>
            <a:r>
              <a:rPr sz="1650" b="0">
                <a:solidFill>
                  <a:srgbClr val="000000"/>
                </a:solidFill>
                <a:latin typeface="Arial"/>
                <a:ea typeface="Arial"/>
                <a:cs typeface="Arial"/>
              </a:rPr>
              <a:t>Pad or trim to 16,000 samples; normalize on training data only; augment amplitude, time position, and background noise.</a:t>
            </a:r>
          </a:p>
        </p:txBody>
      </p:sp>
    </p:spTree>
    <p:extLst>
      <p:ext uri="{BB962C8B-B14F-4D97-AF65-F5344CB8AC3E}">
        <p14:creationId xmlns:p14="http://schemas.microsoft.com/office/powerpoint/2010/main" val="97072147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ABF5A49-FF1A-4413-A958-C1E95736A7C0}"/>
              </a:ext>
            </a:extLst>
          </p:cNvPr>
          <p:cNvSpPr>
            <a:spLocks xmlns:a="http://schemas.openxmlformats.org/drawingml/2006/main" noGrp="1"/>
          </p:cNvSpPr>
          <p:nvPr/>
        </p:nvSpPr>
        <p:spPr>
          <a:xfrm xmlns:a="http://schemas.openxmlformats.org/drawingml/2006/main">
            <a:off x="457200" y="23812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59616B"/>
                </a:solidFill>
                <a:latin typeface="Arial"/>
                <a:ea typeface="Arial"/>
                <a:cs typeface="Arial"/>
              </a:defRPr>
            </a:pPr>
            <a:r>
              <a:rPr sz="1200" b="1">
                <a:solidFill>
                  <a:srgbClr val="59616B"/>
                </a:solidFill>
                <a:latin typeface="Arial"/>
                <a:ea typeface="Arial"/>
                <a:cs typeface="Arial"/>
              </a:rPr>
              <a:t>SPEECH COMMANDS</a:t>
            </a:r>
          </a:p>
        </p:txBody>
      </p:sp>
      <p:sp>
        <p:nvSpPr>
          <p:cNvPr id="2" name="slide-5-title">
            <a:extLst xmlns:a="http://schemas.openxmlformats.org/drawingml/2006/main">
              <a:ext uri="{FF2B5EF4-FFF2-40B4-BE49-F238E27FC236}">
                <a16:creationId xmlns:a16="http://schemas.microsoft.com/office/drawing/2014/main" id="{C652C637-64E5-4E76-9A1D-FA57AB340A6D}"/>
              </a:ext>
            </a:extLst>
          </p:cNvPr>
          <p:cNvSpPr>
            <a:spLocks xmlns:a="http://schemas.openxmlformats.org/drawingml/2006/main" noGrp="1"/>
          </p:cNvSpPr>
          <p:nvPr/>
        </p:nvSpPr>
        <p:spPr>
          <a:xfrm xmlns:a="http://schemas.openxmlformats.org/drawingml/2006/main">
            <a:off x="457200" y="5143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000000"/>
                </a:solidFill>
                <a:latin typeface="Arial"/>
                <a:ea typeface="Arial"/>
                <a:cs typeface="Arial"/>
              </a:defRPr>
            </a:pPr>
            <a:r>
              <a:rPr sz="3600" b="1">
                <a:solidFill>
                  <a:srgbClr val="000000"/>
                </a:solidFill>
                <a:latin typeface="Arial"/>
                <a:ea typeface="Arial"/>
                <a:cs typeface="Arial"/>
              </a:rPr>
              <a:t>Speaker identity never crosses a split</a:t>
            </a:r>
          </a:p>
        </p:txBody>
      </p:sp>
      <p:sp>
        <p:nvSpPr>
          <p:cNvPr id="3" name="">
            <a:extLst xmlns:a="http://schemas.openxmlformats.org/drawingml/2006/main">
              <a:ext uri="{FF2B5EF4-FFF2-40B4-BE49-F238E27FC236}">
                <a16:creationId xmlns:a16="http://schemas.microsoft.com/office/drawing/2014/main" id="{A0B9E74E-E586-4EB8-A156-77BE6F5E51FC}"/>
              </a:ext>
            </a:extLst>
          </p:cNvPr>
          <p:cNvSpPr>
            <a:spLocks xmlns:a="http://schemas.openxmlformats.org/drawingml/2006/main" noGrp="1"/>
          </p:cNvSpPr>
          <p:nvPr/>
        </p:nvSpPr>
        <p:spPr>
          <a:xfrm xmlns:a="http://schemas.openxmlformats.org/drawingml/2006/main">
            <a:off x="1123950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59616B"/>
                </a:solidFill>
                <a:latin typeface="Arial"/>
                <a:ea typeface="Arial"/>
                <a:cs typeface="Arial"/>
              </a:defRPr>
            </a:pPr>
            <a:r>
              <a:rPr sz="1050" b="0">
                <a:solidFill>
                  <a:srgbClr val="59616B"/>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B9E3181B-EE02-41D0-86CD-065BB84A6DBB}"/>
              </a:ext>
            </a:extLst>
          </p:cNvPr>
          <p:cNvSpPr>
            <a:spLocks xmlns:a="http://schemas.openxmlformats.org/drawingml/2006/main" noGrp="1"/>
          </p:cNvSpPr>
          <p:nvPr/>
        </p:nvSpPr>
        <p:spPr>
          <a:xfrm xmlns:a="http://schemas.openxmlformats.org/drawingml/2006/main">
            <a:off x="457200" y="1238250"/>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0">
                <a:solidFill>
                  <a:srgbClr val="59616B"/>
                </a:solidFill>
                <a:latin typeface="Arial"/>
                <a:ea typeface="Arial"/>
                <a:cs typeface="Arial"/>
              </a:defRPr>
            </a:pPr>
            <a:r>
              <a:rPr sz="1800" b="0">
                <a:solidFill>
                  <a:srgbClr val="59616B"/>
                </a:solidFill>
                <a:latin typeface="Arial"/>
                <a:ea typeface="Arial"/>
                <a:cs typeface="Arial"/>
              </a:rPr>
              <a:t>Official lists define validation and test; all remaining speakers form training. Silence windows are also non-overlapping across splits.</a:t>
            </a:r>
          </a:p>
        </p:txBody>
      </p:sp>
      <p:sp>
        <p:nvSpPr>
          <p:cNvPr id="5" name="">
            <a:extLst xmlns:a="http://schemas.openxmlformats.org/drawingml/2006/main">
              <a:ext uri="{FF2B5EF4-FFF2-40B4-BE49-F238E27FC236}">
                <a16:creationId xmlns:a16="http://schemas.microsoft.com/office/drawing/2014/main" id="{C4514BB3-C7BA-4306-A25C-13F9BAE26523}"/>
              </a:ext>
            </a:extLst>
          </p:cNvPr>
          <p:cNvSpPr>
            <a:spLocks xmlns:a="http://schemas.openxmlformats.org/drawingml/2006/main" noGrp="1"/>
          </p:cNvSpPr>
          <p:nvPr/>
        </p:nvSpPr>
        <p:spPr>
          <a:xfrm xmlns:a="http://schemas.openxmlformats.org/drawingml/2006/main">
            <a:off x="457200" y="2333625"/>
            <a:ext cx="3333750" cy="1809750"/>
          </a:xfrm>
          <a:prstGeom xmlns:a="http://schemas.openxmlformats.org/drawingml/2006/main" prst="rect">
            <a:avLst/>
          </a:prstGeom>
          <a:solidFill xmlns:a="http://schemas.openxmlformats.org/drawingml/2006/main">
            <a:srgbClr val="F2F2F2"/>
          </a:solidFill>
          <a:ln xmlns:a="http://schemas.openxmlformats.org/drawingml/2006/main" w="0">
            <a:solidFill>
              <a:srgbClr val="F2F2F2"/>
            </a:solidFill>
            <a:prstDash val="solid"/>
          </a:ln>
        </p:spPr>
      </p:sp>
      <p:sp>
        <p:nvSpPr>
          <p:cNvPr id="6" name="">
            <a:extLst xmlns:a="http://schemas.openxmlformats.org/drawingml/2006/main">
              <a:ext uri="{FF2B5EF4-FFF2-40B4-BE49-F238E27FC236}">
                <a16:creationId xmlns:a16="http://schemas.microsoft.com/office/drawing/2014/main" id="{F1CA1791-71AF-434D-9E1F-C46D3F8DE4D5}"/>
              </a:ext>
            </a:extLst>
          </p:cNvPr>
          <p:cNvSpPr>
            <a:spLocks xmlns:a="http://schemas.openxmlformats.org/drawingml/2006/main" noGrp="1"/>
          </p:cNvSpPr>
          <p:nvPr/>
        </p:nvSpPr>
        <p:spPr>
          <a:xfrm xmlns:a="http://schemas.openxmlformats.org/drawingml/2006/main">
            <a:off x="457200" y="2333625"/>
            <a:ext cx="3333750" cy="0"/>
          </a:xfrm>
          <a:prstGeom xmlns:a="http://schemas.openxmlformats.org/drawingml/2006/main" prst="line">
            <a:avLst/>
          </a:prstGeom>
          <a:noFill xmlns:a="http://schemas.openxmlformats.org/drawingml/2006/main"/>
          <a:ln xmlns:a="http://schemas.openxmlformats.org/drawingml/2006/main" w="66675">
            <a:solidFill>
              <a:srgbClr val="3D8DFF"/>
            </a:solidFill>
            <a:prstDash val="solid"/>
          </a:ln>
        </p:spPr>
      </p:sp>
      <p:sp>
        <p:nvSpPr>
          <p:cNvPr id="7" name="">
            <a:extLst xmlns:a="http://schemas.openxmlformats.org/drawingml/2006/main">
              <a:ext uri="{FF2B5EF4-FFF2-40B4-BE49-F238E27FC236}">
                <a16:creationId xmlns:a16="http://schemas.microsoft.com/office/drawing/2014/main" id="{CB06A554-BE78-4046-AE90-51E8C53CBBDA}"/>
              </a:ext>
            </a:extLst>
          </p:cNvPr>
          <p:cNvSpPr>
            <a:spLocks xmlns:a="http://schemas.openxmlformats.org/drawingml/2006/main" noGrp="1"/>
          </p:cNvSpPr>
          <p:nvPr/>
        </p:nvSpPr>
        <p:spPr>
          <a:xfrm xmlns:a="http://schemas.openxmlformats.org/drawingml/2006/main">
            <a:off x="685800" y="2638425"/>
            <a:ext cx="28765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900" b="1">
                <a:solidFill>
                  <a:srgbClr val="000000"/>
                </a:solidFill>
                <a:latin typeface="Arial"/>
                <a:ea typeface="Arial"/>
                <a:cs typeface="Arial"/>
              </a:defRPr>
            </a:pPr>
            <a:r>
              <a:rPr sz="3900" b="1">
                <a:solidFill>
                  <a:srgbClr val="000000"/>
                </a:solidFill>
                <a:latin typeface="Arial"/>
                <a:ea typeface="Arial"/>
                <a:cs typeface="Arial"/>
              </a:rPr>
              <a:t>22,246</a:t>
            </a:r>
          </a:p>
        </p:txBody>
      </p:sp>
      <p:sp>
        <p:nvSpPr>
          <p:cNvPr id="8" name="">
            <a:extLst xmlns:a="http://schemas.openxmlformats.org/drawingml/2006/main">
              <a:ext uri="{FF2B5EF4-FFF2-40B4-BE49-F238E27FC236}">
                <a16:creationId xmlns:a16="http://schemas.microsoft.com/office/drawing/2014/main" id="{3A05C88F-8BCF-43D9-B080-87B5285D85A2}"/>
              </a:ext>
            </a:extLst>
          </p:cNvPr>
          <p:cNvSpPr>
            <a:spLocks xmlns:a="http://schemas.openxmlformats.org/drawingml/2006/main" noGrp="1"/>
          </p:cNvSpPr>
          <p:nvPr/>
        </p:nvSpPr>
        <p:spPr>
          <a:xfrm xmlns:a="http://schemas.openxmlformats.org/drawingml/2006/main">
            <a:off x="685800" y="3400425"/>
            <a:ext cx="2876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9616B"/>
                </a:solidFill>
                <a:latin typeface="Arial"/>
                <a:ea typeface="Arial"/>
                <a:cs typeface="Arial"/>
              </a:defRPr>
            </a:pPr>
            <a:r>
              <a:rPr sz="1650" b="0">
                <a:solidFill>
                  <a:srgbClr val="59616B"/>
                </a:solidFill>
                <a:latin typeface="Arial"/>
                <a:ea typeface="Arial"/>
                <a:cs typeface="Arial"/>
              </a:rPr>
              <a:t>training examples</a:t>
            </a:r>
          </a:p>
        </p:txBody>
      </p:sp>
      <p:sp>
        <p:nvSpPr>
          <p:cNvPr id="9" name="">
            <a:extLst xmlns:a="http://schemas.openxmlformats.org/drawingml/2006/main">
              <a:ext uri="{FF2B5EF4-FFF2-40B4-BE49-F238E27FC236}">
                <a16:creationId xmlns:a16="http://schemas.microsoft.com/office/drawing/2014/main" id="{C0B9BDEE-44D4-4583-9989-87EFDFDEB2B1}"/>
              </a:ext>
            </a:extLst>
          </p:cNvPr>
          <p:cNvSpPr>
            <a:spLocks xmlns:a="http://schemas.openxmlformats.org/drawingml/2006/main" noGrp="1"/>
          </p:cNvSpPr>
          <p:nvPr/>
        </p:nvSpPr>
        <p:spPr>
          <a:xfrm xmlns:a="http://schemas.openxmlformats.org/drawingml/2006/main">
            <a:off x="4429125" y="2333625"/>
            <a:ext cx="3333750" cy="1809750"/>
          </a:xfrm>
          <a:prstGeom xmlns:a="http://schemas.openxmlformats.org/drawingml/2006/main" prst="rect">
            <a:avLst/>
          </a:prstGeom>
          <a:solidFill xmlns:a="http://schemas.openxmlformats.org/drawingml/2006/main">
            <a:srgbClr val="F2F2F2"/>
          </a:solidFill>
          <a:ln xmlns:a="http://schemas.openxmlformats.org/drawingml/2006/main" w="0">
            <a:solidFill>
              <a:srgbClr val="F2F2F2"/>
            </a:solidFill>
            <a:prstDash val="solid"/>
          </a:ln>
        </p:spPr>
      </p:sp>
      <p:sp>
        <p:nvSpPr>
          <p:cNvPr id="10" name="">
            <a:extLst xmlns:a="http://schemas.openxmlformats.org/drawingml/2006/main">
              <a:ext uri="{FF2B5EF4-FFF2-40B4-BE49-F238E27FC236}">
                <a16:creationId xmlns:a16="http://schemas.microsoft.com/office/drawing/2014/main" id="{990C9C41-E45F-479B-99C4-96D7892D6FA4}"/>
              </a:ext>
            </a:extLst>
          </p:cNvPr>
          <p:cNvSpPr>
            <a:spLocks xmlns:a="http://schemas.openxmlformats.org/drawingml/2006/main" noGrp="1"/>
          </p:cNvSpPr>
          <p:nvPr/>
        </p:nvSpPr>
        <p:spPr>
          <a:xfrm xmlns:a="http://schemas.openxmlformats.org/drawingml/2006/main">
            <a:off x="4429125" y="2333625"/>
            <a:ext cx="3333750" cy="0"/>
          </a:xfrm>
          <a:prstGeom xmlns:a="http://schemas.openxmlformats.org/drawingml/2006/main" prst="line">
            <a:avLst/>
          </a:prstGeom>
          <a:noFill xmlns:a="http://schemas.openxmlformats.org/drawingml/2006/main"/>
          <a:ln xmlns:a="http://schemas.openxmlformats.org/drawingml/2006/main" w="66675">
            <a:solidFill>
              <a:srgbClr val="7B2CBF"/>
            </a:solidFill>
            <a:prstDash val="solid"/>
          </a:ln>
        </p:spPr>
      </p:sp>
      <p:sp>
        <p:nvSpPr>
          <p:cNvPr id="11" name="">
            <a:extLst xmlns:a="http://schemas.openxmlformats.org/drawingml/2006/main">
              <a:ext uri="{FF2B5EF4-FFF2-40B4-BE49-F238E27FC236}">
                <a16:creationId xmlns:a16="http://schemas.microsoft.com/office/drawing/2014/main" id="{D400BF37-654B-45E1-857A-3B9B029C32B1}"/>
              </a:ext>
            </a:extLst>
          </p:cNvPr>
          <p:cNvSpPr>
            <a:spLocks xmlns:a="http://schemas.openxmlformats.org/drawingml/2006/main" noGrp="1"/>
          </p:cNvSpPr>
          <p:nvPr/>
        </p:nvSpPr>
        <p:spPr>
          <a:xfrm xmlns:a="http://schemas.openxmlformats.org/drawingml/2006/main">
            <a:off x="4657725" y="2638425"/>
            <a:ext cx="28765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900" b="1">
                <a:solidFill>
                  <a:srgbClr val="000000"/>
                </a:solidFill>
                <a:latin typeface="Arial"/>
                <a:ea typeface="Arial"/>
                <a:cs typeface="Arial"/>
              </a:defRPr>
            </a:pPr>
            <a:r>
              <a:rPr sz="3900" b="1">
                <a:solidFill>
                  <a:srgbClr val="000000"/>
                </a:solidFill>
                <a:latin typeface="Arial"/>
                <a:ea typeface="Arial"/>
                <a:cs typeface="Arial"/>
              </a:rPr>
              <a:t>3,093</a:t>
            </a:r>
          </a:p>
        </p:txBody>
      </p:sp>
      <p:sp>
        <p:nvSpPr>
          <p:cNvPr id="12" name="">
            <a:extLst xmlns:a="http://schemas.openxmlformats.org/drawingml/2006/main">
              <a:ext uri="{FF2B5EF4-FFF2-40B4-BE49-F238E27FC236}">
                <a16:creationId xmlns:a16="http://schemas.microsoft.com/office/drawing/2014/main" id="{BB723CC4-7ABE-4508-96CD-86CDBB436961}"/>
              </a:ext>
            </a:extLst>
          </p:cNvPr>
          <p:cNvSpPr>
            <a:spLocks xmlns:a="http://schemas.openxmlformats.org/drawingml/2006/main" noGrp="1"/>
          </p:cNvSpPr>
          <p:nvPr/>
        </p:nvSpPr>
        <p:spPr>
          <a:xfrm xmlns:a="http://schemas.openxmlformats.org/drawingml/2006/main">
            <a:off x="4657725" y="3400425"/>
            <a:ext cx="2876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9616B"/>
                </a:solidFill>
                <a:latin typeface="Arial"/>
                <a:ea typeface="Arial"/>
                <a:cs typeface="Arial"/>
              </a:defRPr>
            </a:pPr>
            <a:r>
              <a:rPr sz="1650" b="0">
                <a:solidFill>
                  <a:srgbClr val="59616B"/>
                </a:solidFill>
                <a:latin typeface="Arial"/>
                <a:ea typeface="Arial"/>
                <a:cs typeface="Arial"/>
              </a:rPr>
              <a:t>validation examples</a:t>
            </a:r>
          </a:p>
        </p:txBody>
      </p:sp>
      <p:sp>
        <p:nvSpPr>
          <p:cNvPr id="13" name="">
            <a:extLst xmlns:a="http://schemas.openxmlformats.org/drawingml/2006/main">
              <a:ext uri="{FF2B5EF4-FFF2-40B4-BE49-F238E27FC236}">
                <a16:creationId xmlns:a16="http://schemas.microsoft.com/office/drawing/2014/main" id="{AB2548D3-559C-49D4-96E8-1BDA4CED693B}"/>
              </a:ext>
            </a:extLst>
          </p:cNvPr>
          <p:cNvSpPr>
            <a:spLocks xmlns:a="http://schemas.openxmlformats.org/drawingml/2006/main" noGrp="1"/>
          </p:cNvSpPr>
          <p:nvPr/>
        </p:nvSpPr>
        <p:spPr>
          <a:xfrm xmlns:a="http://schemas.openxmlformats.org/drawingml/2006/main">
            <a:off x="8401050" y="2333625"/>
            <a:ext cx="3333750" cy="1809750"/>
          </a:xfrm>
          <a:prstGeom xmlns:a="http://schemas.openxmlformats.org/drawingml/2006/main" prst="rect">
            <a:avLst/>
          </a:prstGeom>
          <a:solidFill xmlns:a="http://schemas.openxmlformats.org/drawingml/2006/main">
            <a:srgbClr val="F2F2F2"/>
          </a:solidFill>
          <a:ln xmlns:a="http://schemas.openxmlformats.org/drawingml/2006/main" w="0">
            <a:solidFill>
              <a:srgbClr val="F2F2F2"/>
            </a:solidFill>
            <a:prstDash val="solid"/>
          </a:ln>
        </p:spPr>
      </p:sp>
      <p:sp>
        <p:nvSpPr>
          <p:cNvPr id="14" name="">
            <a:extLst xmlns:a="http://schemas.openxmlformats.org/drawingml/2006/main">
              <a:ext uri="{FF2B5EF4-FFF2-40B4-BE49-F238E27FC236}">
                <a16:creationId xmlns:a16="http://schemas.microsoft.com/office/drawing/2014/main" id="{DE18079F-0C5D-47C9-A4A9-3801BDC31FC7}"/>
              </a:ext>
            </a:extLst>
          </p:cNvPr>
          <p:cNvSpPr>
            <a:spLocks xmlns:a="http://schemas.openxmlformats.org/drawingml/2006/main" noGrp="1"/>
          </p:cNvSpPr>
          <p:nvPr/>
        </p:nvSpPr>
        <p:spPr>
          <a:xfrm xmlns:a="http://schemas.openxmlformats.org/drawingml/2006/main">
            <a:off x="8401050" y="2333625"/>
            <a:ext cx="3333750" cy="0"/>
          </a:xfrm>
          <a:prstGeom xmlns:a="http://schemas.openxmlformats.org/drawingml/2006/main" prst="line">
            <a:avLst/>
          </a:prstGeom>
          <a:noFill xmlns:a="http://schemas.openxmlformats.org/drawingml/2006/main"/>
          <a:ln xmlns:a="http://schemas.openxmlformats.org/drawingml/2006/main" w="66675">
            <a:solidFill>
              <a:srgbClr val="F47C20"/>
            </a:solidFill>
            <a:prstDash val="solid"/>
          </a:ln>
        </p:spPr>
      </p:sp>
      <p:sp>
        <p:nvSpPr>
          <p:cNvPr id="15" name="">
            <a:extLst xmlns:a="http://schemas.openxmlformats.org/drawingml/2006/main">
              <a:ext uri="{FF2B5EF4-FFF2-40B4-BE49-F238E27FC236}">
                <a16:creationId xmlns:a16="http://schemas.microsoft.com/office/drawing/2014/main" id="{C9EC3DF3-DAFC-4D8E-BA6F-69B79F44D3F0}"/>
              </a:ext>
            </a:extLst>
          </p:cNvPr>
          <p:cNvSpPr>
            <a:spLocks xmlns:a="http://schemas.openxmlformats.org/drawingml/2006/main" noGrp="1"/>
          </p:cNvSpPr>
          <p:nvPr/>
        </p:nvSpPr>
        <p:spPr>
          <a:xfrm xmlns:a="http://schemas.openxmlformats.org/drawingml/2006/main">
            <a:off x="8629650" y="2638425"/>
            <a:ext cx="28765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900" b="1">
                <a:solidFill>
                  <a:srgbClr val="000000"/>
                </a:solidFill>
                <a:latin typeface="Arial"/>
                <a:ea typeface="Arial"/>
                <a:cs typeface="Arial"/>
              </a:defRPr>
            </a:pPr>
            <a:r>
              <a:rPr sz="3900" b="1">
                <a:solidFill>
                  <a:srgbClr val="000000"/>
                </a:solidFill>
                <a:latin typeface="Arial"/>
                <a:ea typeface="Arial"/>
                <a:cs typeface="Arial"/>
              </a:rPr>
              <a:t>3,081</a:t>
            </a:r>
          </a:p>
        </p:txBody>
      </p:sp>
      <p:sp>
        <p:nvSpPr>
          <p:cNvPr id="16" name="">
            <a:extLst xmlns:a="http://schemas.openxmlformats.org/drawingml/2006/main">
              <a:ext uri="{FF2B5EF4-FFF2-40B4-BE49-F238E27FC236}">
                <a16:creationId xmlns:a16="http://schemas.microsoft.com/office/drawing/2014/main" id="{6C124E3B-795F-43F4-8A83-EE0374D7323D}"/>
              </a:ext>
            </a:extLst>
          </p:cNvPr>
          <p:cNvSpPr>
            <a:spLocks xmlns:a="http://schemas.openxmlformats.org/drawingml/2006/main" noGrp="1"/>
          </p:cNvSpPr>
          <p:nvPr/>
        </p:nvSpPr>
        <p:spPr>
          <a:xfrm xmlns:a="http://schemas.openxmlformats.org/drawingml/2006/main">
            <a:off x="8629650" y="3400425"/>
            <a:ext cx="2876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9616B"/>
                </a:solidFill>
                <a:latin typeface="Arial"/>
                <a:ea typeface="Arial"/>
                <a:cs typeface="Arial"/>
              </a:defRPr>
            </a:pPr>
            <a:r>
              <a:rPr sz="1650" b="0">
                <a:solidFill>
                  <a:srgbClr val="59616B"/>
                </a:solidFill>
                <a:latin typeface="Arial"/>
                <a:ea typeface="Arial"/>
                <a:cs typeface="Arial"/>
              </a:rPr>
              <a:t>testing examples</a:t>
            </a:r>
          </a:p>
        </p:txBody>
      </p:sp>
      <p:sp>
        <p:nvSpPr>
          <p:cNvPr id="17" name="">
            <a:extLst xmlns:a="http://schemas.openxmlformats.org/drawingml/2006/main">
              <a:ext uri="{FF2B5EF4-FFF2-40B4-BE49-F238E27FC236}">
                <a16:creationId xmlns:a16="http://schemas.microsoft.com/office/drawing/2014/main" id="{5A227E02-F98D-49BF-AB14-02E3273444F9}"/>
              </a:ext>
            </a:extLst>
          </p:cNvPr>
          <p:cNvSpPr>
            <a:spLocks xmlns:a="http://schemas.openxmlformats.org/drawingml/2006/main" noGrp="1"/>
          </p:cNvSpPr>
          <p:nvPr/>
        </p:nvSpPr>
        <p:spPr>
          <a:xfrm xmlns:a="http://schemas.openxmlformats.org/drawingml/2006/main">
            <a:off x="457200" y="461962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000000"/>
                </a:solidFill>
                <a:latin typeface="Arial"/>
                <a:ea typeface="Arial"/>
                <a:cs typeface="Arial"/>
              </a:defRPr>
            </a:pPr>
            <a:r>
              <a:rPr sz="1950" b="1">
                <a:solidFill>
                  <a:srgbClr val="000000"/>
                </a:solidFill>
                <a:latin typeface="Arial"/>
                <a:ea typeface="Arial"/>
                <a:cs typeface="Arial"/>
              </a:rPr>
              <a:t>Hard guards</a:t>
            </a:r>
          </a:p>
        </p:txBody>
      </p:sp>
      <p:sp>
        <p:nvSpPr>
          <p:cNvPr id="18" name="">
            <a:extLst xmlns:a="http://schemas.openxmlformats.org/drawingml/2006/main">
              <a:ext uri="{FF2B5EF4-FFF2-40B4-BE49-F238E27FC236}">
                <a16:creationId xmlns:a16="http://schemas.microsoft.com/office/drawing/2014/main" id="{4C1E50F9-5E60-47EC-AA02-D45F8F075B70}"/>
              </a:ext>
            </a:extLst>
          </p:cNvPr>
          <p:cNvSpPr>
            <a:spLocks xmlns:a="http://schemas.openxmlformats.org/drawingml/2006/main" noGrp="1"/>
          </p:cNvSpPr>
          <p:nvPr/>
        </p:nvSpPr>
        <p:spPr>
          <a:xfrm xmlns:a="http://schemas.openxmlformats.org/drawingml/2006/main">
            <a:off x="2524125" y="4572000"/>
            <a:ext cx="7239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000000"/>
                </a:solidFill>
                <a:latin typeface="Arial"/>
                <a:ea typeface="Arial"/>
                <a:cs typeface="Arial"/>
              </a:defRPr>
            </a:pPr>
            <a:r>
              <a:rPr sz="1725" b="0">
                <a:solidFill>
                  <a:srgbClr val="000000"/>
                </a:solidFill>
                <a:latin typeface="Arial"/>
                <a:ea typeface="Arial"/>
                <a:cs typeface="Arial"/>
              </a:rPr>
              <a:t>- speaker-disjoint validation</a:t>
            </a:r>
          </a:p>
          <a:p xmlns:a="http://schemas.openxmlformats.org/drawingml/2006/main">
            <a:pPr algn="l">
              <a:defRPr sz="1725" b="0">
                <a:solidFill>
                  <a:srgbClr val="000000"/>
                </a:solidFill>
                <a:latin typeface="Arial"/>
                <a:ea typeface="Arial"/>
                <a:cs typeface="Arial"/>
              </a:defRPr>
            </a:pPr>
            <a:r>
              <a:rPr sz="1725" b="0">
                <a:solidFill>
                  <a:srgbClr val="000000"/>
                </a:solidFill>
                <a:latin typeface="Arial"/>
                <a:ea typeface="Arial"/>
                <a:cs typeface="Arial"/>
              </a:rPr>
              <a:t>- cross-split silence-region checks</a:t>
            </a:r>
          </a:p>
          <a:p xmlns:a="http://schemas.openxmlformats.org/drawingml/2006/main">
            <a:pPr algn="l">
              <a:defRPr sz="1725" b="0">
                <a:solidFill>
                  <a:srgbClr val="000000"/>
                </a:solidFill>
                <a:latin typeface="Arial"/>
                <a:ea typeface="Arial"/>
                <a:cs typeface="Arial"/>
              </a:defRPr>
            </a:pPr>
            <a:r>
              <a:rPr sz="1725" b="0">
                <a:solidFill>
                  <a:srgbClr val="000000"/>
                </a:solidFill>
                <a:latin typeface="Arial"/>
                <a:ea typeface="Arial"/>
                <a:cs typeface="Arial"/>
              </a:rPr>
              <a:t>- train-only normalization statistics</a:t>
            </a:r>
          </a:p>
        </p:txBody>
      </p:sp>
      <p:sp>
        <p:nvSpPr>
          <p:cNvPr id="19" name="">
            <a:extLst xmlns:a="http://schemas.openxmlformats.org/drawingml/2006/main">
              <a:ext uri="{FF2B5EF4-FFF2-40B4-BE49-F238E27FC236}">
                <a16:creationId xmlns:a16="http://schemas.microsoft.com/office/drawing/2014/main" id="{BEF73941-0010-468F-AE90-5C07EFBC31B4}"/>
              </a:ext>
            </a:extLst>
          </p:cNvPr>
          <p:cNvSpPr>
            <a:spLocks xmlns:a="http://schemas.openxmlformats.org/drawingml/2006/main" noGrp="1"/>
          </p:cNvSpPr>
          <p:nvPr/>
        </p:nvSpPr>
        <p:spPr>
          <a:xfrm xmlns:a="http://schemas.openxmlformats.org/drawingml/2006/main">
            <a:off x="9906000" y="468630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800" b="1">
                <a:solidFill>
                  <a:srgbClr val="C23B3B"/>
                </a:solidFill>
                <a:latin typeface="Arial"/>
                <a:ea typeface="Arial"/>
                <a:cs typeface="Arial"/>
              </a:defRPr>
            </a:pPr>
            <a:r>
              <a:rPr sz="1800" b="1">
                <a:solidFill>
                  <a:srgbClr val="C23B3B"/>
                </a:solidFill>
                <a:latin typeface="Arial"/>
                <a:ea typeface="Arial"/>
                <a:cs typeface="Arial"/>
              </a:rPr>
              <a:t>Fail fast</a:t>
            </a:r>
          </a:p>
        </p:txBody>
      </p:sp>
      <p:sp>
        <p:nvSpPr>
          <p:cNvPr id="20" name="">
            <a:extLst xmlns:a="http://schemas.openxmlformats.org/drawingml/2006/main">
              <a:ext uri="{FF2B5EF4-FFF2-40B4-BE49-F238E27FC236}">
                <a16:creationId xmlns:a16="http://schemas.microsoft.com/office/drawing/2014/main" id="{124DB5B9-B8F5-477B-93C3-32D5205DD0B5}"/>
              </a:ext>
            </a:extLst>
          </p:cNvPr>
          <p:cNvSpPr>
            <a:spLocks xmlns:a="http://schemas.openxmlformats.org/drawingml/2006/main" noGrp="1"/>
          </p:cNvSpPr>
          <p:nvPr/>
        </p:nvSpPr>
        <p:spPr>
          <a:xfrm xmlns:a="http://schemas.openxmlformats.org/drawingml/2006/main">
            <a:off x="9620250" y="50482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500" b="0">
                <a:solidFill>
                  <a:srgbClr val="59616B"/>
                </a:solidFill>
                <a:latin typeface="Arial"/>
                <a:ea typeface="Arial"/>
                <a:cs typeface="Arial"/>
              </a:defRPr>
            </a:pPr>
            <a:r>
              <a:rPr sz="1500" b="0">
                <a:solidFill>
                  <a:srgbClr val="59616B"/>
                </a:solidFill>
                <a:latin typeface="Arial"/>
                <a:ea typeface="Arial"/>
                <a:cs typeface="Arial"/>
              </a:rPr>
              <a:t>on any overlap</a:t>
            </a:r>
          </a:p>
        </p:txBody>
      </p:sp>
    </p:spTree>
    <p:extLst>
      <p:ext uri="{BB962C8B-B14F-4D97-AF65-F5344CB8AC3E}">
        <p14:creationId xmlns:p14="http://schemas.microsoft.com/office/powerpoint/2010/main" val="120782723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038551A-4500-471B-959F-2D6E888617C3}"/>
              </a:ext>
            </a:extLst>
          </p:cNvPr>
          <p:cNvSpPr>
            <a:spLocks xmlns:a="http://schemas.openxmlformats.org/drawingml/2006/main" noGrp="1"/>
          </p:cNvSpPr>
          <p:nvPr/>
        </p:nvSpPr>
        <p:spPr>
          <a:xfrm xmlns:a="http://schemas.openxmlformats.org/drawingml/2006/main">
            <a:off x="457200" y="23812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59616B"/>
                </a:solidFill>
                <a:latin typeface="Arial"/>
                <a:ea typeface="Arial"/>
                <a:cs typeface="Arial"/>
              </a:defRPr>
            </a:pPr>
            <a:r>
              <a:rPr sz="1200" b="1">
                <a:solidFill>
                  <a:srgbClr val="59616B"/>
                </a:solidFill>
                <a:latin typeface="Arial"/>
                <a:ea typeface="Arial"/>
                <a:cs typeface="Arial"/>
              </a:rPr>
              <a:t>SPEECH COMMANDS</a:t>
            </a:r>
          </a:p>
        </p:txBody>
      </p:sp>
      <p:sp>
        <p:nvSpPr>
          <p:cNvPr id="2" name="slide-6-title">
            <a:extLst xmlns:a="http://schemas.openxmlformats.org/drawingml/2006/main">
              <a:ext uri="{FF2B5EF4-FFF2-40B4-BE49-F238E27FC236}">
                <a16:creationId xmlns:a16="http://schemas.microsoft.com/office/drawing/2014/main" id="{F2F5F66B-78B9-4215-B99F-CD996B82CEAB}"/>
              </a:ext>
            </a:extLst>
          </p:cNvPr>
          <p:cNvSpPr>
            <a:spLocks xmlns:a="http://schemas.openxmlformats.org/drawingml/2006/main" noGrp="1"/>
          </p:cNvSpPr>
          <p:nvPr/>
        </p:nvSpPr>
        <p:spPr>
          <a:xfrm xmlns:a="http://schemas.openxmlformats.org/drawingml/2006/main">
            <a:off x="457200" y="5143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000000"/>
                </a:solidFill>
                <a:latin typeface="Arial"/>
                <a:ea typeface="Arial"/>
                <a:cs typeface="Arial"/>
              </a:defRPr>
            </a:pPr>
            <a:r>
              <a:rPr sz="3600" b="1">
                <a:solidFill>
                  <a:srgbClr val="000000"/>
                </a:solidFill>
                <a:latin typeface="Arial"/>
                <a:ea typeface="Arial"/>
                <a:cs typeface="Arial"/>
              </a:rPr>
              <a:t>Log-Mel preserves time-frequency structure</a:t>
            </a:r>
          </a:p>
        </p:txBody>
      </p:sp>
      <p:sp>
        <p:nvSpPr>
          <p:cNvPr id="3" name="">
            <a:extLst xmlns:a="http://schemas.openxmlformats.org/drawingml/2006/main">
              <a:ext uri="{FF2B5EF4-FFF2-40B4-BE49-F238E27FC236}">
                <a16:creationId xmlns:a16="http://schemas.microsoft.com/office/drawing/2014/main" id="{668A74BD-3988-494B-8251-D2BD2F128FBC}"/>
              </a:ext>
            </a:extLst>
          </p:cNvPr>
          <p:cNvSpPr>
            <a:spLocks xmlns:a="http://schemas.openxmlformats.org/drawingml/2006/main" noGrp="1"/>
          </p:cNvSpPr>
          <p:nvPr/>
        </p:nvSpPr>
        <p:spPr>
          <a:xfrm xmlns:a="http://schemas.openxmlformats.org/drawingml/2006/main">
            <a:off x="1123950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59616B"/>
                </a:solidFill>
                <a:latin typeface="Arial"/>
                <a:ea typeface="Arial"/>
                <a:cs typeface="Arial"/>
              </a:defRPr>
            </a:pPr>
            <a:r>
              <a:rPr sz="1050" b="0">
                <a:solidFill>
                  <a:srgbClr val="59616B"/>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FBEEBF67-233B-4C52-BAAD-3A91268CFBC6}"/>
              </a:ext>
            </a:extLst>
          </p:cNvPr>
          <p:cNvSpPr>
            <a:spLocks xmlns:a="http://schemas.openxmlformats.org/drawingml/2006/main" noGrp="1"/>
          </p:cNvSpPr>
          <p:nvPr/>
        </p:nvSpPr>
        <p:spPr>
          <a:xfrm xmlns:a="http://schemas.openxmlformats.org/drawingml/2006/main">
            <a:off x="457200" y="2333625"/>
            <a:ext cx="2333625" cy="2095500"/>
          </a:xfrm>
          <a:prstGeom xmlns:a="http://schemas.openxmlformats.org/drawingml/2006/main" prst="rect">
            <a:avLst/>
          </a:prstGeom>
          <a:solidFill xmlns:a="http://schemas.openxmlformats.org/drawingml/2006/main">
            <a:srgbClr val="F2F2F2"/>
          </a:solidFill>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F95BB5C9-8A51-41D6-AF3F-CD50CE7ABD1F}"/>
              </a:ext>
            </a:extLst>
          </p:cNvPr>
          <p:cNvSpPr>
            <a:spLocks xmlns:a="http://schemas.openxmlformats.org/drawingml/2006/main" noGrp="1"/>
          </p:cNvSpPr>
          <p:nvPr/>
        </p:nvSpPr>
        <p:spPr>
          <a:xfrm xmlns:a="http://schemas.openxmlformats.org/drawingml/2006/main">
            <a:off x="3314700" y="2333625"/>
            <a:ext cx="2333625" cy="2095500"/>
          </a:xfrm>
          <a:prstGeom xmlns:a="http://schemas.openxmlformats.org/drawingml/2006/main" prst="rect">
            <a:avLst/>
          </a:prstGeom>
          <a:solidFill xmlns:a="http://schemas.openxmlformats.org/drawingml/2006/main">
            <a:srgbClr val="F2F2F2"/>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3291FFCC-7337-415B-BAA1-5D8AC30085EC}"/>
              </a:ext>
            </a:extLst>
          </p:cNvPr>
          <p:cNvSpPr>
            <a:spLocks xmlns:a="http://schemas.openxmlformats.org/drawingml/2006/main" noGrp="1"/>
          </p:cNvSpPr>
          <p:nvPr/>
        </p:nvSpPr>
        <p:spPr>
          <a:xfrm xmlns:a="http://schemas.openxmlformats.org/drawingml/2006/main">
            <a:off x="6172200" y="2333625"/>
            <a:ext cx="2333625" cy="2095500"/>
          </a:xfrm>
          <a:prstGeom xmlns:a="http://schemas.openxmlformats.org/drawingml/2006/main" prst="rect">
            <a:avLst/>
          </a:prstGeom>
          <a:solidFill xmlns:a="http://schemas.openxmlformats.org/drawingml/2006/main">
            <a:srgbClr val="F2F2F2"/>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C0B00303-1839-4DFF-9137-108464319C2B}"/>
              </a:ext>
            </a:extLst>
          </p:cNvPr>
          <p:cNvSpPr>
            <a:spLocks xmlns:a="http://schemas.openxmlformats.org/drawingml/2006/main" noGrp="1"/>
          </p:cNvSpPr>
          <p:nvPr/>
        </p:nvSpPr>
        <p:spPr>
          <a:xfrm xmlns:a="http://schemas.openxmlformats.org/drawingml/2006/main">
            <a:off x="9029700" y="2333625"/>
            <a:ext cx="2333625" cy="2095500"/>
          </a:xfrm>
          <a:prstGeom xmlns:a="http://schemas.openxmlformats.org/drawingml/2006/main" prst="rect">
            <a:avLst/>
          </a:prstGeom>
          <a:solidFill xmlns:a="http://schemas.openxmlformats.org/drawingml/2006/main">
            <a:srgbClr val="D0EDFA"/>
          </a:solidFill>
          <a:ln xmlns:a="http://schemas.openxmlformats.org/drawingml/2006/main" w="19050">
            <a:solidFill>
              <a:srgbClr val="3D8DFF"/>
            </a:solidFill>
            <a:prstDash val="solid"/>
          </a:ln>
        </p:spPr>
      </p:sp>
      <p:cxnSp>
        <p:nvCxnSpPr>
          <p:cNvPr id="27" name=""/>
          <p:cNvCxnSpPr>
            <a:stCxn xmlns:a="http://schemas.openxmlformats.org/drawingml/2006/main" id="5" idx="1"/>
            <a:endCxn xmlns:a="http://schemas.openxmlformats.org/drawingml/2006/main" id="4" idx="3"/>
          </p:cNvCxnSpPr>
          <p:nvPr/>
        </p:nvCxnSpPr>
        <p:spPr>
          <a:xfrm xmlns:a="http://schemas.openxmlformats.org/drawingml/2006/main" flipH="1">
            <a:off x="2790825" y="3381375"/>
            <a:ext cx="523875" cy="0"/>
          </a:xfrm>
          <a:prstGeom xmlns:a="http://schemas.openxmlformats.org/drawingml/2006/main" prst="straightConnector1">
            <a:avLst/>
          </a:prstGeom>
          <a:ln xmlns:a="http://schemas.openxmlformats.org/drawingml/2006/main" w="28575">
            <a:solidFill>
              <a:srgbClr val="3D8DFF"/>
            </a:solidFill>
            <a:prstDash val="solid"/>
            <a:headEnd type="triangle" w="med" len="med"/>
          </a:ln>
        </p:spPr>
      </p:cxnSp>
      <p:cxnSp>
        <p:nvCxnSpPr>
          <p:cNvPr id="28" name=""/>
          <p:cNvCxnSpPr>
            <a:stCxn xmlns:a="http://schemas.openxmlformats.org/drawingml/2006/main" id="6" idx="1"/>
            <a:endCxn xmlns:a="http://schemas.openxmlformats.org/drawingml/2006/main" id="5" idx="3"/>
          </p:cNvCxnSpPr>
          <p:nvPr/>
        </p:nvCxnSpPr>
        <p:spPr>
          <a:xfrm xmlns:a="http://schemas.openxmlformats.org/drawingml/2006/main" flipH="1">
            <a:off x="5648325" y="3381375"/>
            <a:ext cx="523875" cy="0"/>
          </a:xfrm>
          <a:prstGeom xmlns:a="http://schemas.openxmlformats.org/drawingml/2006/main" prst="straightConnector1">
            <a:avLst/>
          </a:prstGeom>
          <a:ln xmlns:a="http://schemas.openxmlformats.org/drawingml/2006/main" w="28575">
            <a:solidFill>
              <a:srgbClr val="3D8DFF"/>
            </a:solidFill>
            <a:prstDash val="solid"/>
            <a:headEnd type="triangle" w="med" len="med"/>
          </a:ln>
        </p:spPr>
      </p:cxnSp>
      <p:cxnSp>
        <p:nvCxnSpPr>
          <p:cNvPr id="29" name=""/>
          <p:cNvCxnSpPr>
            <a:stCxn xmlns:a="http://schemas.openxmlformats.org/drawingml/2006/main" id="7" idx="1"/>
            <a:endCxn xmlns:a="http://schemas.openxmlformats.org/drawingml/2006/main" id="6" idx="3"/>
          </p:cNvCxnSpPr>
          <p:nvPr/>
        </p:nvCxnSpPr>
        <p:spPr>
          <a:xfrm xmlns:a="http://schemas.openxmlformats.org/drawingml/2006/main" flipH="1">
            <a:off x="8505825" y="3381375"/>
            <a:ext cx="523875" cy="0"/>
          </a:xfrm>
          <a:prstGeom xmlns:a="http://schemas.openxmlformats.org/drawingml/2006/main" prst="straightConnector1">
            <a:avLst/>
          </a:prstGeom>
          <a:ln xmlns:a="http://schemas.openxmlformats.org/drawingml/2006/main" w="28575">
            <a:solidFill>
              <a:srgbClr val="3D8DFF"/>
            </a:solidFill>
            <a:prstDash val="solid"/>
            <a:headEnd type="triangle" w="med" len="med"/>
          </a:ln>
        </p:spPr>
      </p:cxnSp>
      <p:sp>
        <p:nvSpPr>
          <p:cNvPr id="11" name="">
            <a:extLst xmlns:a="http://schemas.openxmlformats.org/drawingml/2006/main">
              <a:ext uri="{FF2B5EF4-FFF2-40B4-BE49-F238E27FC236}">
                <a16:creationId xmlns:a16="http://schemas.microsoft.com/office/drawing/2014/main" id="{D37020A9-F8F6-4E61-B8A3-6E74FFBC0B77}"/>
              </a:ext>
            </a:extLst>
          </p:cNvPr>
          <p:cNvSpPr>
            <a:spLocks xmlns:a="http://schemas.openxmlformats.org/drawingml/2006/main" noGrp="1"/>
          </p:cNvSpPr>
          <p:nvPr/>
        </p:nvSpPr>
        <p:spPr>
          <a:xfrm xmlns:a="http://schemas.openxmlformats.org/drawingml/2006/main">
            <a:off x="666750" y="2647950"/>
            <a:ext cx="190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000000"/>
                </a:solidFill>
                <a:latin typeface="Arial"/>
                <a:ea typeface="Arial"/>
                <a:cs typeface="Arial"/>
              </a:defRPr>
            </a:pPr>
            <a:r>
              <a:rPr sz="2175" b="1">
                <a:solidFill>
                  <a:srgbClr val="000000"/>
                </a:solidFill>
                <a:latin typeface="Arial"/>
                <a:ea typeface="Arial"/>
                <a:cs typeface="Arial"/>
              </a:rPr>
              <a:t>Waveform</a:t>
            </a:r>
          </a:p>
        </p:txBody>
      </p:sp>
      <p:sp>
        <p:nvSpPr>
          <p:cNvPr id="12" name="">
            <a:extLst xmlns:a="http://schemas.openxmlformats.org/drawingml/2006/main">
              <a:ext uri="{FF2B5EF4-FFF2-40B4-BE49-F238E27FC236}">
                <a16:creationId xmlns:a16="http://schemas.microsoft.com/office/drawing/2014/main" id="{5D892D87-DAF8-4997-8383-82963AB74BCA}"/>
              </a:ext>
            </a:extLst>
          </p:cNvPr>
          <p:cNvSpPr>
            <a:spLocks xmlns:a="http://schemas.openxmlformats.org/drawingml/2006/main" noGrp="1"/>
          </p:cNvSpPr>
          <p:nvPr/>
        </p:nvSpPr>
        <p:spPr>
          <a:xfrm xmlns:a="http://schemas.openxmlformats.org/drawingml/2006/main">
            <a:off x="666750" y="3286125"/>
            <a:ext cx="1905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9616B"/>
                </a:solidFill>
                <a:latin typeface="Arial"/>
                <a:ea typeface="Arial"/>
                <a:cs typeface="Arial"/>
              </a:defRPr>
            </a:pPr>
            <a:r>
              <a:rPr sz="1650" b="0">
                <a:solidFill>
                  <a:srgbClr val="59616B"/>
                </a:solidFill>
                <a:latin typeface="Arial"/>
                <a:ea typeface="Arial"/>
                <a:cs typeface="Arial"/>
              </a:rPr>
              <a:t>16,000 samples</a:t>
            </a:r>
          </a:p>
          <a:p xmlns:a="http://schemas.openxmlformats.org/drawingml/2006/main">
            <a:pPr algn="l">
              <a:defRPr sz="1650" b="0">
                <a:solidFill>
                  <a:srgbClr val="59616B"/>
                </a:solidFill>
                <a:latin typeface="Arial"/>
                <a:ea typeface="Arial"/>
                <a:cs typeface="Arial"/>
              </a:defRPr>
            </a:pPr>
            <a:r>
              <a:rPr sz="1650" b="0">
                <a:solidFill>
                  <a:srgbClr val="59616B"/>
                </a:solidFill>
                <a:latin typeface="Arial"/>
                <a:ea typeface="Arial"/>
                <a:cs typeface="Arial"/>
              </a:rPr>
              <a:t>mono, padded/trimmed</a:t>
            </a:r>
          </a:p>
        </p:txBody>
      </p:sp>
      <p:sp>
        <p:nvSpPr>
          <p:cNvPr id="13" name="">
            <a:extLst xmlns:a="http://schemas.openxmlformats.org/drawingml/2006/main">
              <a:ext uri="{FF2B5EF4-FFF2-40B4-BE49-F238E27FC236}">
                <a16:creationId xmlns:a16="http://schemas.microsoft.com/office/drawing/2014/main" id="{E4EEF225-2A38-4B47-9DC4-B73834AA1873}"/>
              </a:ext>
            </a:extLst>
          </p:cNvPr>
          <p:cNvSpPr>
            <a:spLocks xmlns:a="http://schemas.openxmlformats.org/drawingml/2006/main" noGrp="1"/>
          </p:cNvSpPr>
          <p:nvPr/>
        </p:nvSpPr>
        <p:spPr>
          <a:xfrm xmlns:a="http://schemas.openxmlformats.org/drawingml/2006/main">
            <a:off x="3524250" y="2647950"/>
            <a:ext cx="190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000000"/>
                </a:solidFill>
                <a:latin typeface="Arial"/>
                <a:ea typeface="Arial"/>
                <a:cs typeface="Arial"/>
              </a:defRPr>
            </a:pPr>
            <a:r>
              <a:rPr sz="2175" b="1">
                <a:solidFill>
                  <a:srgbClr val="000000"/>
                </a:solidFill>
                <a:latin typeface="Arial"/>
                <a:ea typeface="Arial"/>
                <a:cs typeface="Arial"/>
              </a:rPr>
              <a:t>STFT</a:t>
            </a:r>
          </a:p>
        </p:txBody>
      </p:sp>
      <p:sp>
        <p:nvSpPr>
          <p:cNvPr id="14" name="">
            <a:extLst xmlns:a="http://schemas.openxmlformats.org/drawingml/2006/main">
              <a:ext uri="{FF2B5EF4-FFF2-40B4-BE49-F238E27FC236}">
                <a16:creationId xmlns:a16="http://schemas.microsoft.com/office/drawing/2014/main" id="{0DD52C81-E820-48F3-8BD2-E561A2192875}"/>
              </a:ext>
            </a:extLst>
          </p:cNvPr>
          <p:cNvSpPr>
            <a:spLocks xmlns:a="http://schemas.openxmlformats.org/drawingml/2006/main" noGrp="1"/>
          </p:cNvSpPr>
          <p:nvPr/>
        </p:nvSpPr>
        <p:spPr>
          <a:xfrm xmlns:a="http://schemas.openxmlformats.org/drawingml/2006/main">
            <a:off x="3524250" y="3286125"/>
            <a:ext cx="1905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9616B"/>
                </a:solidFill>
                <a:latin typeface="Arial"/>
                <a:ea typeface="Arial"/>
                <a:cs typeface="Arial"/>
              </a:defRPr>
            </a:pPr>
            <a:r>
              <a:rPr sz="1650" b="0">
                <a:solidFill>
                  <a:srgbClr val="59616B"/>
                </a:solidFill>
                <a:latin typeface="Arial"/>
                <a:ea typeface="Arial"/>
                <a:cs typeface="Arial"/>
              </a:rPr>
              <a:t>30 ms Hann window</a:t>
            </a:r>
          </a:p>
          <a:p xmlns:a="http://schemas.openxmlformats.org/drawingml/2006/main">
            <a:pPr algn="l">
              <a:defRPr sz="1650" b="0">
                <a:solidFill>
                  <a:srgbClr val="59616B"/>
                </a:solidFill>
                <a:latin typeface="Arial"/>
                <a:ea typeface="Arial"/>
                <a:cs typeface="Arial"/>
              </a:defRPr>
            </a:pPr>
            <a:r>
              <a:rPr sz="1650" b="0">
                <a:solidFill>
                  <a:srgbClr val="59616B"/>
                </a:solidFill>
                <a:latin typeface="Arial"/>
                <a:ea typeface="Arial"/>
                <a:cs typeface="Arial"/>
              </a:rPr>
              <a:t>10 ms stride</a:t>
            </a:r>
          </a:p>
        </p:txBody>
      </p:sp>
      <p:sp>
        <p:nvSpPr>
          <p:cNvPr id="15" name="">
            <a:extLst xmlns:a="http://schemas.openxmlformats.org/drawingml/2006/main">
              <a:ext uri="{FF2B5EF4-FFF2-40B4-BE49-F238E27FC236}">
                <a16:creationId xmlns:a16="http://schemas.microsoft.com/office/drawing/2014/main" id="{2F270E7F-CB24-4E13-89E2-F506C3457AE0}"/>
              </a:ext>
            </a:extLst>
          </p:cNvPr>
          <p:cNvSpPr>
            <a:spLocks xmlns:a="http://schemas.openxmlformats.org/drawingml/2006/main" noGrp="1"/>
          </p:cNvSpPr>
          <p:nvPr/>
        </p:nvSpPr>
        <p:spPr>
          <a:xfrm xmlns:a="http://schemas.openxmlformats.org/drawingml/2006/main">
            <a:off x="6381750" y="2647950"/>
            <a:ext cx="190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000000"/>
                </a:solidFill>
                <a:latin typeface="Arial"/>
                <a:ea typeface="Arial"/>
                <a:cs typeface="Arial"/>
              </a:defRPr>
            </a:pPr>
            <a:r>
              <a:rPr sz="2175" b="1">
                <a:solidFill>
                  <a:srgbClr val="000000"/>
                </a:solidFill>
                <a:latin typeface="Arial"/>
                <a:ea typeface="Arial"/>
                <a:cs typeface="Arial"/>
              </a:rPr>
              <a:t>Mel filterbank</a:t>
            </a:r>
          </a:p>
        </p:txBody>
      </p:sp>
      <p:sp>
        <p:nvSpPr>
          <p:cNvPr id="16" name="">
            <a:extLst xmlns:a="http://schemas.openxmlformats.org/drawingml/2006/main">
              <a:ext uri="{FF2B5EF4-FFF2-40B4-BE49-F238E27FC236}">
                <a16:creationId xmlns:a16="http://schemas.microsoft.com/office/drawing/2014/main" id="{DC203616-4F1D-42D2-8D7E-B0A3250C3F18}"/>
              </a:ext>
            </a:extLst>
          </p:cNvPr>
          <p:cNvSpPr>
            <a:spLocks xmlns:a="http://schemas.openxmlformats.org/drawingml/2006/main" noGrp="1"/>
          </p:cNvSpPr>
          <p:nvPr/>
        </p:nvSpPr>
        <p:spPr>
          <a:xfrm xmlns:a="http://schemas.openxmlformats.org/drawingml/2006/main">
            <a:off x="6381750" y="3286125"/>
            <a:ext cx="1905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9616B"/>
                </a:solidFill>
                <a:latin typeface="Arial"/>
                <a:ea typeface="Arial"/>
                <a:cs typeface="Arial"/>
              </a:defRPr>
            </a:pPr>
            <a:r>
              <a:rPr sz="1650" b="0">
                <a:solidFill>
                  <a:srgbClr val="59616B"/>
                </a:solidFill>
                <a:latin typeface="Arial"/>
                <a:ea typeface="Arial"/>
                <a:cs typeface="Arial"/>
              </a:rPr>
              <a:t>40 perceptual</a:t>
            </a:r>
          </a:p>
          <a:p xmlns:a="http://schemas.openxmlformats.org/drawingml/2006/main">
            <a:pPr algn="l">
              <a:defRPr sz="1650" b="0">
                <a:solidFill>
                  <a:srgbClr val="59616B"/>
                </a:solidFill>
                <a:latin typeface="Arial"/>
                <a:ea typeface="Arial"/>
                <a:cs typeface="Arial"/>
              </a:defRPr>
            </a:pPr>
            <a:r>
              <a:rPr sz="1650" b="0">
                <a:solidFill>
                  <a:srgbClr val="59616B"/>
                </a:solidFill>
                <a:latin typeface="Arial"/>
                <a:ea typeface="Arial"/>
                <a:cs typeface="Arial"/>
              </a:rPr>
              <a:t>frequency bins</a:t>
            </a:r>
          </a:p>
        </p:txBody>
      </p:sp>
      <p:sp>
        <p:nvSpPr>
          <p:cNvPr id="17" name="">
            <a:extLst xmlns:a="http://schemas.openxmlformats.org/drawingml/2006/main">
              <a:ext uri="{FF2B5EF4-FFF2-40B4-BE49-F238E27FC236}">
                <a16:creationId xmlns:a16="http://schemas.microsoft.com/office/drawing/2014/main" id="{BFC9C769-7989-42CC-A8B4-D45E63F5F8EE}"/>
              </a:ext>
            </a:extLst>
          </p:cNvPr>
          <p:cNvSpPr>
            <a:spLocks xmlns:a="http://schemas.openxmlformats.org/drawingml/2006/main" noGrp="1"/>
          </p:cNvSpPr>
          <p:nvPr/>
        </p:nvSpPr>
        <p:spPr>
          <a:xfrm xmlns:a="http://schemas.openxmlformats.org/drawingml/2006/main">
            <a:off x="9239250" y="2647950"/>
            <a:ext cx="190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000000"/>
                </a:solidFill>
                <a:latin typeface="Arial"/>
                <a:ea typeface="Arial"/>
                <a:cs typeface="Arial"/>
              </a:defRPr>
            </a:pPr>
            <a:r>
              <a:rPr sz="2175" b="1">
                <a:solidFill>
                  <a:srgbClr val="000000"/>
                </a:solidFill>
                <a:latin typeface="Arial"/>
                <a:ea typeface="Arial"/>
                <a:cs typeface="Arial"/>
              </a:rPr>
              <a:t>Neural input</a:t>
            </a:r>
          </a:p>
        </p:txBody>
      </p:sp>
      <p:sp>
        <p:nvSpPr>
          <p:cNvPr id="18" name="">
            <a:extLst xmlns:a="http://schemas.openxmlformats.org/drawingml/2006/main">
              <a:ext uri="{FF2B5EF4-FFF2-40B4-BE49-F238E27FC236}">
                <a16:creationId xmlns:a16="http://schemas.microsoft.com/office/drawing/2014/main" id="{05F1074E-9C7E-4F43-8947-A80455955458}"/>
              </a:ext>
            </a:extLst>
          </p:cNvPr>
          <p:cNvSpPr>
            <a:spLocks xmlns:a="http://schemas.openxmlformats.org/drawingml/2006/main" noGrp="1"/>
          </p:cNvSpPr>
          <p:nvPr/>
        </p:nvSpPr>
        <p:spPr>
          <a:xfrm xmlns:a="http://schemas.openxmlformats.org/drawingml/2006/main">
            <a:off x="9239250" y="3286125"/>
            <a:ext cx="1905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9616B"/>
                </a:solidFill>
                <a:latin typeface="Arial"/>
                <a:ea typeface="Arial"/>
                <a:cs typeface="Arial"/>
              </a:defRPr>
            </a:pPr>
            <a:r>
              <a:rPr sz="1650" b="0">
                <a:solidFill>
                  <a:srgbClr val="59616B"/>
                </a:solidFill>
                <a:latin typeface="Arial"/>
                <a:ea typeface="Arial"/>
                <a:cs typeface="Arial"/>
              </a:rPr>
              <a:t>40 x 101 map</a:t>
            </a:r>
          </a:p>
          <a:p xmlns:a="http://schemas.openxmlformats.org/drawingml/2006/main">
            <a:pPr algn="l">
              <a:defRPr sz="1650" b="0">
                <a:solidFill>
                  <a:srgbClr val="59616B"/>
                </a:solidFill>
                <a:latin typeface="Arial"/>
                <a:ea typeface="Arial"/>
                <a:cs typeface="Arial"/>
              </a:defRPr>
            </a:pPr>
            <a:r>
              <a:rPr sz="1650" b="0">
                <a:solidFill>
                  <a:srgbClr val="59616B"/>
                </a:solidFill>
                <a:latin typeface="Arial"/>
                <a:ea typeface="Arial"/>
                <a:cs typeface="Arial"/>
              </a:rPr>
              <a:t>train-normalized</a:t>
            </a:r>
          </a:p>
        </p:txBody>
      </p:sp>
      <p:sp>
        <p:nvSpPr>
          <p:cNvPr id="19" name="">
            <a:extLst xmlns:a="http://schemas.openxmlformats.org/drawingml/2006/main">
              <a:ext uri="{FF2B5EF4-FFF2-40B4-BE49-F238E27FC236}">
                <a16:creationId xmlns:a16="http://schemas.microsoft.com/office/drawing/2014/main" id="{72C0A1B8-A0D9-48B9-9F6E-D1014A25F4F6}"/>
              </a:ext>
            </a:extLst>
          </p:cNvPr>
          <p:cNvSpPr>
            <a:spLocks xmlns:a="http://schemas.openxmlformats.org/drawingml/2006/main" noGrp="1"/>
          </p:cNvSpPr>
          <p:nvPr/>
        </p:nvSpPr>
        <p:spPr>
          <a:xfrm xmlns:a="http://schemas.openxmlformats.org/drawingml/2006/main">
            <a:off x="1476375" y="5143500"/>
            <a:ext cx="9239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0">
                <a:solidFill>
                  <a:srgbClr val="000000"/>
                </a:solidFill>
                <a:latin typeface="Arial"/>
                <a:ea typeface="Arial"/>
                <a:cs typeface="Arial"/>
              </a:defRPr>
            </a:pPr>
            <a:r>
              <a:rPr sz="1800" b="0">
                <a:solidFill>
                  <a:srgbClr val="000000"/>
                </a:solidFill>
                <a:latin typeface="Arial"/>
                <a:ea typeface="Arial"/>
                <a:cs typeface="Arial"/>
              </a:rPr>
              <a:t>MFCCs are the compact baseline; main experiments retain the full log-Mel map.</a:t>
            </a:r>
          </a:p>
        </p:txBody>
      </p:sp>
    </p:spTree>
    <p:extLst>
      <p:ext uri="{BB962C8B-B14F-4D97-AF65-F5344CB8AC3E}">
        <p14:creationId xmlns:p14="http://schemas.microsoft.com/office/powerpoint/2010/main" val="79946691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6B9A511-BD08-4FD1-BB5B-B35CDFB2C49C}"/>
              </a:ext>
            </a:extLst>
          </p:cNvPr>
          <p:cNvSpPr>
            <a:spLocks xmlns:a="http://schemas.openxmlformats.org/drawingml/2006/main" noGrp="1"/>
          </p:cNvSpPr>
          <p:nvPr/>
        </p:nvSpPr>
        <p:spPr>
          <a:xfrm xmlns:a="http://schemas.openxmlformats.org/drawingml/2006/main">
            <a:off x="457200" y="23812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59616B"/>
                </a:solidFill>
                <a:latin typeface="Arial"/>
                <a:ea typeface="Arial"/>
                <a:cs typeface="Arial"/>
              </a:defRPr>
            </a:pPr>
            <a:r>
              <a:rPr sz="1200" b="1">
                <a:solidFill>
                  <a:srgbClr val="59616B"/>
                </a:solidFill>
                <a:latin typeface="Arial"/>
                <a:ea typeface="Arial"/>
                <a:cs typeface="Arial"/>
              </a:rPr>
              <a:t>SPEECH COMMANDS</a:t>
            </a:r>
          </a:p>
        </p:txBody>
      </p:sp>
      <p:sp>
        <p:nvSpPr>
          <p:cNvPr id="2" name="slide-7-title">
            <a:extLst xmlns:a="http://schemas.openxmlformats.org/drawingml/2006/main">
              <a:ext uri="{FF2B5EF4-FFF2-40B4-BE49-F238E27FC236}">
                <a16:creationId xmlns:a16="http://schemas.microsoft.com/office/drawing/2014/main" id="{201A4AA6-6755-4759-BDD5-941F0EBAB75C}"/>
              </a:ext>
            </a:extLst>
          </p:cNvPr>
          <p:cNvSpPr>
            <a:spLocks xmlns:a="http://schemas.openxmlformats.org/drawingml/2006/main" noGrp="1"/>
          </p:cNvSpPr>
          <p:nvPr/>
        </p:nvSpPr>
        <p:spPr>
          <a:xfrm xmlns:a="http://schemas.openxmlformats.org/drawingml/2006/main">
            <a:off x="457200" y="5143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000000"/>
                </a:solidFill>
                <a:latin typeface="Arial"/>
                <a:ea typeface="Arial"/>
                <a:cs typeface="Arial"/>
              </a:defRPr>
            </a:pPr>
            <a:r>
              <a:rPr sz="3600" b="1">
                <a:solidFill>
                  <a:srgbClr val="000000"/>
                </a:solidFill>
                <a:latin typeface="Arial"/>
                <a:ea typeface="Arial"/>
                <a:cs typeface="Arial"/>
              </a:rPr>
              <a:t>Five experiments isolate each design choice</a:t>
            </a:r>
          </a:p>
        </p:txBody>
      </p:sp>
      <p:sp>
        <p:nvSpPr>
          <p:cNvPr id="3" name="">
            <a:extLst xmlns:a="http://schemas.openxmlformats.org/drawingml/2006/main">
              <a:ext uri="{FF2B5EF4-FFF2-40B4-BE49-F238E27FC236}">
                <a16:creationId xmlns:a16="http://schemas.microsoft.com/office/drawing/2014/main" id="{DCF9A7E5-1A3C-4600-98A1-3E5A90BAA6F5}"/>
              </a:ext>
            </a:extLst>
          </p:cNvPr>
          <p:cNvSpPr>
            <a:spLocks xmlns:a="http://schemas.openxmlformats.org/drawingml/2006/main" noGrp="1"/>
          </p:cNvSpPr>
          <p:nvPr/>
        </p:nvSpPr>
        <p:spPr>
          <a:xfrm xmlns:a="http://schemas.openxmlformats.org/drawingml/2006/main">
            <a:off x="1123950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59616B"/>
                </a:solidFill>
                <a:latin typeface="Arial"/>
                <a:ea typeface="Arial"/>
                <a:cs typeface="Arial"/>
              </a:defRPr>
            </a:pPr>
            <a:r>
              <a:rPr sz="1050" b="0">
                <a:solidFill>
                  <a:srgbClr val="59616B"/>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6E1FBE05-CA18-477F-AEEE-DBFD53D013EB}"/>
              </a:ext>
            </a:extLst>
          </p:cNvPr>
          <p:cNvSpPr>
            <a:spLocks xmlns:a="http://schemas.openxmlformats.org/drawingml/2006/main" noGrp="1"/>
          </p:cNvSpPr>
          <p:nvPr/>
        </p:nvSpPr>
        <p:spPr>
          <a:xfrm xmlns:a="http://schemas.openxmlformats.org/drawingml/2006/main">
            <a:off x="457200" y="1190625"/>
            <a:ext cx="781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9616B"/>
                </a:solidFill>
                <a:latin typeface="Arial"/>
                <a:ea typeface="Arial"/>
                <a:cs typeface="Arial"/>
              </a:defRPr>
            </a:pPr>
            <a:r>
              <a:rPr sz="1650" b="0">
                <a:solidFill>
                  <a:srgbClr val="59616B"/>
                </a:solidFill>
                <a:latin typeface="Arial"/>
                <a:ea typeface="Arial"/>
                <a:cs typeface="Arial"/>
              </a:rPr>
              <a:t>Selection metric: validation macro-F1; the test set remains sealed.</a:t>
            </a:r>
          </a:p>
        </p:txBody>
      </p:sp>
      <p:graphicFrame>
        <p:nvGraphicFramePr>
          <p:cNvPr id="10" name=""/>
          <p:cNvGraphicFramePr/>
          <p:nvPr/>
        </p:nvGraphicFramePr>
        <p:xfrm>
          <a:off xmlns:a="http://schemas.openxmlformats.org/drawingml/2006/main" x="457200" y="1809750"/>
          <a:ext xmlns:a="http://schemas.openxmlformats.org/drawingml/2006/main" cx="11239500" cy="3905250"/>
        </p:xfrm>
        <a:graphic xmlns:a="http://schemas.openxmlformats.org/drawingml/2006/main">
          <a:graphicData uri="http://schemas.openxmlformats.org/drawingml/2006/table">
            <a:tbl>
              <a:tblPr firstRow="1" firstCol="1" bandRow="1"/>
              <a:tblGrid>
                <a:gridCol w="857250"/>
                <a:gridCol w="2000250"/>
                <a:gridCol w="2190750"/>
                <a:gridCol w="2476500"/>
                <a:gridCol w="3714750"/>
              </a:tblGrid>
              <a:tr h="650875">
                <a:tc>
                  <a:txBody>
                    <a:bodyPr/>
                    <a:lstStyle/>
                    <a:p>
                      <a:r>
                        <a:rPr sz="1650" b="1">
                          <a:solidFill>
                            <a:srgbClr val="FFFFFF"/>
                          </a:solidFill>
                          <a:latin typeface="Arial"/>
                          <a:ea typeface="Arial"/>
                          <a:cs typeface="Arial"/>
                        </a:rPr>
                        <a:t>ID</a:t>
                      </a:r>
                    </a:p>
                  </a:txBody>
                  <a:tcPr marL="91440" marR="91440" marT="45720" marB="45720">
                    <a:solidFill>
                      <a:srgbClr val="000000"/>
                    </a:solidFill>
                  </a:tcPr>
                </a:tc>
                <a:tc>
                  <a:txBody>
                    <a:bodyPr/>
                    <a:lstStyle/>
                    <a:p>
                      <a:r>
                        <a:rPr sz="1650" b="1">
                          <a:solidFill>
                            <a:srgbClr val="FFFFFF"/>
                          </a:solidFill>
                          <a:latin typeface="Arial"/>
                          <a:ea typeface="Arial"/>
                          <a:cs typeface="Arial"/>
                        </a:rPr>
                        <a:t>Representation</a:t>
                      </a:r>
                    </a:p>
                  </a:txBody>
                  <a:tcPr marL="91440" marR="91440" marT="45720" marB="45720">
                    <a:solidFill>
                      <a:srgbClr val="000000"/>
                    </a:solidFill>
                  </a:tcPr>
                </a:tc>
                <a:tc>
                  <a:txBody>
                    <a:bodyPr/>
                    <a:lstStyle/>
                    <a:p>
                      <a:r>
                        <a:rPr sz="1650" b="1">
                          <a:solidFill>
                            <a:srgbClr val="FFFFFF"/>
                          </a:solidFill>
                          <a:latin typeface="Arial"/>
                          <a:ea typeface="Arial"/>
                          <a:cs typeface="Arial"/>
                        </a:rPr>
                        <a:t>Architecture</a:t>
                      </a:r>
                    </a:p>
                  </a:txBody>
                  <a:tcPr marL="91440" marR="91440" marT="45720" marB="45720">
                    <a:solidFill>
                      <a:srgbClr val="000000"/>
                    </a:solidFill>
                  </a:tcPr>
                </a:tc>
                <a:tc>
                  <a:txBody>
                    <a:bodyPr/>
                    <a:lstStyle/>
                    <a:p>
                      <a:r>
                        <a:rPr sz="1650" b="1">
                          <a:solidFill>
                            <a:srgbClr val="FFFFFF"/>
                          </a:solidFill>
                          <a:latin typeface="Arial"/>
                          <a:ea typeface="Arial"/>
                          <a:cs typeface="Arial"/>
                        </a:rPr>
                        <a:t>Augmentation</a:t>
                      </a:r>
                    </a:p>
                  </a:txBody>
                  <a:tcPr marL="91440" marR="91440" marT="45720" marB="45720">
                    <a:solidFill>
                      <a:srgbClr val="000000"/>
                    </a:solidFill>
                  </a:tcPr>
                </a:tc>
                <a:tc>
                  <a:txBody>
                    <a:bodyPr/>
                    <a:lstStyle/>
                    <a:p>
                      <a:r>
                        <a:rPr sz="1650" b="1">
                          <a:solidFill>
                            <a:srgbClr val="FFFFFF"/>
                          </a:solidFill>
                          <a:latin typeface="Arial"/>
                          <a:ea typeface="Arial"/>
                          <a:cs typeface="Arial"/>
                        </a:rPr>
                        <a:t>Question</a:t>
                      </a:r>
                    </a:p>
                  </a:txBody>
                  <a:tcPr marL="91440" marR="91440" marT="45720" marB="45720">
                    <a:solidFill>
                      <a:srgbClr val="000000"/>
                    </a:solidFill>
                  </a:tcPr>
                </a:tc>
              </a:tr>
              <a:tr h="650875">
                <a:tc>
                  <a:txBody>
                    <a:bodyPr/>
                    <a:lstStyle/>
                    <a:p>
                      <a:r>
                        <a:rPr sz="1650" b="1">
                          <a:solidFill>
                            <a:srgbClr val="000000"/>
                          </a:solidFill>
                          <a:latin typeface="Arial"/>
                          <a:ea typeface="Arial"/>
                          <a:cs typeface="Arial"/>
                        </a:rPr>
                        <a:t>E01</a:t>
                      </a:r>
                    </a:p>
                  </a:txBody>
                  <a:tcPr marL="91440" marR="91440" marT="45720" marB="45720"/>
                </a:tc>
                <a:tc>
                  <a:txBody>
                    <a:bodyPr/>
                    <a:lstStyle/>
                    <a:p>
                      <a:r>
                        <a:rPr sz="1650">
                          <a:solidFill>
                            <a:srgbClr val="000000"/>
                          </a:solidFill>
                          <a:latin typeface="Arial"/>
                          <a:ea typeface="Arial"/>
                          <a:cs typeface="Arial"/>
                        </a:rPr>
                        <a:t>13 MFCC</a:t>
                      </a:r>
                    </a:p>
                  </a:txBody>
                  <a:tcPr marL="91440" marR="91440" marT="45720" marB="45720"/>
                </a:tc>
                <a:tc>
                  <a:txBody>
                    <a:bodyPr/>
                    <a:lstStyle/>
                    <a:p>
                      <a:r>
                        <a:rPr sz="1650">
                          <a:solidFill>
                            <a:srgbClr val="000000"/>
                          </a:solidFill>
                          <a:latin typeface="Arial"/>
                          <a:ea typeface="Arial"/>
                          <a:cs typeface="Arial"/>
                        </a:rPr>
                        <a:t>MLP</a:t>
                      </a:r>
                    </a:p>
                  </a:txBody>
                  <a:tcPr marL="91440" marR="91440" marT="45720" marB="45720"/>
                </a:tc>
                <a:tc>
                  <a:txBody>
                    <a:bodyPr/>
                    <a:lstStyle/>
                    <a:p>
                      <a:r>
                        <a:rPr sz="1650">
                          <a:solidFill>
                            <a:srgbClr val="000000"/>
                          </a:solidFill>
                          <a:latin typeface="Arial"/>
                          <a:ea typeface="Arial"/>
                          <a:cs typeface="Arial"/>
                        </a:rPr>
                        <a:t>None</a:t>
                      </a:r>
                    </a:p>
                  </a:txBody>
                  <a:tcPr marL="91440" marR="91440" marT="45720" marB="45720"/>
                </a:tc>
                <a:tc>
                  <a:txBody>
                    <a:bodyPr/>
                    <a:lstStyle/>
                    <a:p>
                      <a:r>
                        <a:rPr sz="1650">
                          <a:solidFill>
                            <a:srgbClr val="000000"/>
                          </a:solidFill>
                          <a:latin typeface="Arial"/>
                          <a:ea typeface="Arial"/>
                          <a:cs typeface="Arial"/>
                        </a:rPr>
                        <a:t>Can a dense baseline suffice?</a:t>
                      </a:r>
                    </a:p>
                  </a:txBody>
                  <a:tcPr marL="91440" marR="91440" marT="45720" marB="45720"/>
                </a:tc>
              </a:tr>
              <a:tr h="650875">
                <a:tc>
                  <a:txBody>
                    <a:bodyPr/>
                    <a:lstStyle/>
                    <a:p>
                      <a:r>
                        <a:rPr sz="1650" b="1">
                          <a:solidFill>
                            <a:srgbClr val="000000"/>
                          </a:solidFill>
                          <a:latin typeface="Arial"/>
                          <a:ea typeface="Arial"/>
                          <a:cs typeface="Arial"/>
                        </a:rPr>
                        <a:t>E02</a:t>
                      </a:r>
                    </a:p>
                  </a:txBody>
                  <a:tcPr marL="91440" marR="91440" marT="45720" marB="45720"/>
                </a:tc>
                <a:tc>
                  <a:txBody>
                    <a:bodyPr/>
                    <a:lstStyle/>
                    <a:p>
                      <a:r>
                        <a:rPr sz="1650">
                          <a:solidFill>
                            <a:srgbClr val="000000"/>
                          </a:solidFill>
                          <a:latin typeface="Arial"/>
                          <a:ea typeface="Arial"/>
                          <a:cs typeface="Arial"/>
                        </a:rPr>
                        <a:t>40 log-Mel</a:t>
                      </a:r>
                    </a:p>
                  </a:txBody>
                  <a:tcPr marL="91440" marR="91440" marT="45720" marB="45720"/>
                </a:tc>
                <a:tc>
                  <a:txBody>
                    <a:bodyPr/>
                    <a:lstStyle/>
                    <a:p>
                      <a:r>
                        <a:rPr sz="1650">
                          <a:solidFill>
                            <a:srgbClr val="000000"/>
                          </a:solidFill>
                          <a:latin typeface="Arial"/>
                          <a:ea typeface="Arial"/>
                          <a:cs typeface="Arial"/>
                        </a:rPr>
                        <a:t>Small CNN</a:t>
                      </a:r>
                    </a:p>
                  </a:txBody>
                  <a:tcPr marL="91440" marR="91440" marT="45720" marB="45720"/>
                </a:tc>
                <a:tc>
                  <a:txBody>
                    <a:bodyPr/>
                    <a:lstStyle/>
                    <a:p>
                      <a:r>
                        <a:rPr sz="1650">
                          <a:solidFill>
                            <a:srgbClr val="000000"/>
                          </a:solidFill>
                          <a:latin typeface="Arial"/>
                          <a:ea typeface="Arial"/>
                          <a:cs typeface="Arial"/>
                        </a:rPr>
                        <a:t>None</a:t>
                      </a:r>
                    </a:p>
                  </a:txBody>
                  <a:tcPr marL="91440" marR="91440" marT="45720" marB="45720"/>
                </a:tc>
                <a:tc>
                  <a:txBody>
                    <a:bodyPr/>
                    <a:lstStyle/>
                    <a:p>
                      <a:r>
                        <a:rPr sz="1650">
                          <a:solidFill>
                            <a:srgbClr val="000000"/>
                          </a:solidFill>
                          <a:latin typeface="Arial"/>
                          <a:ea typeface="Arial"/>
                          <a:cs typeface="Arial"/>
                        </a:rPr>
                        <a:t>Does local structure help?</a:t>
                      </a:r>
                    </a:p>
                  </a:txBody>
                  <a:tcPr marL="91440" marR="91440" marT="45720" marB="45720"/>
                </a:tc>
              </a:tr>
              <a:tr h="650875">
                <a:tc>
                  <a:txBody>
                    <a:bodyPr/>
                    <a:lstStyle/>
                    <a:p>
                      <a:r>
                        <a:rPr sz="1650" b="1">
                          <a:solidFill>
                            <a:srgbClr val="000000"/>
                          </a:solidFill>
                          <a:latin typeface="Arial"/>
                          <a:ea typeface="Arial"/>
                          <a:cs typeface="Arial"/>
                        </a:rPr>
                        <a:t>E03</a:t>
                      </a:r>
                    </a:p>
                  </a:txBody>
                  <a:tcPr marL="91440" marR="91440" marT="45720" marB="45720"/>
                </a:tc>
                <a:tc>
                  <a:txBody>
                    <a:bodyPr/>
                    <a:lstStyle/>
                    <a:p>
                      <a:r>
                        <a:rPr sz="1650">
                          <a:solidFill>
                            <a:srgbClr val="000000"/>
                          </a:solidFill>
                          <a:latin typeface="Arial"/>
                          <a:ea typeface="Arial"/>
                          <a:cs typeface="Arial"/>
                        </a:rPr>
                        <a:t>40 log-Mel</a:t>
                      </a:r>
                    </a:p>
                  </a:txBody>
                  <a:tcPr marL="91440" marR="91440" marT="45720" marB="45720"/>
                </a:tc>
                <a:tc>
                  <a:txBody>
                    <a:bodyPr/>
                    <a:lstStyle/>
                    <a:p>
                      <a:r>
                        <a:rPr sz="1650">
                          <a:solidFill>
                            <a:srgbClr val="000000"/>
                          </a:solidFill>
                          <a:latin typeface="Arial"/>
                          <a:ea typeface="Arial"/>
                          <a:cs typeface="Arial"/>
                        </a:rPr>
                        <a:t>DS-CNN</a:t>
                      </a:r>
                    </a:p>
                  </a:txBody>
                  <a:tcPr marL="91440" marR="91440" marT="45720" marB="45720"/>
                </a:tc>
                <a:tc>
                  <a:txBody>
                    <a:bodyPr/>
                    <a:lstStyle/>
                    <a:p>
                      <a:r>
                        <a:rPr sz="1650">
                          <a:solidFill>
                            <a:srgbClr val="000000"/>
                          </a:solidFill>
                          <a:latin typeface="Arial"/>
                          <a:ea typeface="Arial"/>
                          <a:cs typeface="Arial"/>
                        </a:rPr>
                        <a:t>None</a:t>
                      </a:r>
                    </a:p>
                  </a:txBody>
                  <a:tcPr marL="91440" marR="91440" marT="45720" marB="45720"/>
                </a:tc>
                <a:tc>
                  <a:txBody>
                    <a:bodyPr/>
                    <a:lstStyle/>
                    <a:p>
                      <a:r>
                        <a:rPr sz="1650">
                          <a:solidFill>
                            <a:srgbClr val="000000"/>
                          </a:solidFill>
                          <a:latin typeface="Arial"/>
                          <a:ea typeface="Arial"/>
                          <a:cs typeface="Arial"/>
                        </a:rPr>
                        <a:t>Can efficiency retain accuracy?</a:t>
                      </a:r>
                    </a:p>
                  </a:txBody>
                  <a:tcPr marL="91440" marR="91440" marT="45720" marB="45720"/>
                </a:tc>
              </a:tr>
              <a:tr h="650875">
                <a:tc>
                  <a:txBody>
                    <a:bodyPr/>
                    <a:lstStyle/>
                    <a:p>
                      <a:r>
                        <a:rPr sz="1650" b="1">
                          <a:solidFill>
                            <a:srgbClr val="000000"/>
                          </a:solidFill>
                          <a:latin typeface="Arial"/>
                          <a:ea typeface="Arial"/>
                          <a:cs typeface="Arial"/>
                        </a:rPr>
                        <a:t>E04</a:t>
                      </a:r>
                    </a:p>
                  </a:txBody>
                  <a:tcPr marL="91440" marR="91440" marT="45720" marB="45720"/>
                </a:tc>
                <a:tc>
                  <a:txBody>
                    <a:bodyPr/>
                    <a:lstStyle/>
                    <a:p>
                      <a:r>
                        <a:rPr sz="1650">
                          <a:solidFill>
                            <a:srgbClr val="000000"/>
                          </a:solidFill>
                          <a:latin typeface="Arial"/>
                          <a:ea typeface="Arial"/>
                          <a:cs typeface="Arial"/>
                        </a:rPr>
                        <a:t>40 log-Mel</a:t>
                      </a:r>
                    </a:p>
                  </a:txBody>
                  <a:tcPr marL="91440" marR="91440" marT="45720" marB="45720"/>
                </a:tc>
                <a:tc>
                  <a:txBody>
                    <a:bodyPr/>
                    <a:lstStyle/>
                    <a:p>
                      <a:r>
                        <a:rPr sz="1650">
                          <a:solidFill>
                            <a:srgbClr val="000000"/>
                          </a:solidFill>
                          <a:latin typeface="Arial"/>
                          <a:ea typeface="Arial"/>
                          <a:cs typeface="Arial"/>
                        </a:rPr>
                        <a:t>DS-CNN</a:t>
                      </a:r>
                    </a:p>
                  </a:txBody>
                  <a:tcPr marL="91440" marR="91440" marT="45720" marB="45720"/>
                </a:tc>
                <a:tc>
                  <a:txBody>
                    <a:bodyPr/>
                    <a:lstStyle/>
                    <a:p>
                      <a:r>
                        <a:rPr sz="1650">
                          <a:solidFill>
                            <a:srgbClr val="000000"/>
                          </a:solidFill>
                          <a:latin typeface="Arial"/>
                          <a:ea typeface="Arial"/>
                          <a:cs typeface="Arial"/>
                        </a:rPr>
                        <a:t>Wave + SpecAugment</a:t>
                      </a:r>
                    </a:p>
                  </a:txBody>
                  <a:tcPr marL="91440" marR="91440" marT="45720" marB="45720"/>
                </a:tc>
                <a:tc>
                  <a:txBody>
                    <a:bodyPr/>
                    <a:lstStyle/>
                    <a:p>
                      <a:r>
                        <a:rPr sz="1650">
                          <a:solidFill>
                            <a:srgbClr val="000000"/>
                          </a:solidFill>
                          <a:latin typeface="Arial"/>
                          <a:ea typeface="Arial"/>
                          <a:cs typeface="Arial"/>
                        </a:rPr>
                        <a:t>What does augmentation trade?</a:t>
                      </a:r>
                    </a:p>
                  </a:txBody>
                  <a:tcPr marL="91440" marR="91440" marT="45720" marB="45720"/>
                </a:tc>
              </a:tr>
              <a:tr h="650875">
                <a:tc>
                  <a:txBody>
                    <a:bodyPr/>
                    <a:lstStyle/>
                    <a:p>
                      <a:r>
                        <a:rPr sz="1650" b="1">
                          <a:solidFill>
                            <a:srgbClr val="3D8DFF"/>
                          </a:solidFill>
                          <a:latin typeface="Arial"/>
                          <a:ea typeface="Arial"/>
                          <a:cs typeface="Arial"/>
                        </a:rPr>
                        <a:t>E05</a:t>
                      </a:r>
                    </a:p>
                  </a:txBody>
                  <a:tcPr marL="91440" marR="91440" marT="45720" marB="45720"/>
                </a:tc>
                <a:tc>
                  <a:txBody>
                    <a:bodyPr/>
                    <a:lstStyle/>
                    <a:p>
                      <a:r>
                        <a:rPr sz="1650">
                          <a:solidFill>
                            <a:srgbClr val="000000"/>
                          </a:solidFill>
                          <a:latin typeface="Arial"/>
                          <a:ea typeface="Arial"/>
                          <a:cs typeface="Arial"/>
                        </a:rPr>
                        <a:t>40 log-Mel</a:t>
                      </a:r>
                    </a:p>
                  </a:txBody>
                  <a:tcPr marL="91440" marR="91440" marT="45720" marB="45720"/>
                </a:tc>
                <a:tc>
                  <a:txBody>
                    <a:bodyPr/>
                    <a:lstStyle/>
                    <a:p>
                      <a:r>
                        <a:rPr sz="1650">
                          <a:solidFill>
                            <a:srgbClr val="000000"/>
                          </a:solidFill>
                          <a:latin typeface="Arial"/>
                          <a:ea typeface="Arial"/>
                          <a:cs typeface="Arial"/>
                        </a:rPr>
                        <a:t>Conv + BiGRU</a:t>
                      </a:r>
                    </a:p>
                  </a:txBody>
                  <a:tcPr marL="91440" marR="91440" marT="45720" marB="45720"/>
                </a:tc>
                <a:tc>
                  <a:txBody>
                    <a:bodyPr/>
                    <a:lstStyle/>
                    <a:p>
                      <a:r>
                        <a:rPr sz="1650">
                          <a:solidFill>
                            <a:srgbClr val="000000"/>
                          </a:solidFill>
                          <a:latin typeface="Arial"/>
                          <a:ea typeface="Arial"/>
                          <a:cs typeface="Arial"/>
                        </a:rPr>
                        <a:t>Wave + SpecAugment</a:t>
                      </a:r>
                    </a:p>
                  </a:txBody>
                  <a:tcPr marL="91440" marR="91440" marT="45720" marB="45720"/>
                </a:tc>
                <a:tc>
                  <a:txBody>
                    <a:bodyPr/>
                    <a:lstStyle/>
                    <a:p>
                      <a:r>
                        <a:rPr sz="1650">
                          <a:solidFill>
                            <a:srgbClr val="000000"/>
                          </a:solidFill>
                          <a:latin typeface="Arial"/>
                          <a:ea typeface="Arial"/>
                          <a:cs typeface="Arial"/>
                        </a:rPr>
                        <a:t>Does temporal memory help?</a:t>
                      </a:r>
                    </a:p>
                  </a:txBody>
                  <a:tcPr marL="91440" marR="91440" marT="45720" marB="45720"/>
                </a:tc>
              </a:tr>
            </a:tbl>
          </a:graphicData>
        </a:graphic>
      </p:graphicFrame>
    </p:spTree>
    <p:extLst>
      <p:ext uri="{BB962C8B-B14F-4D97-AF65-F5344CB8AC3E}">
        <p14:creationId xmlns:p14="http://schemas.microsoft.com/office/powerpoint/2010/main" val="45002493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2C54B76-E33D-4155-A1F3-7C15C6340DB7}"/>
              </a:ext>
            </a:extLst>
          </p:cNvPr>
          <p:cNvSpPr>
            <a:spLocks xmlns:a="http://schemas.openxmlformats.org/drawingml/2006/main" noGrp="1"/>
          </p:cNvSpPr>
          <p:nvPr/>
        </p:nvSpPr>
        <p:spPr>
          <a:xfrm xmlns:a="http://schemas.openxmlformats.org/drawingml/2006/main">
            <a:off x="457200" y="23812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59616B"/>
                </a:solidFill>
                <a:latin typeface="Arial"/>
                <a:ea typeface="Arial"/>
                <a:cs typeface="Arial"/>
              </a:defRPr>
            </a:pPr>
            <a:r>
              <a:rPr sz="1200" b="1">
                <a:solidFill>
                  <a:srgbClr val="59616B"/>
                </a:solidFill>
                <a:latin typeface="Arial"/>
                <a:ea typeface="Arial"/>
                <a:cs typeface="Arial"/>
              </a:rPr>
              <a:t>SPEECH COMMANDS</a:t>
            </a:r>
          </a:p>
        </p:txBody>
      </p:sp>
      <p:sp>
        <p:nvSpPr>
          <p:cNvPr id="2" name="slide-8-title">
            <a:extLst xmlns:a="http://schemas.openxmlformats.org/drawingml/2006/main">
              <a:ext uri="{FF2B5EF4-FFF2-40B4-BE49-F238E27FC236}">
                <a16:creationId xmlns:a16="http://schemas.microsoft.com/office/drawing/2014/main" id="{B19A2DEA-D93C-49B1-854D-2EA540401EC6}"/>
              </a:ext>
            </a:extLst>
          </p:cNvPr>
          <p:cNvSpPr>
            <a:spLocks xmlns:a="http://schemas.openxmlformats.org/drawingml/2006/main" noGrp="1"/>
          </p:cNvSpPr>
          <p:nvPr/>
        </p:nvSpPr>
        <p:spPr>
          <a:xfrm xmlns:a="http://schemas.openxmlformats.org/drawingml/2006/main">
            <a:off x="457200" y="5143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000000"/>
                </a:solidFill>
                <a:latin typeface="Arial"/>
                <a:ea typeface="Arial"/>
                <a:cs typeface="Arial"/>
              </a:defRPr>
            </a:pPr>
            <a:r>
              <a:rPr sz="3600" b="1">
                <a:solidFill>
                  <a:srgbClr val="000000"/>
                </a:solidFill>
                <a:latin typeface="Arial"/>
                <a:ea typeface="Arial"/>
                <a:cs typeface="Arial"/>
              </a:rPr>
              <a:t>Task structure beats parameter count</a:t>
            </a:r>
          </a:p>
        </p:txBody>
      </p:sp>
      <p:sp>
        <p:nvSpPr>
          <p:cNvPr id="3" name="">
            <a:extLst xmlns:a="http://schemas.openxmlformats.org/drawingml/2006/main">
              <a:ext uri="{FF2B5EF4-FFF2-40B4-BE49-F238E27FC236}">
                <a16:creationId xmlns:a16="http://schemas.microsoft.com/office/drawing/2014/main" id="{FAF26FA0-C688-457B-82B8-D500A1478EAC}"/>
              </a:ext>
            </a:extLst>
          </p:cNvPr>
          <p:cNvSpPr>
            <a:spLocks xmlns:a="http://schemas.openxmlformats.org/drawingml/2006/main" noGrp="1"/>
          </p:cNvSpPr>
          <p:nvPr/>
        </p:nvSpPr>
        <p:spPr>
          <a:xfrm xmlns:a="http://schemas.openxmlformats.org/drawingml/2006/main">
            <a:off x="1123950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59616B"/>
                </a:solidFill>
                <a:latin typeface="Arial"/>
                <a:ea typeface="Arial"/>
                <a:cs typeface="Arial"/>
              </a:defRPr>
            </a:pPr>
            <a:r>
              <a:rPr sz="1050" b="0">
                <a:solidFill>
                  <a:srgbClr val="59616B"/>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38FDD52C-1720-4303-A62A-D051F1F8BF32}"/>
              </a:ext>
            </a:extLst>
          </p:cNvPr>
          <p:cNvSpPr>
            <a:spLocks xmlns:a="http://schemas.openxmlformats.org/drawingml/2006/main" noGrp="1"/>
          </p:cNvSpPr>
          <p:nvPr/>
        </p:nvSpPr>
        <p:spPr>
          <a:xfrm xmlns:a="http://schemas.openxmlformats.org/drawingml/2006/main">
            <a:off x="457200" y="1666875"/>
            <a:ext cx="3381375" cy="3714750"/>
          </a:xfrm>
          <a:prstGeom xmlns:a="http://schemas.openxmlformats.org/drawingml/2006/main" prst="rect">
            <a:avLst/>
          </a:prstGeom>
          <a:solidFill xmlns:a="http://schemas.openxmlformats.org/drawingml/2006/main">
            <a:srgbClr val="F2F2F2"/>
          </a:solidFill>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28F6793B-EC0C-4826-A014-BA8D69EA933F}"/>
              </a:ext>
            </a:extLst>
          </p:cNvPr>
          <p:cNvSpPr>
            <a:spLocks xmlns:a="http://schemas.openxmlformats.org/drawingml/2006/main" noGrp="1"/>
          </p:cNvSpPr>
          <p:nvPr/>
        </p:nvSpPr>
        <p:spPr>
          <a:xfrm xmlns:a="http://schemas.openxmlformats.org/drawingml/2006/main">
            <a:off x="457200" y="1666875"/>
            <a:ext cx="3381375" cy="0"/>
          </a:xfrm>
          <a:prstGeom xmlns:a="http://schemas.openxmlformats.org/drawingml/2006/main" prst="line">
            <a:avLst/>
          </a:prstGeom>
          <a:noFill xmlns:a="http://schemas.openxmlformats.org/drawingml/2006/main"/>
          <a:ln xmlns:a="http://schemas.openxmlformats.org/drawingml/2006/main" w="76200">
            <a:solidFill>
              <a:srgbClr val="B8BCC4"/>
            </a:solidFill>
            <a:prstDash val="solid"/>
          </a:ln>
        </p:spPr>
      </p:sp>
      <p:sp>
        <p:nvSpPr>
          <p:cNvPr id="6" name="">
            <a:extLst xmlns:a="http://schemas.openxmlformats.org/drawingml/2006/main">
              <a:ext uri="{FF2B5EF4-FFF2-40B4-BE49-F238E27FC236}">
                <a16:creationId xmlns:a16="http://schemas.microsoft.com/office/drawing/2014/main" id="{BB781FBE-30B8-49AE-B3E3-599FAE1B7CE2}"/>
              </a:ext>
            </a:extLst>
          </p:cNvPr>
          <p:cNvSpPr>
            <a:spLocks xmlns:a="http://schemas.openxmlformats.org/drawingml/2006/main" noGrp="1"/>
          </p:cNvSpPr>
          <p:nvPr/>
        </p:nvSpPr>
        <p:spPr>
          <a:xfrm xmlns:a="http://schemas.openxmlformats.org/drawingml/2006/main">
            <a:off x="723900" y="2047875"/>
            <a:ext cx="285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MFCC MLP</a:t>
            </a:r>
          </a:p>
        </p:txBody>
      </p:sp>
      <p:sp>
        <p:nvSpPr>
          <p:cNvPr id="7" name="">
            <a:extLst xmlns:a="http://schemas.openxmlformats.org/drawingml/2006/main">
              <a:ext uri="{FF2B5EF4-FFF2-40B4-BE49-F238E27FC236}">
                <a16:creationId xmlns:a16="http://schemas.microsoft.com/office/drawing/2014/main" id="{BDB77CE9-1A8F-4A89-BB3D-5CB638DA58C3}"/>
              </a:ext>
            </a:extLst>
          </p:cNvPr>
          <p:cNvSpPr>
            <a:spLocks xmlns:a="http://schemas.openxmlformats.org/drawingml/2006/main" noGrp="1"/>
          </p:cNvSpPr>
          <p:nvPr/>
        </p:nvSpPr>
        <p:spPr>
          <a:xfrm xmlns:a="http://schemas.openxmlformats.org/drawingml/2006/main">
            <a:off x="723900" y="2714625"/>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B8BCC4"/>
                </a:solidFill>
                <a:latin typeface="Arial"/>
                <a:ea typeface="Arial"/>
                <a:cs typeface="Arial"/>
              </a:defRPr>
            </a:pPr>
            <a:r>
              <a:rPr sz="1800" b="1">
                <a:solidFill>
                  <a:srgbClr val="B8BCC4"/>
                </a:solidFill>
                <a:latin typeface="Arial"/>
                <a:ea typeface="Arial"/>
                <a:cs typeface="Arial"/>
              </a:rPr>
              <a:t>361,999 params</a:t>
            </a:r>
          </a:p>
        </p:txBody>
      </p:sp>
      <p:sp>
        <p:nvSpPr>
          <p:cNvPr id="8" name="">
            <a:extLst xmlns:a="http://schemas.openxmlformats.org/drawingml/2006/main">
              <a:ext uri="{FF2B5EF4-FFF2-40B4-BE49-F238E27FC236}">
                <a16:creationId xmlns:a16="http://schemas.microsoft.com/office/drawing/2014/main" id="{276BB98B-5646-4876-838F-15198ECBB8ED}"/>
              </a:ext>
            </a:extLst>
          </p:cNvPr>
          <p:cNvSpPr>
            <a:spLocks xmlns:a="http://schemas.openxmlformats.org/drawingml/2006/main" noGrp="1"/>
          </p:cNvSpPr>
          <p:nvPr/>
        </p:nvSpPr>
        <p:spPr>
          <a:xfrm xmlns:a="http://schemas.openxmlformats.org/drawingml/2006/main">
            <a:off x="723900" y="3429000"/>
            <a:ext cx="2857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59616B"/>
                </a:solidFill>
                <a:latin typeface="Arial"/>
                <a:ea typeface="Arial"/>
                <a:cs typeface="Arial"/>
              </a:defRPr>
            </a:pPr>
            <a:r>
              <a:rPr sz="1725" b="0">
                <a:solidFill>
                  <a:srgbClr val="59616B"/>
                </a:solidFill>
                <a:latin typeface="Arial"/>
                <a:ea typeface="Arial"/>
                <a:cs typeface="Arial"/>
              </a:rPr>
              <a:t>Flattened coefficients</a:t>
            </a:r>
          </a:p>
          <a:p xmlns:a="http://schemas.openxmlformats.org/drawingml/2006/main">
            <a:pPr algn="l">
              <a:defRPr sz="1725" b="0">
                <a:solidFill>
                  <a:srgbClr val="59616B"/>
                </a:solidFill>
                <a:latin typeface="Arial"/>
                <a:ea typeface="Arial"/>
                <a:cs typeface="Arial"/>
              </a:defRPr>
            </a:pPr>
            <a:r>
              <a:rPr sz="1725" b="0">
                <a:solidFill>
                  <a:srgbClr val="59616B"/>
                </a:solidFill>
                <a:latin typeface="Arial"/>
                <a:ea typeface="Arial"/>
                <a:cs typeface="Arial"/>
              </a:rPr>
              <a:t>3 dense blocks</a:t>
            </a:r>
          </a:p>
          <a:p xmlns:a="http://schemas.openxmlformats.org/drawingml/2006/main">
            <a:pPr algn="l">
              <a:defRPr sz="1725" b="0">
                <a:solidFill>
                  <a:srgbClr val="59616B"/>
                </a:solidFill>
                <a:latin typeface="Arial"/>
                <a:ea typeface="Arial"/>
                <a:cs typeface="Arial"/>
              </a:defRPr>
            </a:pPr>
            <a:r>
              <a:rPr sz="1725" b="0">
                <a:solidFill>
                  <a:srgbClr val="59616B"/>
                </a:solidFill>
                <a:latin typeface="Arial"/>
                <a:ea typeface="Arial"/>
                <a:cs typeface="Arial"/>
              </a:rPr>
              <a:t>No explicit locality</a:t>
            </a:r>
          </a:p>
        </p:txBody>
      </p:sp>
      <p:sp>
        <p:nvSpPr>
          <p:cNvPr id="9" name="">
            <a:extLst xmlns:a="http://schemas.openxmlformats.org/drawingml/2006/main">
              <a:ext uri="{FF2B5EF4-FFF2-40B4-BE49-F238E27FC236}">
                <a16:creationId xmlns:a16="http://schemas.microsoft.com/office/drawing/2014/main" id="{467E68AE-C27D-40F3-B20D-BACC5DFCB544}"/>
              </a:ext>
            </a:extLst>
          </p:cNvPr>
          <p:cNvSpPr>
            <a:spLocks xmlns:a="http://schemas.openxmlformats.org/drawingml/2006/main" noGrp="1"/>
          </p:cNvSpPr>
          <p:nvPr/>
        </p:nvSpPr>
        <p:spPr>
          <a:xfrm xmlns:a="http://schemas.openxmlformats.org/drawingml/2006/main">
            <a:off x="4305300" y="1666875"/>
            <a:ext cx="3381375" cy="3714750"/>
          </a:xfrm>
          <a:prstGeom xmlns:a="http://schemas.openxmlformats.org/drawingml/2006/main" prst="rect">
            <a:avLst/>
          </a:prstGeom>
          <a:solidFill xmlns:a="http://schemas.openxmlformats.org/drawingml/2006/main">
            <a:srgbClr val="F2F2F2"/>
          </a:solidFill>
          <a:ln xmlns:a="http://schemas.openxmlformats.org/drawingml/2006/main" w="9525">
            <a:solidFill>
              <a:srgbClr val="7B2CBF"/>
            </a:solidFill>
            <a:prstDash val="solid"/>
          </a:ln>
        </p:spPr>
      </p:sp>
      <p:sp>
        <p:nvSpPr>
          <p:cNvPr id="10" name="">
            <a:extLst xmlns:a="http://schemas.openxmlformats.org/drawingml/2006/main">
              <a:ext uri="{FF2B5EF4-FFF2-40B4-BE49-F238E27FC236}">
                <a16:creationId xmlns:a16="http://schemas.microsoft.com/office/drawing/2014/main" id="{9E5C89BA-6FF8-4715-9DCB-4E63050DCF54}"/>
              </a:ext>
            </a:extLst>
          </p:cNvPr>
          <p:cNvSpPr>
            <a:spLocks xmlns:a="http://schemas.openxmlformats.org/drawingml/2006/main" noGrp="1"/>
          </p:cNvSpPr>
          <p:nvPr/>
        </p:nvSpPr>
        <p:spPr>
          <a:xfrm xmlns:a="http://schemas.openxmlformats.org/drawingml/2006/main">
            <a:off x="4305300" y="1666875"/>
            <a:ext cx="3381375" cy="0"/>
          </a:xfrm>
          <a:prstGeom xmlns:a="http://schemas.openxmlformats.org/drawingml/2006/main" prst="line">
            <a:avLst/>
          </a:prstGeom>
          <a:noFill xmlns:a="http://schemas.openxmlformats.org/drawingml/2006/main"/>
          <a:ln xmlns:a="http://schemas.openxmlformats.org/drawingml/2006/main" w="76200">
            <a:solidFill>
              <a:srgbClr val="7B2CBF"/>
            </a:solidFill>
            <a:prstDash val="solid"/>
          </a:ln>
        </p:spPr>
      </p:sp>
      <p:sp>
        <p:nvSpPr>
          <p:cNvPr id="11" name="">
            <a:extLst xmlns:a="http://schemas.openxmlformats.org/drawingml/2006/main">
              <a:ext uri="{FF2B5EF4-FFF2-40B4-BE49-F238E27FC236}">
                <a16:creationId xmlns:a16="http://schemas.microsoft.com/office/drawing/2014/main" id="{814D6A17-729F-4229-9504-DC861E6E7B6F}"/>
              </a:ext>
            </a:extLst>
          </p:cNvPr>
          <p:cNvSpPr>
            <a:spLocks xmlns:a="http://schemas.openxmlformats.org/drawingml/2006/main" noGrp="1"/>
          </p:cNvSpPr>
          <p:nvPr/>
        </p:nvSpPr>
        <p:spPr>
          <a:xfrm xmlns:a="http://schemas.openxmlformats.org/drawingml/2006/main">
            <a:off x="4572000" y="2047875"/>
            <a:ext cx="285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DS-CNN</a:t>
            </a:r>
          </a:p>
        </p:txBody>
      </p:sp>
      <p:sp>
        <p:nvSpPr>
          <p:cNvPr id="12" name="">
            <a:extLst xmlns:a="http://schemas.openxmlformats.org/drawingml/2006/main">
              <a:ext uri="{FF2B5EF4-FFF2-40B4-BE49-F238E27FC236}">
                <a16:creationId xmlns:a16="http://schemas.microsoft.com/office/drawing/2014/main" id="{474C71F4-193B-4025-89DF-66F4B3C0FB0D}"/>
              </a:ext>
            </a:extLst>
          </p:cNvPr>
          <p:cNvSpPr>
            <a:spLocks xmlns:a="http://schemas.openxmlformats.org/drawingml/2006/main" noGrp="1"/>
          </p:cNvSpPr>
          <p:nvPr/>
        </p:nvSpPr>
        <p:spPr>
          <a:xfrm xmlns:a="http://schemas.openxmlformats.org/drawingml/2006/main">
            <a:off x="4572000" y="2714625"/>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7B2CBF"/>
                </a:solidFill>
                <a:latin typeface="Arial"/>
                <a:ea typeface="Arial"/>
                <a:cs typeface="Arial"/>
              </a:defRPr>
            </a:pPr>
            <a:r>
              <a:rPr sz="1800" b="1">
                <a:solidFill>
                  <a:srgbClr val="7B2CBF"/>
                </a:solidFill>
                <a:latin typeface="Arial"/>
                <a:ea typeface="Arial"/>
                <a:cs typeface="Arial"/>
              </a:rPr>
              <a:t>46,863 params</a:t>
            </a:r>
          </a:p>
        </p:txBody>
      </p:sp>
      <p:sp>
        <p:nvSpPr>
          <p:cNvPr id="13" name="">
            <a:extLst xmlns:a="http://schemas.openxmlformats.org/drawingml/2006/main">
              <a:ext uri="{FF2B5EF4-FFF2-40B4-BE49-F238E27FC236}">
                <a16:creationId xmlns:a16="http://schemas.microsoft.com/office/drawing/2014/main" id="{26A381F2-38CE-4CF7-B224-7911ABB9B106}"/>
              </a:ext>
            </a:extLst>
          </p:cNvPr>
          <p:cNvSpPr>
            <a:spLocks xmlns:a="http://schemas.openxmlformats.org/drawingml/2006/main" noGrp="1"/>
          </p:cNvSpPr>
          <p:nvPr/>
        </p:nvSpPr>
        <p:spPr>
          <a:xfrm xmlns:a="http://schemas.openxmlformats.org/drawingml/2006/main">
            <a:off x="4572000" y="3429000"/>
            <a:ext cx="2857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59616B"/>
                </a:solidFill>
                <a:latin typeface="Arial"/>
                <a:ea typeface="Arial"/>
                <a:cs typeface="Arial"/>
              </a:defRPr>
            </a:pPr>
            <a:r>
              <a:rPr sz="1725" b="0">
                <a:solidFill>
                  <a:srgbClr val="59616B"/>
                </a:solidFill>
                <a:latin typeface="Arial"/>
                <a:ea typeface="Arial"/>
                <a:cs typeface="Arial"/>
              </a:rPr>
              <a:t>Depthwise + pointwise conv</a:t>
            </a:r>
          </a:p>
          <a:p xmlns:a="http://schemas.openxmlformats.org/drawingml/2006/main">
            <a:pPr algn="l">
              <a:defRPr sz="1725" b="0">
                <a:solidFill>
                  <a:srgbClr val="59616B"/>
                </a:solidFill>
                <a:latin typeface="Arial"/>
                <a:ea typeface="Arial"/>
                <a:cs typeface="Arial"/>
              </a:defRPr>
            </a:pPr>
            <a:r>
              <a:rPr sz="1725" b="0">
                <a:solidFill>
                  <a:srgbClr val="59616B"/>
                </a:solidFill>
                <a:latin typeface="Arial"/>
                <a:ea typeface="Arial"/>
                <a:cs typeface="Arial"/>
              </a:rPr>
              <a:t>Global pooling</a:t>
            </a:r>
          </a:p>
          <a:p xmlns:a="http://schemas.openxmlformats.org/drawingml/2006/main">
            <a:pPr algn="l">
              <a:defRPr sz="1725" b="0">
                <a:solidFill>
                  <a:srgbClr val="59616B"/>
                </a:solidFill>
                <a:latin typeface="Arial"/>
                <a:ea typeface="Arial"/>
                <a:cs typeface="Arial"/>
              </a:defRPr>
            </a:pPr>
            <a:r>
              <a:rPr sz="1725" b="0">
                <a:solidFill>
                  <a:srgbClr val="59616B"/>
                </a:solidFill>
                <a:latin typeface="Arial"/>
                <a:ea typeface="Arial"/>
                <a:cs typeface="Arial"/>
              </a:rPr>
              <a:t>Compact spatial model</a:t>
            </a:r>
          </a:p>
        </p:txBody>
      </p:sp>
      <p:sp>
        <p:nvSpPr>
          <p:cNvPr id="14" name="">
            <a:extLst xmlns:a="http://schemas.openxmlformats.org/drawingml/2006/main">
              <a:ext uri="{FF2B5EF4-FFF2-40B4-BE49-F238E27FC236}">
                <a16:creationId xmlns:a16="http://schemas.microsoft.com/office/drawing/2014/main" id="{FEF3CC35-65FD-46B6-9714-DB824D71AEA0}"/>
              </a:ext>
            </a:extLst>
          </p:cNvPr>
          <p:cNvSpPr>
            <a:spLocks xmlns:a="http://schemas.openxmlformats.org/drawingml/2006/main" noGrp="1"/>
          </p:cNvSpPr>
          <p:nvPr/>
        </p:nvSpPr>
        <p:spPr>
          <a:xfrm xmlns:a="http://schemas.openxmlformats.org/drawingml/2006/main">
            <a:off x="8153400" y="1666875"/>
            <a:ext cx="3381375" cy="3714750"/>
          </a:xfrm>
          <a:prstGeom xmlns:a="http://schemas.openxmlformats.org/drawingml/2006/main" prst="rect">
            <a:avLst/>
          </a:prstGeom>
          <a:solidFill xmlns:a="http://schemas.openxmlformats.org/drawingml/2006/main">
            <a:srgbClr val="D0EDFA"/>
          </a:solidFill>
          <a:ln xmlns:a="http://schemas.openxmlformats.org/drawingml/2006/main" w="28575">
            <a:solidFill>
              <a:srgbClr val="3D8DFF"/>
            </a:solidFill>
            <a:prstDash val="solid"/>
          </a:ln>
        </p:spPr>
      </p:sp>
      <p:sp>
        <p:nvSpPr>
          <p:cNvPr id="15" name="">
            <a:extLst xmlns:a="http://schemas.openxmlformats.org/drawingml/2006/main">
              <a:ext uri="{FF2B5EF4-FFF2-40B4-BE49-F238E27FC236}">
                <a16:creationId xmlns:a16="http://schemas.microsoft.com/office/drawing/2014/main" id="{C40FAAAB-F5DD-4364-B146-B3CE18D222D4}"/>
              </a:ext>
            </a:extLst>
          </p:cNvPr>
          <p:cNvSpPr>
            <a:spLocks xmlns:a="http://schemas.openxmlformats.org/drawingml/2006/main" noGrp="1"/>
          </p:cNvSpPr>
          <p:nvPr/>
        </p:nvSpPr>
        <p:spPr>
          <a:xfrm xmlns:a="http://schemas.openxmlformats.org/drawingml/2006/main">
            <a:off x="8153400" y="1666875"/>
            <a:ext cx="3381375" cy="0"/>
          </a:xfrm>
          <a:prstGeom xmlns:a="http://schemas.openxmlformats.org/drawingml/2006/main" prst="line">
            <a:avLst/>
          </a:prstGeom>
          <a:noFill xmlns:a="http://schemas.openxmlformats.org/drawingml/2006/main"/>
          <a:ln xmlns:a="http://schemas.openxmlformats.org/drawingml/2006/main" w="76200">
            <a:solidFill>
              <a:srgbClr val="3D8DFF"/>
            </a:solidFill>
            <a:prstDash val="solid"/>
          </a:ln>
        </p:spPr>
      </p:sp>
      <p:sp>
        <p:nvSpPr>
          <p:cNvPr id="16" name="">
            <a:extLst xmlns:a="http://schemas.openxmlformats.org/drawingml/2006/main">
              <a:ext uri="{FF2B5EF4-FFF2-40B4-BE49-F238E27FC236}">
                <a16:creationId xmlns:a16="http://schemas.microsoft.com/office/drawing/2014/main" id="{911AA1D7-1D72-4BF5-9F56-6191935E34F0}"/>
              </a:ext>
            </a:extLst>
          </p:cNvPr>
          <p:cNvSpPr>
            <a:spLocks xmlns:a="http://schemas.openxmlformats.org/drawingml/2006/main" noGrp="1"/>
          </p:cNvSpPr>
          <p:nvPr/>
        </p:nvSpPr>
        <p:spPr>
          <a:xfrm xmlns:a="http://schemas.openxmlformats.org/drawingml/2006/main">
            <a:off x="8420100" y="2047875"/>
            <a:ext cx="285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Conv + BiGRU</a:t>
            </a:r>
          </a:p>
        </p:txBody>
      </p:sp>
      <p:sp>
        <p:nvSpPr>
          <p:cNvPr id="17" name="">
            <a:extLst xmlns:a="http://schemas.openxmlformats.org/drawingml/2006/main">
              <a:ext uri="{FF2B5EF4-FFF2-40B4-BE49-F238E27FC236}">
                <a16:creationId xmlns:a16="http://schemas.microsoft.com/office/drawing/2014/main" id="{D060AB5B-EB1C-49C0-9069-2C693F5B8B13}"/>
              </a:ext>
            </a:extLst>
          </p:cNvPr>
          <p:cNvSpPr>
            <a:spLocks xmlns:a="http://schemas.openxmlformats.org/drawingml/2006/main" noGrp="1"/>
          </p:cNvSpPr>
          <p:nvPr/>
        </p:nvSpPr>
        <p:spPr>
          <a:xfrm xmlns:a="http://schemas.openxmlformats.org/drawingml/2006/main">
            <a:off x="8420100" y="2714625"/>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292,271 params</a:t>
            </a:r>
          </a:p>
        </p:txBody>
      </p:sp>
      <p:sp>
        <p:nvSpPr>
          <p:cNvPr id="18" name="">
            <a:extLst xmlns:a="http://schemas.openxmlformats.org/drawingml/2006/main">
              <a:ext uri="{FF2B5EF4-FFF2-40B4-BE49-F238E27FC236}">
                <a16:creationId xmlns:a16="http://schemas.microsoft.com/office/drawing/2014/main" id="{F680275E-D387-40B1-9250-B64F9489139C}"/>
              </a:ext>
            </a:extLst>
          </p:cNvPr>
          <p:cNvSpPr>
            <a:spLocks xmlns:a="http://schemas.openxmlformats.org/drawingml/2006/main" noGrp="1"/>
          </p:cNvSpPr>
          <p:nvPr/>
        </p:nvSpPr>
        <p:spPr>
          <a:xfrm xmlns:a="http://schemas.openxmlformats.org/drawingml/2006/main">
            <a:off x="8420100" y="3429000"/>
            <a:ext cx="2857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59616B"/>
                </a:solidFill>
                <a:latin typeface="Arial"/>
                <a:ea typeface="Arial"/>
                <a:cs typeface="Arial"/>
              </a:defRPr>
            </a:pPr>
            <a:r>
              <a:rPr sz="1725" b="0">
                <a:solidFill>
                  <a:srgbClr val="59616B"/>
                </a:solidFill>
                <a:latin typeface="Arial"/>
                <a:ea typeface="Arial"/>
                <a:cs typeface="Arial"/>
              </a:rPr>
              <a:t>Convolutional front end</a:t>
            </a:r>
          </a:p>
          <a:p xmlns:a="http://schemas.openxmlformats.org/drawingml/2006/main">
            <a:pPr algn="l">
              <a:defRPr sz="1725" b="0">
                <a:solidFill>
                  <a:srgbClr val="59616B"/>
                </a:solidFill>
                <a:latin typeface="Arial"/>
                <a:ea typeface="Arial"/>
                <a:cs typeface="Arial"/>
              </a:defRPr>
            </a:pPr>
            <a:r>
              <a:rPr sz="1725" b="0">
                <a:solidFill>
                  <a:srgbClr val="59616B"/>
                </a:solidFill>
                <a:latin typeface="Arial"/>
                <a:ea typeface="Arial"/>
                <a:cs typeface="Arial"/>
              </a:rPr>
              <a:t>Bidirectional recurrence</a:t>
            </a:r>
          </a:p>
          <a:p xmlns:a="http://schemas.openxmlformats.org/drawingml/2006/main">
            <a:pPr algn="l">
              <a:defRPr sz="1725" b="0">
                <a:solidFill>
                  <a:srgbClr val="59616B"/>
                </a:solidFill>
                <a:latin typeface="Arial"/>
                <a:ea typeface="Arial"/>
                <a:cs typeface="Arial"/>
              </a:defRPr>
            </a:pPr>
            <a:r>
              <a:rPr sz="1725" b="0">
                <a:solidFill>
                  <a:srgbClr val="59616B"/>
                </a:solidFill>
                <a:latin typeface="Arial"/>
                <a:ea typeface="Arial"/>
                <a:cs typeface="Arial"/>
              </a:rPr>
              <a:t>Temporal pooling</a:t>
            </a:r>
          </a:p>
        </p:txBody>
      </p:sp>
      <p:sp>
        <p:nvSpPr>
          <p:cNvPr id="19" name="">
            <a:extLst xmlns:a="http://schemas.openxmlformats.org/drawingml/2006/main">
              <a:ext uri="{FF2B5EF4-FFF2-40B4-BE49-F238E27FC236}">
                <a16:creationId xmlns:a16="http://schemas.microsoft.com/office/drawing/2014/main" id="{630D0B42-F611-4089-AF45-2F66E263FEAD}"/>
              </a:ext>
            </a:extLst>
          </p:cNvPr>
          <p:cNvSpPr>
            <a:spLocks xmlns:a="http://schemas.openxmlformats.org/drawingml/2006/main" noGrp="1"/>
          </p:cNvSpPr>
          <p:nvPr/>
        </p:nvSpPr>
        <p:spPr>
          <a:xfrm xmlns:a="http://schemas.openxmlformats.org/drawingml/2006/main">
            <a:off x="1333500" y="5762625"/>
            <a:ext cx="952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a:solidFill>
                  <a:srgbClr val="000000"/>
                </a:solidFill>
                <a:latin typeface="Arial"/>
                <a:ea typeface="Arial"/>
                <a:cs typeface="Arial"/>
              </a:defRPr>
            </a:pPr>
            <a:r>
              <a:rPr sz="2100" b="1">
                <a:solidFill>
                  <a:srgbClr val="000000"/>
                </a:solidFill>
                <a:latin typeface="Arial"/>
                <a:ea typeface="Arial"/>
                <a:cs typeface="Arial"/>
              </a:rPr>
              <a:t>Inductive bias beats raw parameter count.</a:t>
            </a:r>
          </a:p>
        </p:txBody>
      </p:sp>
    </p:spTree>
    <p:extLst>
      <p:ext uri="{BB962C8B-B14F-4D97-AF65-F5344CB8AC3E}">
        <p14:creationId xmlns:p14="http://schemas.microsoft.com/office/powerpoint/2010/main" val="108012157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6E236805-AD5E-431C-BF01-62C16742A44C}"/>
              </a:ext>
            </a:extLst>
          </p:cNvPr>
          <p:cNvSpPr>
            <a:spLocks xmlns:a="http://schemas.openxmlformats.org/drawingml/2006/main" noGrp="1"/>
          </p:cNvSpPr>
          <p:nvPr/>
        </p:nvSpPr>
        <p:spPr>
          <a:xfrm xmlns:a="http://schemas.openxmlformats.org/drawingml/2006/main">
            <a:off x="457200" y="23812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59616B"/>
                </a:solidFill>
                <a:latin typeface="Arial"/>
                <a:ea typeface="Arial"/>
                <a:cs typeface="Arial"/>
              </a:defRPr>
            </a:pPr>
            <a:r>
              <a:rPr sz="1200" b="1">
                <a:solidFill>
                  <a:srgbClr val="59616B"/>
                </a:solidFill>
                <a:latin typeface="Arial"/>
                <a:ea typeface="Arial"/>
                <a:cs typeface="Arial"/>
              </a:rPr>
              <a:t>SPEECH COMMANDS</a:t>
            </a:r>
          </a:p>
        </p:txBody>
      </p:sp>
      <p:sp>
        <p:nvSpPr>
          <p:cNvPr id="2" name="slide-9-title">
            <a:extLst xmlns:a="http://schemas.openxmlformats.org/drawingml/2006/main">
              <a:ext uri="{FF2B5EF4-FFF2-40B4-BE49-F238E27FC236}">
                <a16:creationId xmlns:a16="http://schemas.microsoft.com/office/drawing/2014/main" id="{132C9B7D-F14E-4672-B60E-4F3F37D42876}"/>
              </a:ext>
            </a:extLst>
          </p:cNvPr>
          <p:cNvSpPr>
            <a:spLocks xmlns:a="http://schemas.openxmlformats.org/drawingml/2006/main" noGrp="1"/>
          </p:cNvSpPr>
          <p:nvPr/>
        </p:nvSpPr>
        <p:spPr>
          <a:xfrm xmlns:a="http://schemas.openxmlformats.org/drawingml/2006/main">
            <a:off x="457200" y="5143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000000"/>
                </a:solidFill>
                <a:latin typeface="Arial"/>
                <a:ea typeface="Arial"/>
                <a:cs typeface="Arial"/>
              </a:defRPr>
            </a:pPr>
            <a:r>
              <a:rPr sz="3600" b="1">
                <a:solidFill>
                  <a:srgbClr val="000000"/>
                </a:solidFill>
                <a:latin typeface="Arial"/>
                <a:ea typeface="Arial"/>
                <a:cs typeface="Arial"/>
              </a:rPr>
              <a:t>The test set stays sealed until selection is frozen</a:t>
            </a:r>
          </a:p>
        </p:txBody>
      </p:sp>
      <p:sp>
        <p:nvSpPr>
          <p:cNvPr id="3" name="">
            <a:extLst xmlns:a="http://schemas.openxmlformats.org/drawingml/2006/main">
              <a:ext uri="{FF2B5EF4-FFF2-40B4-BE49-F238E27FC236}">
                <a16:creationId xmlns:a16="http://schemas.microsoft.com/office/drawing/2014/main" id="{9794D994-2EF6-441E-8E67-0E0512E60F61}"/>
              </a:ext>
            </a:extLst>
          </p:cNvPr>
          <p:cNvSpPr>
            <a:spLocks xmlns:a="http://schemas.openxmlformats.org/drawingml/2006/main" noGrp="1"/>
          </p:cNvSpPr>
          <p:nvPr/>
        </p:nvSpPr>
        <p:spPr>
          <a:xfrm xmlns:a="http://schemas.openxmlformats.org/drawingml/2006/main">
            <a:off x="1123950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59616B"/>
                </a:solidFill>
                <a:latin typeface="Arial"/>
                <a:ea typeface="Arial"/>
                <a:cs typeface="Arial"/>
              </a:defRPr>
            </a:pPr>
            <a:r>
              <a:rPr sz="1050" b="0">
                <a:solidFill>
                  <a:srgbClr val="59616B"/>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13937740-D5CC-473E-8628-A15F9D120D56}"/>
              </a:ext>
            </a:extLst>
          </p:cNvPr>
          <p:cNvSpPr>
            <a:spLocks xmlns:a="http://schemas.openxmlformats.org/drawingml/2006/main" noGrp="1"/>
          </p:cNvSpPr>
          <p:nvPr/>
        </p:nvSpPr>
        <p:spPr>
          <a:xfrm xmlns:a="http://schemas.openxmlformats.org/drawingml/2006/main">
            <a:off x="1285875" y="3095625"/>
            <a:ext cx="9525000" cy="0"/>
          </a:xfrm>
          <a:prstGeom xmlns:a="http://schemas.openxmlformats.org/drawingml/2006/main" prst="line">
            <a:avLst/>
          </a:prstGeom>
          <a:noFill xmlns:a="http://schemas.openxmlformats.org/drawingml/2006/main"/>
          <a:ln xmlns:a="http://schemas.openxmlformats.org/drawingml/2006/main" w="28575">
            <a:solidFill>
              <a:srgbClr val="B8BCC4"/>
            </a:solidFill>
            <a:prstDash val="solid"/>
          </a:ln>
        </p:spPr>
      </p:sp>
      <p:sp>
        <p:nvSpPr>
          <p:cNvPr id="5" name="">
            <a:extLst xmlns:a="http://schemas.openxmlformats.org/drawingml/2006/main">
              <a:ext uri="{FF2B5EF4-FFF2-40B4-BE49-F238E27FC236}">
                <a16:creationId xmlns:a16="http://schemas.microsoft.com/office/drawing/2014/main" id="{8DEE357B-AD8B-48CC-8845-7921155AAB21}"/>
              </a:ext>
            </a:extLst>
          </p:cNvPr>
          <p:cNvSpPr>
            <a:spLocks xmlns:a="http://schemas.openxmlformats.org/drawingml/2006/main" noGrp="1"/>
          </p:cNvSpPr>
          <p:nvPr/>
        </p:nvSpPr>
        <p:spPr>
          <a:xfrm xmlns:a="http://schemas.openxmlformats.org/drawingml/2006/main">
            <a:off x="1381125" y="2667000"/>
            <a:ext cx="685800" cy="685800"/>
          </a:xfrm>
          <a:prstGeom xmlns:a="http://schemas.openxmlformats.org/drawingml/2006/main" prst="ellipse">
            <a:avLst/>
          </a:prstGeom>
          <a:solidFill xmlns:a="http://schemas.openxmlformats.org/drawingml/2006/main">
            <a:srgbClr val="FFFFFF"/>
          </a:solidFill>
          <a:ln xmlns:a="http://schemas.openxmlformats.org/drawingml/2006/main" w="28575">
            <a:solidFill>
              <a:srgbClr val="000000"/>
            </a:solidFill>
            <a:prstDash val="solid"/>
          </a:ln>
        </p:spPr>
      </p:sp>
      <p:sp>
        <p:nvSpPr>
          <p:cNvPr id="6" name="">
            <a:extLst xmlns:a="http://schemas.openxmlformats.org/drawingml/2006/main">
              <a:ext uri="{FF2B5EF4-FFF2-40B4-BE49-F238E27FC236}">
                <a16:creationId xmlns:a16="http://schemas.microsoft.com/office/drawing/2014/main" id="{BF5795A1-D801-4989-A3FF-64C4D0750363}"/>
              </a:ext>
            </a:extLst>
          </p:cNvPr>
          <p:cNvSpPr>
            <a:spLocks xmlns:a="http://schemas.openxmlformats.org/drawingml/2006/main" noGrp="1"/>
          </p:cNvSpPr>
          <p:nvPr/>
        </p:nvSpPr>
        <p:spPr>
          <a:xfrm xmlns:a="http://schemas.openxmlformats.org/drawingml/2006/main">
            <a:off x="1381125" y="2800350"/>
            <a:ext cx="68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250" b="1">
                <a:solidFill>
                  <a:srgbClr val="000000"/>
                </a:solidFill>
                <a:latin typeface="Arial"/>
                <a:ea typeface="Arial"/>
                <a:cs typeface="Arial"/>
              </a:defRPr>
            </a:pPr>
            <a:r>
              <a:rPr sz="2250" b="1">
                <a:solidFill>
                  <a:srgbClr val="000000"/>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B60F3BC7-3244-4246-B492-B51A424938C1}"/>
              </a:ext>
            </a:extLst>
          </p:cNvPr>
          <p:cNvSpPr>
            <a:spLocks xmlns:a="http://schemas.openxmlformats.org/drawingml/2006/main" noGrp="1"/>
          </p:cNvSpPr>
          <p:nvPr/>
        </p:nvSpPr>
        <p:spPr>
          <a:xfrm xmlns:a="http://schemas.openxmlformats.org/drawingml/2006/main">
            <a:off x="666750" y="371475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025" b="1">
                <a:solidFill>
                  <a:srgbClr val="000000"/>
                </a:solidFill>
                <a:latin typeface="Arial"/>
                <a:ea typeface="Arial"/>
                <a:cs typeface="Arial"/>
              </a:defRPr>
            </a:pPr>
            <a:r>
              <a:rPr sz="2025" b="1">
                <a:solidFill>
                  <a:srgbClr val="000000"/>
                </a:solidFill>
                <a:latin typeface="Arial"/>
                <a:ea typeface="Arial"/>
                <a:cs typeface="Arial"/>
              </a:rPr>
              <a:t>Train</a:t>
            </a:r>
          </a:p>
        </p:txBody>
      </p:sp>
      <p:sp>
        <p:nvSpPr>
          <p:cNvPr id="8" name="">
            <a:extLst xmlns:a="http://schemas.openxmlformats.org/drawingml/2006/main">
              <a:ext uri="{FF2B5EF4-FFF2-40B4-BE49-F238E27FC236}">
                <a16:creationId xmlns:a16="http://schemas.microsoft.com/office/drawing/2014/main" id="{08CB2EE1-C230-4126-8287-2366D1AEF840}"/>
              </a:ext>
            </a:extLst>
          </p:cNvPr>
          <p:cNvSpPr>
            <a:spLocks xmlns:a="http://schemas.openxmlformats.org/drawingml/2006/main" noGrp="1"/>
          </p:cNvSpPr>
          <p:nvPr/>
        </p:nvSpPr>
        <p:spPr>
          <a:xfrm xmlns:a="http://schemas.openxmlformats.org/drawingml/2006/main">
            <a:off x="666750" y="4238625"/>
            <a:ext cx="2095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0">
                <a:solidFill>
                  <a:srgbClr val="59616B"/>
                </a:solidFill>
                <a:latin typeface="Arial"/>
                <a:ea typeface="Arial"/>
                <a:cs typeface="Arial"/>
              </a:defRPr>
            </a:pPr>
            <a:r>
              <a:rPr sz="1650" b="0">
                <a:solidFill>
                  <a:srgbClr val="59616B"/>
                </a:solidFill>
                <a:latin typeface="Arial"/>
                <a:ea typeface="Arial"/>
                <a:cs typeface="Arial"/>
              </a:rPr>
              <a:t>Adam + early stopping</a:t>
            </a:r>
          </a:p>
          <a:p xmlns:a="http://schemas.openxmlformats.org/drawingml/2006/main">
            <a:pPr algn="ctr">
              <a:defRPr sz="1650" b="0">
                <a:solidFill>
                  <a:srgbClr val="59616B"/>
                </a:solidFill>
                <a:latin typeface="Arial"/>
                <a:ea typeface="Arial"/>
                <a:cs typeface="Arial"/>
              </a:defRPr>
            </a:pPr>
            <a:r>
              <a:rPr sz="1650" b="0">
                <a:solidFill>
                  <a:srgbClr val="59616B"/>
                </a:solidFill>
                <a:latin typeface="Arial"/>
                <a:ea typeface="Arial"/>
                <a:cs typeface="Arial"/>
              </a:rPr>
              <a:t>fixed seeds</a:t>
            </a:r>
          </a:p>
        </p:txBody>
      </p:sp>
      <p:sp>
        <p:nvSpPr>
          <p:cNvPr id="9" name="">
            <a:extLst xmlns:a="http://schemas.openxmlformats.org/drawingml/2006/main">
              <a:ext uri="{FF2B5EF4-FFF2-40B4-BE49-F238E27FC236}">
                <a16:creationId xmlns:a16="http://schemas.microsoft.com/office/drawing/2014/main" id="{63BE1B9D-D56C-4A32-97F2-570B4E958A0D}"/>
              </a:ext>
            </a:extLst>
          </p:cNvPr>
          <p:cNvSpPr>
            <a:spLocks xmlns:a="http://schemas.openxmlformats.org/drawingml/2006/main" noGrp="1"/>
          </p:cNvSpPr>
          <p:nvPr/>
        </p:nvSpPr>
        <p:spPr>
          <a:xfrm xmlns:a="http://schemas.openxmlformats.org/drawingml/2006/main">
            <a:off x="4143375" y="2667000"/>
            <a:ext cx="685800" cy="685800"/>
          </a:xfrm>
          <a:prstGeom xmlns:a="http://schemas.openxmlformats.org/drawingml/2006/main" prst="ellipse">
            <a:avLst/>
          </a:prstGeom>
          <a:solidFill xmlns:a="http://schemas.openxmlformats.org/drawingml/2006/main">
            <a:srgbClr val="FFFFFF"/>
          </a:solidFill>
          <a:ln xmlns:a="http://schemas.openxmlformats.org/drawingml/2006/main" w="28575">
            <a:solidFill>
              <a:srgbClr val="000000"/>
            </a:solidFill>
            <a:prstDash val="solid"/>
          </a:ln>
        </p:spPr>
      </p:sp>
      <p:sp>
        <p:nvSpPr>
          <p:cNvPr id="10" name="">
            <a:extLst xmlns:a="http://schemas.openxmlformats.org/drawingml/2006/main">
              <a:ext uri="{FF2B5EF4-FFF2-40B4-BE49-F238E27FC236}">
                <a16:creationId xmlns:a16="http://schemas.microsoft.com/office/drawing/2014/main" id="{358325F7-66F6-470D-BB0C-B0697663C726}"/>
              </a:ext>
            </a:extLst>
          </p:cNvPr>
          <p:cNvSpPr>
            <a:spLocks xmlns:a="http://schemas.openxmlformats.org/drawingml/2006/main" noGrp="1"/>
          </p:cNvSpPr>
          <p:nvPr/>
        </p:nvSpPr>
        <p:spPr>
          <a:xfrm xmlns:a="http://schemas.openxmlformats.org/drawingml/2006/main">
            <a:off x="4143375" y="2800350"/>
            <a:ext cx="68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250" b="1">
                <a:solidFill>
                  <a:srgbClr val="000000"/>
                </a:solidFill>
                <a:latin typeface="Arial"/>
                <a:ea typeface="Arial"/>
                <a:cs typeface="Arial"/>
              </a:defRPr>
            </a:pPr>
            <a:r>
              <a:rPr sz="2250" b="1">
                <a:solidFill>
                  <a:srgbClr val="000000"/>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3B0CC3D0-246A-4ADE-A3CC-AB7F69B5502B}"/>
              </a:ext>
            </a:extLst>
          </p:cNvPr>
          <p:cNvSpPr>
            <a:spLocks xmlns:a="http://schemas.openxmlformats.org/drawingml/2006/main" noGrp="1"/>
          </p:cNvSpPr>
          <p:nvPr/>
        </p:nvSpPr>
        <p:spPr>
          <a:xfrm xmlns:a="http://schemas.openxmlformats.org/drawingml/2006/main">
            <a:off x="3429000" y="371475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025" b="1">
                <a:solidFill>
                  <a:srgbClr val="000000"/>
                </a:solidFill>
                <a:latin typeface="Arial"/>
                <a:ea typeface="Arial"/>
                <a:cs typeface="Arial"/>
              </a:defRPr>
            </a:pPr>
            <a:r>
              <a:rPr sz="2025" b="1">
                <a:solidFill>
                  <a:srgbClr val="000000"/>
                </a:solidFill>
                <a:latin typeface="Arial"/>
                <a:ea typeface="Arial"/>
                <a:cs typeface="Arial"/>
              </a:rPr>
              <a:t>Select</a:t>
            </a:r>
          </a:p>
        </p:txBody>
      </p:sp>
      <p:sp>
        <p:nvSpPr>
          <p:cNvPr id="12" name="">
            <a:extLst xmlns:a="http://schemas.openxmlformats.org/drawingml/2006/main">
              <a:ext uri="{FF2B5EF4-FFF2-40B4-BE49-F238E27FC236}">
                <a16:creationId xmlns:a16="http://schemas.microsoft.com/office/drawing/2014/main" id="{C0CD66EC-4104-49F3-A228-14A312DC95C2}"/>
              </a:ext>
            </a:extLst>
          </p:cNvPr>
          <p:cNvSpPr>
            <a:spLocks xmlns:a="http://schemas.openxmlformats.org/drawingml/2006/main" noGrp="1"/>
          </p:cNvSpPr>
          <p:nvPr/>
        </p:nvSpPr>
        <p:spPr>
          <a:xfrm xmlns:a="http://schemas.openxmlformats.org/drawingml/2006/main">
            <a:off x="3429000" y="4238625"/>
            <a:ext cx="2095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0">
                <a:solidFill>
                  <a:srgbClr val="59616B"/>
                </a:solidFill>
                <a:latin typeface="Arial"/>
                <a:ea typeface="Arial"/>
                <a:cs typeface="Arial"/>
              </a:defRPr>
            </a:pPr>
            <a:r>
              <a:rPr sz="1650" b="0">
                <a:solidFill>
                  <a:srgbClr val="59616B"/>
                </a:solidFill>
                <a:latin typeface="Arial"/>
                <a:ea typeface="Arial"/>
                <a:cs typeface="Arial"/>
              </a:rPr>
              <a:t>validation macro-F1</a:t>
            </a:r>
          </a:p>
          <a:p xmlns:a="http://schemas.openxmlformats.org/drawingml/2006/main">
            <a:pPr algn="ctr">
              <a:defRPr sz="1650" b="0">
                <a:solidFill>
                  <a:srgbClr val="59616B"/>
                </a:solidFill>
                <a:latin typeface="Arial"/>
                <a:ea typeface="Arial"/>
                <a:cs typeface="Arial"/>
              </a:defRPr>
            </a:pPr>
            <a:r>
              <a:rPr sz="1650" b="0">
                <a:solidFill>
                  <a:srgbClr val="59616B"/>
                </a:solidFill>
                <a:latin typeface="Arial"/>
                <a:ea typeface="Arial"/>
                <a:cs typeface="Arial"/>
              </a:rPr>
              <a:t>then accuracy</a:t>
            </a:r>
          </a:p>
        </p:txBody>
      </p:sp>
      <p:sp>
        <p:nvSpPr>
          <p:cNvPr id="13" name="">
            <a:extLst xmlns:a="http://schemas.openxmlformats.org/drawingml/2006/main">
              <a:ext uri="{FF2B5EF4-FFF2-40B4-BE49-F238E27FC236}">
                <a16:creationId xmlns:a16="http://schemas.microsoft.com/office/drawing/2014/main" id="{72901FE8-78FD-4FA9-B894-1AB586F18895}"/>
              </a:ext>
            </a:extLst>
          </p:cNvPr>
          <p:cNvSpPr>
            <a:spLocks xmlns:a="http://schemas.openxmlformats.org/drawingml/2006/main" noGrp="1"/>
          </p:cNvSpPr>
          <p:nvPr/>
        </p:nvSpPr>
        <p:spPr>
          <a:xfrm xmlns:a="http://schemas.openxmlformats.org/drawingml/2006/main">
            <a:off x="6905625" y="2667000"/>
            <a:ext cx="685800" cy="685800"/>
          </a:xfrm>
          <a:prstGeom xmlns:a="http://schemas.openxmlformats.org/drawingml/2006/main" prst="ellipse">
            <a:avLst/>
          </a:prstGeom>
          <a:solidFill xmlns:a="http://schemas.openxmlformats.org/drawingml/2006/main">
            <a:srgbClr val="FFFFFF"/>
          </a:solidFill>
          <a:ln xmlns:a="http://schemas.openxmlformats.org/drawingml/2006/main" w="28575">
            <a:solidFill>
              <a:srgbClr val="000000"/>
            </a:solidFill>
            <a:prstDash val="solid"/>
          </a:ln>
        </p:spPr>
      </p:sp>
      <p:sp>
        <p:nvSpPr>
          <p:cNvPr id="14" name="">
            <a:extLst xmlns:a="http://schemas.openxmlformats.org/drawingml/2006/main">
              <a:ext uri="{FF2B5EF4-FFF2-40B4-BE49-F238E27FC236}">
                <a16:creationId xmlns:a16="http://schemas.microsoft.com/office/drawing/2014/main" id="{E96C3E6C-9AE9-49F7-A9FF-D11C99CA4D84}"/>
              </a:ext>
            </a:extLst>
          </p:cNvPr>
          <p:cNvSpPr>
            <a:spLocks xmlns:a="http://schemas.openxmlformats.org/drawingml/2006/main" noGrp="1"/>
          </p:cNvSpPr>
          <p:nvPr/>
        </p:nvSpPr>
        <p:spPr>
          <a:xfrm xmlns:a="http://schemas.openxmlformats.org/drawingml/2006/main">
            <a:off x="6905625" y="2800350"/>
            <a:ext cx="68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250" b="1">
                <a:solidFill>
                  <a:srgbClr val="000000"/>
                </a:solidFill>
                <a:latin typeface="Arial"/>
                <a:ea typeface="Arial"/>
                <a:cs typeface="Arial"/>
              </a:defRPr>
            </a:pPr>
            <a:r>
              <a:rPr sz="2250" b="1">
                <a:solidFill>
                  <a:srgbClr val="000000"/>
                </a:solidFill>
                <a:latin typeface="Arial"/>
                <a:ea typeface="Arial"/>
                <a:cs typeface="Arial"/>
              </a:rPr>
              <a:t>3</a:t>
            </a:r>
          </a:p>
        </p:txBody>
      </p:sp>
      <p:sp>
        <p:nvSpPr>
          <p:cNvPr id="15" name="">
            <a:extLst xmlns:a="http://schemas.openxmlformats.org/drawingml/2006/main">
              <a:ext uri="{FF2B5EF4-FFF2-40B4-BE49-F238E27FC236}">
                <a16:creationId xmlns:a16="http://schemas.microsoft.com/office/drawing/2014/main" id="{F38B3B82-26C2-48D7-A757-71D7C211726D}"/>
              </a:ext>
            </a:extLst>
          </p:cNvPr>
          <p:cNvSpPr>
            <a:spLocks xmlns:a="http://schemas.openxmlformats.org/drawingml/2006/main" noGrp="1"/>
          </p:cNvSpPr>
          <p:nvPr/>
        </p:nvSpPr>
        <p:spPr>
          <a:xfrm xmlns:a="http://schemas.openxmlformats.org/drawingml/2006/main">
            <a:off x="6191250" y="371475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025" b="1">
                <a:solidFill>
                  <a:srgbClr val="000000"/>
                </a:solidFill>
                <a:latin typeface="Arial"/>
                <a:ea typeface="Arial"/>
                <a:cs typeface="Arial"/>
              </a:defRPr>
            </a:pPr>
            <a:r>
              <a:rPr sz="2025" b="1">
                <a:solidFill>
                  <a:srgbClr val="000000"/>
                </a:solidFill>
                <a:latin typeface="Arial"/>
                <a:ea typeface="Arial"/>
                <a:cs typeface="Arial"/>
              </a:rPr>
              <a:t>Repeat</a:t>
            </a:r>
          </a:p>
        </p:txBody>
      </p:sp>
      <p:sp>
        <p:nvSpPr>
          <p:cNvPr id="16" name="">
            <a:extLst xmlns:a="http://schemas.openxmlformats.org/drawingml/2006/main">
              <a:ext uri="{FF2B5EF4-FFF2-40B4-BE49-F238E27FC236}">
                <a16:creationId xmlns:a16="http://schemas.microsoft.com/office/drawing/2014/main" id="{040DBB83-2C6C-4D9D-A873-DB42AD83547D}"/>
              </a:ext>
            </a:extLst>
          </p:cNvPr>
          <p:cNvSpPr>
            <a:spLocks xmlns:a="http://schemas.openxmlformats.org/drawingml/2006/main" noGrp="1"/>
          </p:cNvSpPr>
          <p:nvPr/>
        </p:nvSpPr>
        <p:spPr>
          <a:xfrm xmlns:a="http://schemas.openxmlformats.org/drawingml/2006/main">
            <a:off x="6191250" y="4238625"/>
            <a:ext cx="2095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0">
                <a:solidFill>
                  <a:srgbClr val="59616B"/>
                </a:solidFill>
                <a:latin typeface="Arial"/>
                <a:ea typeface="Arial"/>
                <a:cs typeface="Arial"/>
              </a:defRPr>
            </a:pPr>
            <a:r>
              <a:rPr sz="1650" b="0">
                <a:solidFill>
                  <a:srgbClr val="59616B"/>
                </a:solidFill>
                <a:latin typeface="Arial"/>
                <a:ea typeface="Arial"/>
                <a:cs typeface="Arial"/>
              </a:rPr>
              <a:t>best config</a:t>
            </a:r>
          </a:p>
          <a:p xmlns:a="http://schemas.openxmlformats.org/drawingml/2006/main">
            <a:pPr algn="ctr">
              <a:defRPr sz="1650" b="0">
                <a:solidFill>
                  <a:srgbClr val="59616B"/>
                </a:solidFill>
                <a:latin typeface="Arial"/>
                <a:ea typeface="Arial"/>
                <a:cs typeface="Arial"/>
              </a:defRPr>
            </a:pPr>
            <a:r>
              <a:rPr sz="1650" b="0">
                <a:solidFill>
                  <a:srgbClr val="59616B"/>
                </a:solidFill>
                <a:latin typeface="Arial"/>
                <a:ea typeface="Arial"/>
                <a:cs typeface="Arial"/>
              </a:rPr>
              <a:t>3 independent seeds</a:t>
            </a:r>
          </a:p>
        </p:txBody>
      </p:sp>
      <p:sp>
        <p:nvSpPr>
          <p:cNvPr id="17" name="">
            <a:extLst xmlns:a="http://schemas.openxmlformats.org/drawingml/2006/main">
              <a:ext uri="{FF2B5EF4-FFF2-40B4-BE49-F238E27FC236}">
                <a16:creationId xmlns:a16="http://schemas.microsoft.com/office/drawing/2014/main" id="{87E4B6A5-9EB5-4AC5-B3AE-1F73E2799361}"/>
              </a:ext>
            </a:extLst>
          </p:cNvPr>
          <p:cNvSpPr>
            <a:spLocks xmlns:a="http://schemas.openxmlformats.org/drawingml/2006/main" noGrp="1"/>
          </p:cNvSpPr>
          <p:nvPr/>
        </p:nvSpPr>
        <p:spPr>
          <a:xfrm xmlns:a="http://schemas.openxmlformats.org/drawingml/2006/main">
            <a:off x="9667875" y="2667000"/>
            <a:ext cx="685800" cy="685800"/>
          </a:xfrm>
          <a:prstGeom xmlns:a="http://schemas.openxmlformats.org/drawingml/2006/main" prst="ellipse">
            <a:avLst/>
          </a:prstGeom>
          <a:solidFill xmlns:a="http://schemas.openxmlformats.org/drawingml/2006/main">
            <a:srgbClr val="3D8DFF"/>
          </a:solidFill>
          <a:ln xmlns:a="http://schemas.openxmlformats.org/drawingml/2006/main" w="28575">
            <a:solidFill>
              <a:srgbClr val="3D8DFF"/>
            </a:solidFill>
            <a:prstDash val="solid"/>
          </a:ln>
        </p:spPr>
      </p:sp>
      <p:sp>
        <p:nvSpPr>
          <p:cNvPr id="18" name="">
            <a:extLst xmlns:a="http://schemas.openxmlformats.org/drawingml/2006/main">
              <a:ext uri="{FF2B5EF4-FFF2-40B4-BE49-F238E27FC236}">
                <a16:creationId xmlns:a16="http://schemas.microsoft.com/office/drawing/2014/main" id="{4561C26F-97C4-407F-B06A-838643B743A3}"/>
              </a:ext>
            </a:extLst>
          </p:cNvPr>
          <p:cNvSpPr>
            <a:spLocks xmlns:a="http://schemas.openxmlformats.org/drawingml/2006/main" noGrp="1"/>
          </p:cNvSpPr>
          <p:nvPr/>
        </p:nvSpPr>
        <p:spPr>
          <a:xfrm xmlns:a="http://schemas.openxmlformats.org/drawingml/2006/main">
            <a:off x="9667875" y="2800350"/>
            <a:ext cx="68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250" b="1">
                <a:solidFill>
                  <a:srgbClr val="FFFFFF"/>
                </a:solidFill>
                <a:latin typeface="Arial"/>
                <a:ea typeface="Arial"/>
                <a:cs typeface="Arial"/>
              </a:defRPr>
            </a:pPr>
            <a:r>
              <a:rPr sz="2250" b="1">
                <a:solidFill>
                  <a:srgbClr val="FFFFFF"/>
                </a:solidFill>
                <a:latin typeface="Arial"/>
                <a:ea typeface="Arial"/>
                <a:cs typeface="Arial"/>
              </a:rPr>
              <a:t>4</a:t>
            </a:r>
          </a:p>
        </p:txBody>
      </p:sp>
      <p:sp>
        <p:nvSpPr>
          <p:cNvPr id="19" name="">
            <a:extLst xmlns:a="http://schemas.openxmlformats.org/drawingml/2006/main">
              <a:ext uri="{FF2B5EF4-FFF2-40B4-BE49-F238E27FC236}">
                <a16:creationId xmlns:a16="http://schemas.microsoft.com/office/drawing/2014/main" id="{AC1A6D1A-9365-489F-8407-5CDB2FDDBCFD}"/>
              </a:ext>
            </a:extLst>
          </p:cNvPr>
          <p:cNvSpPr>
            <a:spLocks xmlns:a="http://schemas.openxmlformats.org/drawingml/2006/main" noGrp="1"/>
          </p:cNvSpPr>
          <p:nvPr/>
        </p:nvSpPr>
        <p:spPr>
          <a:xfrm xmlns:a="http://schemas.openxmlformats.org/drawingml/2006/main">
            <a:off x="8953500" y="371475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025" b="1">
                <a:solidFill>
                  <a:srgbClr val="000000"/>
                </a:solidFill>
                <a:latin typeface="Arial"/>
                <a:ea typeface="Arial"/>
                <a:cs typeface="Arial"/>
              </a:defRPr>
            </a:pPr>
            <a:r>
              <a:rPr sz="2025" b="1">
                <a:solidFill>
                  <a:srgbClr val="000000"/>
                </a:solidFill>
                <a:latin typeface="Arial"/>
                <a:ea typeface="Arial"/>
                <a:cs typeface="Arial"/>
              </a:rPr>
              <a:t>Freeze + test</a:t>
            </a:r>
          </a:p>
        </p:txBody>
      </p:sp>
      <p:sp>
        <p:nvSpPr>
          <p:cNvPr id="20" name="">
            <a:extLst xmlns:a="http://schemas.openxmlformats.org/drawingml/2006/main">
              <a:ext uri="{FF2B5EF4-FFF2-40B4-BE49-F238E27FC236}">
                <a16:creationId xmlns:a16="http://schemas.microsoft.com/office/drawing/2014/main" id="{86314C37-AF7B-460A-9C33-B6D28F474A7C}"/>
              </a:ext>
            </a:extLst>
          </p:cNvPr>
          <p:cNvSpPr>
            <a:spLocks xmlns:a="http://schemas.openxmlformats.org/drawingml/2006/main" noGrp="1"/>
          </p:cNvSpPr>
          <p:nvPr/>
        </p:nvSpPr>
        <p:spPr>
          <a:xfrm xmlns:a="http://schemas.openxmlformats.org/drawingml/2006/main">
            <a:off x="8953500" y="4238625"/>
            <a:ext cx="2095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0">
                <a:solidFill>
                  <a:srgbClr val="59616B"/>
                </a:solidFill>
                <a:latin typeface="Arial"/>
                <a:ea typeface="Arial"/>
                <a:cs typeface="Arial"/>
              </a:defRPr>
            </a:pPr>
            <a:r>
              <a:rPr sz="1650" b="0">
                <a:solidFill>
                  <a:srgbClr val="59616B"/>
                </a:solidFill>
                <a:latin typeface="Arial"/>
                <a:ea typeface="Arial"/>
                <a:cs typeface="Arial"/>
              </a:rPr>
              <a:t>one clean evaluation</a:t>
            </a:r>
          </a:p>
          <a:p xmlns:a="http://schemas.openxmlformats.org/drawingml/2006/main">
            <a:pPr algn="ctr">
              <a:defRPr sz="1650" b="0">
                <a:solidFill>
                  <a:srgbClr val="59616B"/>
                </a:solidFill>
                <a:latin typeface="Arial"/>
                <a:ea typeface="Arial"/>
                <a:cs typeface="Arial"/>
              </a:defRPr>
            </a:pPr>
            <a:r>
              <a:rPr sz="1650" b="0">
                <a:solidFill>
                  <a:srgbClr val="59616B"/>
                </a:solidFill>
                <a:latin typeface="Arial"/>
                <a:ea typeface="Arial"/>
                <a:cs typeface="Arial"/>
              </a:rPr>
              <a:t>then diagnostics</a:t>
            </a:r>
          </a:p>
        </p:txBody>
      </p:sp>
      <p:sp>
        <p:nvSpPr>
          <p:cNvPr id="21" name="">
            <a:extLst xmlns:a="http://schemas.openxmlformats.org/drawingml/2006/main">
              <a:ext uri="{FF2B5EF4-FFF2-40B4-BE49-F238E27FC236}">
                <a16:creationId xmlns:a16="http://schemas.microsoft.com/office/drawing/2014/main" id="{03A0695E-F71A-47F2-ABF2-FC5C6547CA63}"/>
              </a:ext>
            </a:extLst>
          </p:cNvPr>
          <p:cNvSpPr>
            <a:spLocks xmlns:a="http://schemas.openxmlformats.org/drawingml/2006/main" noGrp="1"/>
          </p:cNvSpPr>
          <p:nvPr/>
        </p:nvSpPr>
        <p:spPr>
          <a:xfrm xmlns:a="http://schemas.openxmlformats.org/drawingml/2006/main">
            <a:off x="457200" y="142875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000000"/>
                </a:solidFill>
                <a:latin typeface="Arial"/>
                <a:ea typeface="Arial"/>
                <a:cs typeface="Arial"/>
              </a:defRPr>
            </a:pPr>
            <a:r>
              <a:rPr sz="1875" b="1">
                <a:solidFill>
                  <a:srgbClr val="000000"/>
                </a:solidFill>
                <a:latin typeface="Arial"/>
                <a:ea typeface="Arial"/>
                <a:cs typeface="Arial"/>
              </a:rPr>
              <a:t>Best-model validation macro-F1 across seeds</a:t>
            </a:r>
          </a:p>
        </p:txBody>
      </p:sp>
      <p:sp>
        <p:nvSpPr>
          <p:cNvPr id="22" name="">
            <a:extLst xmlns:a="http://schemas.openxmlformats.org/drawingml/2006/main">
              <a:ext uri="{FF2B5EF4-FFF2-40B4-BE49-F238E27FC236}">
                <a16:creationId xmlns:a16="http://schemas.microsoft.com/office/drawing/2014/main" id="{E327D0D5-9B49-46F0-BA31-B064987BD821}"/>
              </a:ext>
            </a:extLst>
          </p:cNvPr>
          <p:cNvSpPr>
            <a:spLocks xmlns:a="http://schemas.openxmlformats.org/drawingml/2006/main" noGrp="1"/>
          </p:cNvSpPr>
          <p:nvPr/>
        </p:nvSpPr>
        <p:spPr>
          <a:xfrm xmlns:a="http://schemas.openxmlformats.org/drawingml/2006/main">
            <a:off x="6191250" y="1285875"/>
            <a:ext cx="4762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3375" b="1">
                <a:solidFill>
                  <a:srgbClr val="3D8DFF"/>
                </a:solidFill>
                <a:latin typeface="Arial"/>
                <a:ea typeface="Arial"/>
                <a:cs typeface="Arial"/>
              </a:defRPr>
            </a:pPr>
            <a:r>
              <a:rPr sz="3375" b="1">
                <a:solidFill>
                  <a:srgbClr val="3D8DFF"/>
                </a:solidFill>
                <a:latin typeface="Arial"/>
                <a:ea typeface="Arial"/>
                <a:cs typeface="Arial"/>
              </a:rPr>
              <a:t>0.9424 +/- 0.0009</a:t>
            </a:r>
          </a:p>
        </p:txBody>
      </p:sp>
      <p:sp>
        <p:nvSpPr>
          <p:cNvPr id="23" name="">
            <a:extLst xmlns:a="http://schemas.openxmlformats.org/drawingml/2006/main">
              <a:ext uri="{FF2B5EF4-FFF2-40B4-BE49-F238E27FC236}">
                <a16:creationId xmlns:a16="http://schemas.microsoft.com/office/drawing/2014/main" id="{369E9706-28AD-4574-8E5F-5357895058C3}"/>
              </a:ext>
            </a:extLst>
          </p:cNvPr>
          <p:cNvSpPr>
            <a:spLocks xmlns:a="http://schemas.openxmlformats.org/drawingml/2006/main" noGrp="1"/>
          </p:cNvSpPr>
          <p:nvPr/>
        </p:nvSpPr>
        <p:spPr>
          <a:xfrm xmlns:a="http://schemas.openxmlformats.org/drawingml/2006/main">
            <a:off x="6858000" y="1905000"/>
            <a:ext cx="409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575" b="0">
                <a:solidFill>
                  <a:srgbClr val="59616B"/>
                </a:solidFill>
                <a:latin typeface="Arial"/>
                <a:ea typeface="Arial"/>
                <a:cs typeface="Arial"/>
              </a:defRPr>
            </a:pPr>
            <a:r>
              <a:rPr sz="1575" b="0">
                <a:solidFill>
                  <a:srgbClr val="59616B"/>
                </a:solidFill>
                <a:latin typeface="Arial"/>
                <a:ea typeface="Arial"/>
                <a:cs typeface="Arial"/>
              </a:rPr>
              <a:t>The stability check did not reopen architecture selection.</a:t>
            </a:r>
          </a:p>
        </p:txBody>
      </p:sp>
    </p:spTree>
    <p:extLst>
      <p:ext uri="{BB962C8B-B14F-4D97-AF65-F5344CB8AC3E}">
        <p14:creationId xmlns:p14="http://schemas.microsoft.com/office/powerpoint/2010/main" val="4452139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46A13D9-2B76-4727-AA07-ACD79B6C0B80}"/>
              </a:ext>
            </a:extLst>
          </p:cNvPr>
          <p:cNvSpPr>
            <a:spLocks xmlns:a="http://schemas.openxmlformats.org/drawingml/2006/main" noGrp="1"/>
          </p:cNvSpPr>
          <p:nvPr/>
        </p:nvSpPr>
        <p:spPr>
          <a:xfrm xmlns:a="http://schemas.openxmlformats.org/drawingml/2006/main">
            <a:off x="457200" y="23812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59616B"/>
                </a:solidFill>
                <a:latin typeface="Arial"/>
                <a:ea typeface="Arial"/>
                <a:cs typeface="Arial"/>
              </a:defRPr>
            </a:pPr>
            <a:r>
              <a:rPr sz="1200" b="1">
                <a:solidFill>
                  <a:srgbClr val="59616B"/>
                </a:solidFill>
                <a:latin typeface="Arial"/>
                <a:ea typeface="Arial"/>
                <a:cs typeface="Arial"/>
              </a:rPr>
              <a:t>SPEECH COMMANDS</a:t>
            </a:r>
          </a:p>
        </p:txBody>
      </p:sp>
      <p:sp>
        <p:nvSpPr>
          <p:cNvPr id="2" name="slide-10-title">
            <a:extLst xmlns:a="http://schemas.openxmlformats.org/drawingml/2006/main">
              <a:ext uri="{FF2B5EF4-FFF2-40B4-BE49-F238E27FC236}">
                <a16:creationId xmlns:a16="http://schemas.microsoft.com/office/drawing/2014/main" id="{A1B19DD1-8CAC-4BA2-8F1D-AC5E9F70319C}"/>
              </a:ext>
            </a:extLst>
          </p:cNvPr>
          <p:cNvSpPr>
            <a:spLocks xmlns:a="http://schemas.openxmlformats.org/drawingml/2006/main" noGrp="1"/>
          </p:cNvSpPr>
          <p:nvPr/>
        </p:nvSpPr>
        <p:spPr>
          <a:xfrm xmlns:a="http://schemas.openxmlformats.org/drawingml/2006/main">
            <a:off x="457200" y="5143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000000"/>
                </a:solidFill>
                <a:latin typeface="Arial"/>
                <a:ea typeface="Arial"/>
                <a:cs typeface="Arial"/>
              </a:defRPr>
            </a:pPr>
            <a:r>
              <a:rPr sz="3600" b="1">
                <a:solidFill>
                  <a:srgbClr val="000000"/>
                </a:solidFill>
                <a:latin typeface="Arial"/>
                <a:ea typeface="Arial"/>
                <a:cs typeface="Arial"/>
              </a:rPr>
              <a:t>The CRNN wins validation by one macro-F1 point</a:t>
            </a:r>
          </a:p>
        </p:txBody>
      </p:sp>
      <p:sp>
        <p:nvSpPr>
          <p:cNvPr id="3" name="">
            <a:extLst xmlns:a="http://schemas.openxmlformats.org/drawingml/2006/main">
              <a:ext uri="{FF2B5EF4-FFF2-40B4-BE49-F238E27FC236}">
                <a16:creationId xmlns:a16="http://schemas.microsoft.com/office/drawing/2014/main" id="{0170C226-6C5F-4DF5-A29C-BEB324C6B702}"/>
              </a:ext>
            </a:extLst>
          </p:cNvPr>
          <p:cNvSpPr>
            <a:spLocks xmlns:a="http://schemas.openxmlformats.org/drawingml/2006/main" noGrp="1"/>
          </p:cNvSpPr>
          <p:nvPr/>
        </p:nvSpPr>
        <p:spPr>
          <a:xfrm xmlns:a="http://schemas.openxmlformats.org/drawingml/2006/main">
            <a:off x="1123950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59616B"/>
                </a:solidFill>
                <a:latin typeface="Arial"/>
                <a:ea typeface="Arial"/>
                <a:cs typeface="Arial"/>
              </a:defRPr>
            </a:pPr>
            <a:r>
              <a:rPr sz="1050" b="0">
                <a:solidFill>
                  <a:srgbClr val="59616B"/>
                </a:solidFill>
                <a:latin typeface="Arial"/>
                <a:ea typeface="Arial"/>
                <a:cs typeface="Arial"/>
              </a:rPr>
              <a:t>10</a:t>
            </a:r>
          </a:p>
        </p:txBody>
      </p:sp>
      <p:graphicFrame>
        <p:nvGraphicFramePr>
          <p:cNvPr id="17" name="Chart"/>
          <p:cNvGraphicFramePr/>
          <p:nvPr/>
        </p:nvGraphicFramePr>
        <p:xfrm>
          <a:off xmlns:a="http://schemas.openxmlformats.org/drawingml/2006/main" x="457200" y="1428750"/>
          <a:ext xmlns:a="http://schemas.openxmlformats.org/drawingml/2006/main" cx="6858000" cy="4476750"/>
        </p:xfrm>
        <a:graphic xmlns:a="http://schemas.openxmlformats.org/drawingml/2006/main">
          <a:graphicData uri="http://schemas.openxmlformats.org/drawingml/2006/chart">
            <c:chart xmlns:r="http://schemas.openxmlformats.org/officeDocument/2006/relationships" xmlns:c="http://schemas.openxmlformats.org/drawingml/2006/chart" r:id="R8c2272b1b3354321"/>
          </a:graphicData>
        </a:graphic>
      </p:graphicFrame>
      <p:sp>
        <p:nvSpPr>
          <p:cNvPr id="5" name="">
            <a:extLst xmlns:a="http://schemas.openxmlformats.org/drawingml/2006/main">
              <a:ext uri="{FF2B5EF4-FFF2-40B4-BE49-F238E27FC236}">
                <a16:creationId xmlns:a16="http://schemas.microsoft.com/office/drawing/2014/main" id="{42A30A77-889F-49E4-BFB6-9CC838629CDE}"/>
              </a:ext>
            </a:extLst>
          </p:cNvPr>
          <p:cNvSpPr>
            <a:spLocks xmlns:a="http://schemas.openxmlformats.org/drawingml/2006/main" noGrp="1"/>
          </p:cNvSpPr>
          <p:nvPr/>
        </p:nvSpPr>
        <p:spPr>
          <a:xfrm xmlns:a="http://schemas.openxmlformats.org/drawingml/2006/main">
            <a:off x="7286625" y="1809750"/>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350" b="1">
                <a:solidFill>
                  <a:srgbClr val="000000"/>
                </a:solidFill>
                <a:latin typeface="Arial"/>
                <a:ea typeface="Arial"/>
                <a:cs typeface="Arial"/>
              </a:defRPr>
            </a:pPr>
            <a:r>
              <a:rPr sz="1350" b="1">
                <a:solidFill>
                  <a:srgbClr val="000000"/>
                </a:solidFill>
                <a:latin typeface="Arial"/>
                <a:ea typeface="Arial"/>
                <a:cs typeface="Arial"/>
              </a:rPr>
              <a:t>0.9427</a:t>
            </a:r>
          </a:p>
        </p:txBody>
      </p:sp>
      <p:sp>
        <p:nvSpPr>
          <p:cNvPr id="6" name="">
            <a:extLst xmlns:a="http://schemas.openxmlformats.org/drawingml/2006/main">
              <a:ext uri="{FF2B5EF4-FFF2-40B4-BE49-F238E27FC236}">
                <a16:creationId xmlns:a16="http://schemas.microsoft.com/office/drawing/2014/main" id="{81F718FA-39FB-4B69-823F-DEDC37162243}"/>
              </a:ext>
            </a:extLst>
          </p:cNvPr>
          <p:cNvSpPr>
            <a:spLocks xmlns:a="http://schemas.openxmlformats.org/drawingml/2006/main" noGrp="1"/>
          </p:cNvSpPr>
          <p:nvPr/>
        </p:nvSpPr>
        <p:spPr>
          <a:xfrm xmlns:a="http://schemas.openxmlformats.org/drawingml/2006/main">
            <a:off x="7286625" y="2628900"/>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350" b="1">
                <a:solidFill>
                  <a:srgbClr val="000000"/>
                </a:solidFill>
                <a:latin typeface="Arial"/>
                <a:ea typeface="Arial"/>
                <a:cs typeface="Arial"/>
              </a:defRPr>
            </a:pPr>
            <a:r>
              <a:rPr sz="1350" b="1">
                <a:solidFill>
                  <a:srgbClr val="000000"/>
                </a:solidFill>
                <a:latin typeface="Arial"/>
                <a:ea typeface="Arial"/>
                <a:cs typeface="Arial"/>
              </a:rPr>
              <a:t>0.9324</a:t>
            </a:r>
          </a:p>
        </p:txBody>
      </p:sp>
      <p:sp>
        <p:nvSpPr>
          <p:cNvPr id="7" name="">
            <a:extLst xmlns:a="http://schemas.openxmlformats.org/drawingml/2006/main">
              <a:ext uri="{FF2B5EF4-FFF2-40B4-BE49-F238E27FC236}">
                <a16:creationId xmlns:a16="http://schemas.microsoft.com/office/drawing/2014/main" id="{6F6EA22E-B781-47B6-96D5-938BD15B9376}"/>
              </a:ext>
            </a:extLst>
          </p:cNvPr>
          <p:cNvSpPr>
            <a:spLocks xmlns:a="http://schemas.openxmlformats.org/drawingml/2006/main" noGrp="1"/>
          </p:cNvSpPr>
          <p:nvPr/>
        </p:nvSpPr>
        <p:spPr>
          <a:xfrm xmlns:a="http://schemas.openxmlformats.org/drawingml/2006/main">
            <a:off x="7286625" y="3467100"/>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350" b="1">
                <a:solidFill>
                  <a:srgbClr val="000000"/>
                </a:solidFill>
                <a:latin typeface="Arial"/>
                <a:ea typeface="Arial"/>
                <a:cs typeface="Arial"/>
              </a:defRPr>
            </a:pPr>
            <a:r>
              <a:rPr sz="1350" b="1">
                <a:solidFill>
                  <a:srgbClr val="000000"/>
                </a:solidFill>
                <a:latin typeface="Arial"/>
                <a:ea typeface="Arial"/>
                <a:cs typeface="Arial"/>
              </a:rPr>
              <a:t>0.9050</a:t>
            </a:r>
          </a:p>
        </p:txBody>
      </p:sp>
      <p:sp>
        <p:nvSpPr>
          <p:cNvPr id="8" name="">
            <a:extLst xmlns:a="http://schemas.openxmlformats.org/drawingml/2006/main">
              <a:ext uri="{FF2B5EF4-FFF2-40B4-BE49-F238E27FC236}">
                <a16:creationId xmlns:a16="http://schemas.microsoft.com/office/drawing/2014/main" id="{72C2BB67-3C40-44E4-BFE1-4C672F8F4B81}"/>
              </a:ext>
            </a:extLst>
          </p:cNvPr>
          <p:cNvSpPr>
            <a:spLocks xmlns:a="http://schemas.openxmlformats.org/drawingml/2006/main" noGrp="1"/>
          </p:cNvSpPr>
          <p:nvPr/>
        </p:nvSpPr>
        <p:spPr>
          <a:xfrm xmlns:a="http://schemas.openxmlformats.org/drawingml/2006/main">
            <a:off x="7286625" y="4305300"/>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350" b="1">
                <a:solidFill>
                  <a:srgbClr val="000000"/>
                </a:solidFill>
                <a:latin typeface="Arial"/>
                <a:ea typeface="Arial"/>
                <a:cs typeface="Arial"/>
              </a:defRPr>
            </a:pPr>
            <a:r>
              <a:rPr sz="1350" b="1">
                <a:solidFill>
                  <a:srgbClr val="000000"/>
                </a:solidFill>
                <a:latin typeface="Arial"/>
                <a:ea typeface="Arial"/>
                <a:cs typeface="Arial"/>
              </a:rPr>
              <a:t>0.8759</a:t>
            </a:r>
          </a:p>
        </p:txBody>
      </p:sp>
      <p:sp>
        <p:nvSpPr>
          <p:cNvPr id="9" name="">
            <a:extLst xmlns:a="http://schemas.openxmlformats.org/drawingml/2006/main">
              <a:ext uri="{FF2B5EF4-FFF2-40B4-BE49-F238E27FC236}">
                <a16:creationId xmlns:a16="http://schemas.microsoft.com/office/drawing/2014/main" id="{65F1DAD3-358B-47B3-AD1C-25F0EB1FB159}"/>
              </a:ext>
            </a:extLst>
          </p:cNvPr>
          <p:cNvSpPr>
            <a:spLocks xmlns:a="http://schemas.openxmlformats.org/drawingml/2006/main" noGrp="1"/>
          </p:cNvSpPr>
          <p:nvPr/>
        </p:nvSpPr>
        <p:spPr>
          <a:xfrm xmlns:a="http://schemas.openxmlformats.org/drawingml/2006/main">
            <a:off x="7286625" y="5105400"/>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350" b="1">
                <a:solidFill>
                  <a:srgbClr val="000000"/>
                </a:solidFill>
                <a:latin typeface="Arial"/>
                <a:ea typeface="Arial"/>
                <a:cs typeface="Arial"/>
              </a:defRPr>
            </a:pPr>
            <a:r>
              <a:rPr sz="1350" b="1">
                <a:solidFill>
                  <a:srgbClr val="000000"/>
                </a:solidFill>
                <a:latin typeface="Arial"/>
                <a:ea typeface="Arial"/>
                <a:cs typeface="Arial"/>
              </a:rPr>
              <a:t>0.8390</a:t>
            </a:r>
          </a:p>
        </p:txBody>
      </p:sp>
      <p:sp>
        <p:nvSpPr>
          <p:cNvPr id="10" name="">
            <a:extLst xmlns:a="http://schemas.openxmlformats.org/drawingml/2006/main">
              <a:ext uri="{FF2B5EF4-FFF2-40B4-BE49-F238E27FC236}">
                <a16:creationId xmlns:a16="http://schemas.microsoft.com/office/drawing/2014/main" id="{B2756E5F-236C-4EB8-8333-6A8ED1EC6960}"/>
              </a:ext>
            </a:extLst>
          </p:cNvPr>
          <p:cNvSpPr>
            <a:spLocks xmlns:a="http://schemas.openxmlformats.org/drawingml/2006/main" noGrp="1"/>
          </p:cNvSpPr>
          <p:nvPr/>
        </p:nvSpPr>
        <p:spPr>
          <a:xfrm xmlns:a="http://schemas.openxmlformats.org/drawingml/2006/main">
            <a:off x="8096250" y="1714500"/>
            <a:ext cx="3333750" cy="3333750"/>
          </a:xfrm>
          <a:prstGeom xmlns:a="http://schemas.openxmlformats.org/drawingml/2006/main" prst="rect">
            <a:avLst/>
          </a:prstGeom>
          <a:solidFill xmlns:a="http://schemas.openxmlformats.org/drawingml/2006/main">
            <a:srgbClr val="D0EDFA"/>
          </a:solidFill>
          <a:ln xmlns:a="http://schemas.openxmlformats.org/drawingml/2006/main" w="19050">
            <a:solidFill>
              <a:srgbClr val="3D8DFF"/>
            </a:solidFill>
            <a:prstDash val="solid"/>
          </a:ln>
        </p:spPr>
      </p:sp>
      <p:sp>
        <p:nvSpPr>
          <p:cNvPr id="11" name="">
            <a:extLst xmlns:a="http://schemas.openxmlformats.org/drawingml/2006/main">
              <a:ext uri="{FF2B5EF4-FFF2-40B4-BE49-F238E27FC236}">
                <a16:creationId xmlns:a16="http://schemas.microsoft.com/office/drawing/2014/main" id="{276D5807-D30F-41B2-A16D-18D9889FCC29}"/>
              </a:ext>
            </a:extLst>
          </p:cNvPr>
          <p:cNvSpPr>
            <a:spLocks xmlns:a="http://schemas.openxmlformats.org/drawingml/2006/main" noGrp="1"/>
          </p:cNvSpPr>
          <p:nvPr/>
        </p:nvSpPr>
        <p:spPr>
          <a:xfrm xmlns:a="http://schemas.openxmlformats.org/drawingml/2006/main">
            <a:off x="8429625" y="2095500"/>
            <a:ext cx="266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200" b="1">
                <a:solidFill>
                  <a:srgbClr val="3D8DFF"/>
                </a:solidFill>
                <a:latin typeface="Arial"/>
                <a:ea typeface="Arial"/>
                <a:cs typeface="Arial"/>
              </a:defRPr>
            </a:pPr>
            <a:r>
              <a:rPr sz="4200" b="1">
                <a:solidFill>
                  <a:srgbClr val="3D8DFF"/>
                </a:solidFill>
                <a:latin typeface="Arial"/>
                <a:ea typeface="Arial"/>
                <a:cs typeface="Arial"/>
              </a:rPr>
              <a:t>0.9427</a:t>
            </a:r>
          </a:p>
        </p:txBody>
      </p:sp>
      <p:sp>
        <p:nvSpPr>
          <p:cNvPr id="12" name="">
            <a:extLst xmlns:a="http://schemas.openxmlformats.org/drawingml/2006/main">
              <a:ext uri="{FF2B5EF4-FFF2-40B4-BE49-F238E27FC236}">
                <a16:creationId xmlns:a16="http://schemas.microsoft.com/office/drawing/2014/main" id="{E0CEE33E-2AF5-4B65-A101-A020C8BACDF9}"/>
              </a:ext>
            </a:extLst>
          </p:cNvPr>
          <p:cNvSpPr>
            <a:spLocks xmlns:a="http://schemas.openxmlformats.org/drawingml/2006/main" noGrp="1"/>
          </p:cNvSpPr>
          <p:nvPr/>
        </p:nvSpPr>
        <p:spPr>
          <a:xfrm xmlns:a="http://schemas.openxmlformats.org/drawingml/2006/main">
            <a:off x="8429625" y="2857500"/>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000000"/>
                </a:solidFill>
                <a:latin typeface="Arial"/>
                <a:ea typeface="Arial"/>
                <a:cs typeface="Arial"/>
              </a:defRPr>
            </a:pPr>
            <a:r>
              <a:rPr sz="1725" b="1">
                <a:solidFill>
                  <a:srgbClr val="000000"/>
                </a:solidFill>
                <a:latin typeface="Arial"/>
                <a:ea typeface="Arial"/>
                <a:cs typeface="Arial"/>
              </a:rPr>
              <a:t>validation macro-F1</a:t>
            </a:r>
          </a:p>
        </p:txBody>
      </p:sp>
      <p:sp>
        <p:nvSpPr>
          <p:cNvPr id="13" name="">
            <a:extLst xmlns:a="http://schemas.openxmlformats.org/drawingml/2006/main">
              <a:ext uri="{FF2B5EF4-FFF2-40B4-BE49-F238E27FC236}">
                <a16:creationId xmlns:a16="http://schemas.microsoft.com/office/drawing/2014/main" id="{23C66FD9-7A3C-441D-B622-C8CEEC51C7D4}"/>
              </a:ext>
            </a:extLst>
          </p:cNvPr>
          <p:cNvSpPr>
            <a:spLocks xmlns:a="http://schemas.openxmlformats.org/drawingml/2006/main" noGrp="1"/>
          </p:cNvSpPr>
          <p:nvPr/>
        </p:nvSpPr>
        <p:spPr>
          <a:xfrm xmlns:a="http://schemas.openxmlformats.org/drawingml/2006/main">
            <a:off x="8429625" y="3571875"/>
            <a:ext cx="266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9616B"/>
                </a:solidFill>
                <a:latin typeface="Arial"/>
                <a:ea typeface="Arial"/>
                <a:cs typeface="Arial"/>
              </a:defRPr>
            </a:pPr>
            <a:r>
              <a:rPr sz="1650" b="0">
                <a:solidFill>
                  <a:srgbClr val="59616B"/>
                </a:solidFill>
                <a:latin typeface="Arial"/>
                <a:ea typeface="Arial"/>
                <a:cs typeface="Arial"/>
              </a:rPr>
              <a:t>+1.03 points over clean DS-CNN</a:t>
            </a:r>
          </a:p>
          <a:p xmlns:a="http://schemas.openxmlformats.org/drawingml/2006/main">
            <a:pPr algn="l">
              <a:defRPr sz="1650" b="0">
                <a:solidFill>
                  <a:srgbClr val="59616B"/>
                </a:solidFill>
                <a:latin typeface="Arial"/>
                <a:ea typeface="Arial"/>
                <a:cs typeface="Arial"/>
              </a:defRPr>
            </a:pPr>
            <a:r>
              <a:rPr sz="1650" b="0">
                <a:solidFill>
                  <a:srgbClr val="59616B"/>
                </a:solidFill>
                <a:latin typeface="Arial"/>
                <a:ea typeface="Arial"/>
                <a:cs typeface="Arial"/>
              </a:rPr>
              <a:t>6.24x more parameters</a:t>
            </a:r>
          </a:p>
        </p:txBody>
      </p:sp>
    </p:spTree>
    <p:extLst>
      <p:ext uri="{BB962C8B-B14F-4D97-AF65-F5344CB8AC3E}">
        <p14:creationId xmlns:p14="http://schemas.microsoft.com/office/powerpoint/2010/main" val="163611014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A9C4E24-B78B-4435-A3E9-8719E5FF9233}"/>
              </a:ext>
            </a:extLst>
          </p:cNvPr>
          <p:cNvSpPr>
            <a:spLocks xmlns:a="http://schemas.openxmlformats.org/drawingml/2006/main" noGrp="1"/>
          </p:cNvSpPr>
          <p:nvPr/>
        </p:nvSpPr>
        <p:spPr>
          <a:xfrm xmlns:a="http://schemas.openxmlformats.org/drawingml/2006/main">
            <a:off x="457200" y="23812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59616B"/>
                </a:solidFill>
                <a:latin typeface="Arial"/>
                <a:ea typeface="Arial"/>
                <a:cs typeface="Arial"/>
              </a:defRPr>
            </a:pPr>
            <a:r>
              <a:rPr sz="1200" b="1">
                <a:solidFill>
                  <a:srgbClr val="59616B"/>
                </a:solidFill>
                <a:latin typeface="Arial"/>
                <a:ea typeface="Arial"/>
                <a:cs typeface="Arial"/>
              </a:rPr>
              <a:t>SPEECH COMMANDS</a:t>
            </a:r>
          </a:p>
        </p:txBody>
      </p:sp>
      <p:sp>
        <p:nvSpPr>
          <p:cNvPr id="2" name="slide-11-title">
            <a:extLst xmlns:a="http://schemas.openxmlformats.org/drawingml/2006/main">
              <a:ext uri="{FF2B5EF4-FFF2-40B4-BE49-F238E27FC236}">
                <a16:creationId xmlns:a16="http://schemas.microsoft.com/office/drawing/2014/main" id="{61A29750-6363-4FBC-9F25-B41217FF44C7}"/>
              </a:ext>
            </a:extLst>
          </p:cNvPr>
          <p:cNvSpPr>
            <a:spLocks xmlns:a="http://schemas.openxmlformats.org/drawingml/2006/main" noGrp="1"/>
          </p:cNvSpPr>
          <p:nvPr/>
        </p:nvSpPr>
        <p:spPr>
          <a:xfrm xmlns:a="http://schemas.openxmlformats.org/drawingml/2006/main">
            <a:off x="457200" y="5143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000000"/>
                </a:solidFill>
                <a:latin typeface="Arial"/>
                <a:ea typeface="Arial"/>
                <a:cs typeface="Arial"/>
              </a:defRPr>
            </a:pPr>
            <a:r>
              <a:rPr sz="3600" b="1">
                <a:solidFill>
                  <a:srgbClr val="000000"/>
                </a:solidFill>
                <a:latin typeface="Arial"/>
                <a:ea typeface="Arial"/>
                <a:cs typeface="Arial"/>
              </a:rPr>
              <a:t>Augmentation buys noise robustness</a:t>
            </a:r>
          </a:p>
        </p:txBody>
      </p:sp>
      <p:sp>
        <p:nvSpPr>
          <p:cNvPr id="3" name="">
            <a:extLst xmlns:a="http://schemas.openxmlformats.org/drawingml/2006/main">
              <a:ext uri="{FF2B5EF4-FFF2-40B4-BE49-F238E27FC236}">
                <a16:creationId xmlns:a16="http://schemas.microsoft.com/office/drawing/2014/main" id="{DFBFF81D-817F-4FA7-81D9-8337ECF0E7D5}"/>
              </a:ext>
            </a:extLst>
          </p:cNvPr>
          <p:cNvSpPr>
            <a:spLocks xmlns:a="http://schemas.openxmlformats.org/drawingml/2006/main" noGrp="1"/>
          </p:cNvSpPr>
          <p:nvPr/>
        </p:nvSpPr>
        <p:spPr>
          <a:xfrm xmlns:a="http://schemas.openxmlformats.org/drawingml/2006/main">
            <a:off x="1123950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59616B"/>
                </a:solidFill>
                <a:latin typeface="Arial"/>
                <a:ea typeface="Arial"/>
                <a:cs typeface="Arial"/>
              </a:defRPr>
            </a:pPr>
            <a:r>
              <a:rPr sz="1050" b="0">
                <a:solidFill>
                  <a:srgbClr val="59616B"/>
                </a:solidFill>
                <a:latin typeface="Arial"/>
                <a:ea typeface="Arial"/>
                <a:cs typeface="Arial"/>
              </a:rPr>
              <a:t>11</a:t>
            </a:r>
          </a:p>
        </p:txBody>
      </p:sp>
      <p:graphicFrame>
        <p:nvGraphicFramePr>
          <p:cNvPr id="16" name="Chart"/>
          <p:cNvGraphicFramePr/>
          <p:nvPr/>
        </p:nvGraphicFramePr>
        <p:xfrm>
          <a:off xmlns:a="http://schemas.openxmlformats.org/drawingml/2006/main" x="457200" y="1476375"/>
          <a:ext xmlns:a="http://schemas.openxmlformats.org/drawingml/2006/main" cx="7524750" cy="4286250"/>
        </p:xfrm>
        <a:graphic xmlns:a="http://schemas.openxmlformats.org/drawingml/2006/main">
          <a:graphicData uri="http://schemas.openxmlformats.org/drawingml/2006/chart">
            <c:chart xmlns:r="http://schemas.openxmlformats.org/officeDocument/2006/relationships" xmlns:c="http://schemas.openxmlformats.org/drawingml/2006/chart" r:id="Ra8fd5ae30a3c4c54"/>
          </a:graphicData>
        </a:graphic>
      </p:graphicFrame>
      <p:sp>
        <p:nvSpPr>
          <p:cNvPr id="5" name="">
            <a:extLst xmlns:a="http://schemas.openxmlformats.org/drawingml/2006/main">
              <a:ext uri="{FF2B5EF4-FFF2-40B4-BE49-F238E27FC236}">
                <a16:creationId xmlns:a16="http://schemas.microsoft.com/office/drawing/2014/main" id="{5E18A319-4811-44E3-A4A9-BA90E57C1C85}"/>
              </a:ext>
            </a:extLst>
          </p:cNvPr>
          <p:cNvSpPr>
            <a:spLocks xmlns:a="http://schemas.openxmlformats.org/drawingml/2006/main" noGrp="1"/>
          </p:cNvSpPr>
          <p:nvPr/>
        </p:nvSpPr>
        <p:spPr>
          <a:xfrm xmlns:a="http://schemas.openxmlformats.org/drawingml/2006/main">
            <a:off x="8382000" y="1714500"/>
            <a:ext cx="3048000" cy="1809750"/>
          </a:xfrm>
          <a:prstGeom xmlns:a="http://schemas.openxmlformats.org/drawingml/2006/main" prst="rect">
            <a:avLst/>
          </a:prstGeom>
          <a:solidFill xmlns:a="http://schemas.openxmlformats.org/drawingml/2006/main">
            <a:srgbClr val="F2F2F2"/>
          </a:solidFill>
          <a:ln xmlns:a="http://schemas.openxmlformats.org/drawingml/2006/main" w="0">
            <a:solidFill>
              <a:srgbClr val="F2F2F2"/>
            </a:solidFill>
            <a:prstDash val="solid"/>
          </a:ln>
        </p:spPr>
      </p:sp>
      <p:sp>
        <p:nvSpPr>
          <p:cNvPr id="6" name="">
            <a:extLst xmlns:a="http://schemas.openxmlformats.org/drawingml/2006/main">
              <a:ext uri="{FF2B5EF4-FFF2-40B4-BE49-F238E27FC236}">
                <a16:creationId xmlns:a16="http://schemas.microsoft.com/office/drawing/2014/main" id="{FF8AB1B0-2423-4573-BF74-496B7407D991}"/>
              </a:ext>
            </a:extLst>
          </p:cNvPr>
          <p:cNvSpPr>
            <a:spLocks xmlns:a="http://schemas.openxmlformats.org/drawingml/2006/main" noGrp="1"/>
          </p:cNvSpPr>
          <p:nvPr/>
        </p:nvSpPr>
        <p:spPr>
          <a:xfrm xmlns:a="http://schemas.openxmlformats.org/drawingml/2006/main">
            <a:off x="8382000" y="1714500"/>
            <a:ext cx="3048000" cy="0"/>
          </a:xfrm>
          <a:prstGeom xmlns:a="http://schemas.openxmlformats.org/drawingml/2006/main" prst="line">
            <a:avLst/>
          </a:prstGeom>
          <a:noFill xmlns:a="http://schemas.openxmlformats.org/drawingml/2006/main"/>
          <a:ln xmlns:a="http://schemas.openxmlformats.org/drawingml/2006/main" w="66675">
            <a:solidFill>
              <a:srgbClr val="C23B3B"/>
            </a:solidFill>
            <a:prstDash val="solid"/>
          </a:ln>
        </p:spPr>
      </p:sp>
      <p:sp>
        <p:nvSpPr>
          <p:cNvPr id="7" name="">
            <a:extLst xmlns:a="http://schemas.openxmlformats.org/drawingml/2006/main">
              <a:ext uri="{FF2B5EF4-FFF2-40B4-BE49-F238E27FC236}">
                <a16:creationId xmlns:a16="http://schemas.microsoft.com/office/drawing/2014/main" id="{BED43F23-F1F6-4FD7-96C6-40E090CF9C49}"/>
              </a:ext>
            </a:extLst>
          </p:cNvPr>
          <p:cNvSpPr>
            <a:spLocks xmlns:a="http://schemas.openxmlformats.org/drawingml/2006/main" noGrp="1"/>
          </p:cNvSpPr>
          <p:nvPr/>
        </p:nvSpPr>
        <p:spPr>
          <a:xfrm xmlns:a="http://schemas.openxmlformats.org/drawingml/2006/main">
            <a:off x="8610600" y="2019300"/>
            <a:ext cx="2590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900" b="1">
                <a:solidFill>
                  <a:srgbClr val="000000"/>
                </a:solidFill>
                <a:latin typeface="Arial"/>
                <a:ea typeface="Arial"/>
                <a:cs typeface="Arial"/>
              </a:defRPr>
            </a:pPr>
            <a:r>
              <a:rPr sz="3900" b="1">
                <a:solidFill>
                  <a:srgbClr val="000000"/>
                </a:solidFill>
                <a:latin typeface="Arial"/>
                <a:ea typeface="Arial"/>
                <a:cs typeface="Arial"/>
              </a:rPr>
              <a:t>-2.74 pt</a:t>
            </a:r>
          </a:p>
        </p:txBody>
      </p:sp>
      <p:sp>
        <p:nvSpPr>
          <p:cNvPr id="8" name="">
            <a:extLst xmlns:a="http://schemas.openxmlformats.org/drawingml/2006/main">
              <a:ext uri="{FF2B5EF4-FFF2-40B4-BE49-F238E27FC236}">
                <a16:creationId xmlns:a16="http://schemas.microsoft.com/office/drawing/2014/main" id="{4E09201B-514A-4BF9-868B-AC7E3BB58B81}"/>
              </a:ext>
            </a:extLst>
          </p:cNvPr>
          <p:cNvSpPr>
            <a:spLocks xmlns:a="http://schemas.openxmlformats.org/drawingml/2006/main" noGrp="1"/>
          </p:cNvSpPr>
          <p:nvPr/>
        </p:nvSpPr>
        <p:spPr>
          <a:xfrm xmlns:a="http://schemas.openxmlformats.org/drawingml/2006/main">
            <a:off x="8610600" y="2781300"/>
            <a:ext cx="2590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9616B"/>
                </a:solidFill>
                <a:latin typeface="Arial"/>
                <a:ea typeface="Arial"/>
                <a:cs typeface="Arial"/>
              </a:defRPr>
            </a:pPr>
            <a:r>
              <a:rPr sz="1650" b="0">
                <a:solidFill>
                  <a:srgbClr val="59616B"/>
                </a:solidFill>
                <a:latin typeface="Arial"/>
                <a:ea typeface="Arial"/>
                <a:cs typeface="Arial"/>
              </a:rPr>
              <a:t>clean cost for DS-CNN augmentation</a:t>
            </a:r>
          </a:p>
        </p:txBody>
      </p:sp>
      <p:sp>
        <p:nvSpPr>
          <p:cNvPr id="9" name="">
            <a:extLst xmlns:a="http://schemas.openxmlformats.org/drawingml/2006/main">
              <a:ext uri="{FF2B5EF4-FFF2-40B4-BE49-F238E27FC236}">
                <a16:creationId xmlns:a16="http://schemas.microsoft.com/office/drawing/2014/main" id="{DE6BA815-56CC-4BA1-AE31-F8512917CCB2}"/>
              </a:ext>
            </a:extLst>
          </p:cNvPr>
          <p:cNvSpPr>
            <a:spLocks xmlns:a="http://schemas.openxmlformats.org/drawingml/2006/main" noGrp="1"/>
          </p:cNvSpPr>
          <p:nvPr/>
        </p:nvSpPr>
        <p:spPr>
          <a:xfrm xmlns:a="http://schemas.openxmlformats.org/drawingml/2006/main">
            <a:off x="8382000" y="3857625"/>
            <a:ext cx="3048000" cy="1809750"/>
          </a:xfrm>
          <a:prstGeom xmlns:a="http://schemas.openxmlformats.org/drawingml/2006/main" prst="rect">
            <a:avLst/>
          </a:prstGeom>
          <a:solidFill xmlns:a="http://schemas.openxmlformats.org/drawingml/2006/main">
            <a:srgbClr val="F2F2F2"/>
          </a:solidFill>
          <a:ln xmlns:a="http://schemas.openxmlformats.org/drawingml/2006/main" w="0">
            <a:solidFill>
              <a:srgbClr val="F2F2F2"/>
            </a:solidFill>
            <a:prstDash val="solid"/>
          </a:ln>
        </p:spPr>
      </p:sp>
      <p:sp>
        <p:nvSpPr>
          <p:cNvPr id="10" name="">
            <a:extLst xmlns:a="http://schemas.openxmlformats.org/drawingml/2006/main">
              <a:ext uri="{FF2B5EF4-FFF2-40B4-BE49-F238E27FC236}">
                <a16:creationId xmlns:a16="http://schemas.microsoft.com/office/drawing/2014/main" id="{04A3A557-6771-4198-B46A-9904473CC1A5}"/>
              </a:ext>
            </a:extLst>
          </p:cNvPr>
          <p:cNvSpPr>
            <a:spLocks xmlns:a="http://schemas.openxmlformats.org/drawingml/2006/main" noGrp="1"/>
          </p:cNvSpPr>
          <p:nvPr/>
        </p:nvSpPr>
        <p:spPr>
          <a:xfrm xmlns:a="http://schemas.openxmlformats.org/drawingml/2006/main">
            <a:off x="8382000" y="3857625"/>
            <a:ext cx="3048000" cy="0"/>
          </a:xfrm>
          <a:prstGeom xmlns:a="http://schemas.openxmlformats.org/drawingml/2006/main" prst="line">
            <a:avLst/>
          </a:prstGeom>
          <a:noFill xmlns:a="http://schemas.openxmlformats.org/drawingml/2006/main"/>
          <a:ln xmlns:a="http://schemas.openxmlformats.org/drawingml/2006/main" w="66675">
            <a:solidFill>
              <a:srgbClr val="2A9D3F"/>
            </a:solidFill>
            <a:prstDash val="solid"/>
          </a:ln>
        </p:spPr>
      </p:sp>
      <p:sp>
        <p:nvSpPr>
          <p:cNvPr id="11" name="">
            <a:extLst xmlns:a="http://schemas.openxmlformats.org/drawingml/2006/main">
              <a:ext uri="{FF2B5EF4-FFF2-40B4-BE49-F238E27FC236}">
                <a16:creationId xmlns:a16="http://schemas.microsoft.com/office/drawing/2014/main" id="{1392264E-B482-4D5A-9504-1827F7021260}"/>
              </a:ext>
            </a:extLst>
          </p:cNvPr>
          <p:cNvSpPr>
            <a:spLocks xmlns:a="http://schemas.openxmlformats.org/drawingml/2006/main" noGrp="1"/>
          </p:cNvSpPr>
          <p:nvPr/>
        </p:nvSpPr>
        <p:spPr>
          <a:xfrm xmlns:a="http://schemas.openxmlformats.org/drawingml/2006/main">
            <a:off x="8610600" y="4162425"/>
            <a:ext cx="2590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900" b="1">
                <a:solidFill>
                  <a:srgbClr val="000000"/>
                </a:solidFill>
                <a:latin typeface="Arial"/>
                <a:ea typeface="Arial"/>
                <a:cs typeface="Arial"/>
              </a:defRPr>
            </a:pPr>
            <a:r>
              <a:rPr sz="3900" b="1">
                <a:solidFill>
                  <a:srgbClr val="000000"/>
                </a:solidFill>
                <a:latin typeface="Arial"/>
                <a:ea typeface="Arial"/>
                <a:cs typeface="Arial"/>
              </a:rPr>
              <a:t>+52.35 pt</a:t>
            </a:r>
          </a:p>
        </p:txBody>
      </p:sp>
      <p:sp>
        <p:nvSpPr>
          <p:cNvPr id="12" name="">
            <a:extLst xmlns:a="http://schemas.openxmlformats.org/drawingml/2006/main">
              <a:ext uri="{FF2B5EF4-FFF2-40B4-BE49-F238E27FC236}">
                <a16:creationId xmlns:a16="http://schemas.microsoft.com/office/drawing/2014/main" id="{891C909A-D764-43FC-B0AF-DF3FC5C568F9}"/>
              </a:ext>
            </a:extLst>
          </p:cNvPr>
          <p:cNvSpPr>
            <a:spLocks xmlns:a="http://schemas.openxmlformats.org/drawingml/2006/main" noGrp="1"/>
          </p:cNvSpPr>
          <p:nvPr/>
        </p:nvSpPr>
        <p:spPr>
          <a:xfrm xmlns:a="http://schemas.openxmlformats.org/drawingml/2006/main">
            <a:off x="8610600" y="4924425"/>
            <a:ext cx="2590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9616B"/>
                </a:solidFill>
                <a:latin typeface="Arial"/>
                <a:ea typeface="Arial"/>
                <a:cs typeface="Arial"/>
              </a:defRPr>
            </a:pPr>
            <a:r>
              <a:rPr sz="1650" b="0">
                <a:solidFill>
                  <a:srgbClr val="59616B"/>
                </a:solidFill>
                <a:latin typeface="Arial"/>
                <a:ea typeface="Arial"/>
                <a:cs typeface="Arial"/>
              </a:rPr>
              <a:t>0 dB gain for the same model</a:t>
            </a:r>
          </a:p>
        </p:txBody>
      </p:sp>
    </p:spTree>
    <p:extLst>
      <p:ext uri="{BB962C8B-B14F-4D97-AF65-F5344CB8AC3E}">
        <p14:creationId xmlns:p14="http://schemas.microsoft.com/office/powerpoint/2010/main" val="31958678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6BA6BB7-5E0B-4AC3-8CCF-B586D6159CC5}"/>
              </a:ext>
            </a:extLst>
          </p:cNvPr>
          <p:cNvSpPr>
            <a:spLocks xmlns:a="http://schemas.openxmlformats.org/drawingml/2006/main" noGrp="1"/>
          </p:cNvSpPr>
          <p:nvPr/>
        </p:nvSpPr>
        <p:spPr>
          <a:xfrm xmlns:a="http://schemas.openxmlformats.org/drawingml/2006/main">
            <a:off x="457200" y="23812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59616B"/>
                </a:solidFill>
                <a:latin typeface="Arial"/>
                <a:ea typeface="Arial"/>
                <a:cs typeface="Arial"/>
              </a:defRPr>
            </a:pPr>
            <a:r>
              <a:rPr sz="1200" b="1">
                <a:solidFill>
                  <a:srgbClr val="59616B"/>
                </a:solidFill>
                <a:latin typeface="Arial"/>
                <a:ea typeface="Arial"/>
                <a:cs typeface="Arial"/>
              </a:rPr>
              <a:t>SPEECH COMMANDS</a:t>
            </a:r>
          </a:p>
        </p:txBody>
      </p:sp>
      <p:sp>
        <p:nvSpPr>
          <p:cNvPr id="2" name="slide-12-title">
            <a:extLst xmlns:a="http://schemas.openxmlformats.org/drawingml/2006/main">
              <a:ext uri="{FF2B5EF4-FFF2-40B4-BE49-F238E27FC236}">
                <a16:creationId xmlns:a16="http://schemas.microsoft.com/office/drawing/2014/main" id="{D2EAC8C0-0856-488C-9D61-837CB6DB4772}"/>
              </a:ext>
            </a:extLst>
          </p:cNvPr>
          <p:cNvSpPr>
            <a:spLocks xmlns:a="http://schemas.openxmlformats.org/drawingml/2006/main" noGrp="1"/>
          </p:cNvSpPr>
          <p:nvPr/>
        </p:nvSpPr>
        <p:spPr>
          <a:xfrm xmlns:a="http://schemas.openxmlformats.org/drawingml/2006/main">
            <a:off x="457200" y="5143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000000"/>
                </a:solidFill>
                <a:latin typeface="Arial"/>
                <a:ea typeface="Arial"/>
                <a:cs typeface="Arial"/>
              </a:defRPr>
            </a:pPr>
            <a:r>
              <a:rPr sz="3600" b="1">
                <a:solidFill>
                  <a:srgbClr val="000000"/>
                </a:solidFill>
                <a:latin typeface="Arial"/>
                <a:ea typeface="Arial"/>
                <a:cs typeface="Arial"/>
              </a:rPr>
              <a:t>Frozen test confirms the validation result</a:t>
            </a:r>
          </a:p>
        </p:txBody>
      </p:sp>
      <p:sp>
        <p:nvSpPr>
          <p:cNvPr id="3" name="">
            <a:extLst xmlns:a="http://schemas.openxmlformats.org/drawingml/2006/main">
              <a:ext uri="{FF2B5EF4-FFF2-40B4-BE49-F238E27FC236}">
                <a16:creationId xmlns:a16="http://schemas.microsoft.com/office/drawing/2014/main" id="{7FEF5C39-FB14-4A16-A40B-7651ADF53134}"/>
              </a:ext>
            </a:extLst>
          </p:cNvPr>
          <p:cNvSpPr>
            <a:spLocks xmlns:a="http://schemas.openxmlformats.org/drawingml/2006/main" noGrp="1"/>
          </p:cNvSpPr>
          <p:nvPr/>
        </p:nvSpPr>
        <p:spPr>
          <a:xfrm xmlns:a="http://schemas.openxmlformats.org/drawingml/2006/main">
            <a:off x="495300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59616B"/>
                </a:solidFill>
                <a:latin typeface="Arial"/>
                <a:ea typeface="Arial"/>
                <a:cs typeface="Arial"/>
              </a:defRPr>
            </a:pPr>
            <a:r>
              <a:rPr sz="1050" b="0">
                <a:solidFill>
                  <a:srgbClr val="59616B"/>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A58C7E2F-84DC-451C-96F7-8D900A0EE4D4}"/>
              </a:ext>
            </a:extLst>
          </p:cNvPr>
          <p:cNvSpPr>
            <a:spLocks xmlns:a="http://schemas.openxmlformats.org/drawingml/2006/main" noGrp="1"/>
          </p:cNvSpPr>
          <p:nvPr/>
        </p:nvSpPr>
        <p:spPr>
          <a:xfrm xmlns:a="http://schemas.openxmlformats.org/drawingml/2006/main">
            <a:off x="457200" y="1571625"/>
            <a:ext cx="3429000" cy="1809750"/>
          </a:xfrm>
          <a:prstGeom xmlns:a="http://schemas.openxmlformats.org/drawingml/2006/main" prst="rect">
            <a:avLst/>
          </a:prstGeom>
          <a:solidFill xmlns:a="http://schemas.openxmlformats.org/drawingml/2006/main">
            <a:srgbClr val="F2F2F2"/>
          </a:solidFill>
          <a:ln xmlns:a="http://schemas.openxmlformats.org/drawingml/2006/main" w="0">
            <a:solidFill>
              <a:srgbClr val="F2F2F2"/>
            </a:solidFill>
            <a:prstDash val="solid"/>
          </a:ln>
        </p:spPr>
      </p:sp>
      <p:sp>
        <p:nvSpPr>
          <p:cNvPr id="5" name="">
            <a:extLst xmlns:a="http://schemas.openxmlformats.org/drawingml/2006/main">
              <a:ext uri="{FF2B5EF4-FFF2-40B4-BE49-F238E27FC236}">
                <a16:creationId xmlns:a16="http://schemas.microsoft.com/office/drawing/2014/main" id="{F3284319-3A9A-4369-ACE9-2201E9D65350}"/>
              </a:ext>
            </a:extLst>
          </p:cNvPr>
          <p:cNvSpPr>
            <a:spLocks xmlns:a="http://schemas.openxmlformats.org/drawingml/2006/main" noGrp="1"/>
          </p:cNvSpPr>
          <p:nvPr/>
        </p:nvSpPr>
        <p:spPr>
          <a:xfrm xmlns:a="http://schemas.openxmlformats.org/drawingml/2006/main">
            <a:off x="457200" y="1571625"/>
            <a:ext cx="3429000" cy="0"/>
          </a:xfrm>
          <a:prstGeom xmlns:a="http://schemas.openxmlformats.org/drawingml/2006/main" prst="line">
            <a:avLst/>
          </a:prstGeom>
          <a:noFill xmlns:a="http://schemas.openxmlformats.org/drawingml/2006/main"/>
          <a:ln xmlns:a="http://schemas.openxmlformats.org/drawingml/2006/main" w="66675">
            <a:solidFill>
              <a:srgbClr val="3D8DFF"/>
            </a:solidFill>
            <a:prstDash val="solid"/>
          </a:ln>
        </p:spPr>
      </p:sp>
      <p:sp>
        <p:nvSpPr>
          <p:cNvPr id="6" name="">
            <a:extLst xmlns:a="http://schemas.openxmlformats.org/drawingml/2006/main">
              <a:ext uri="{FF2B5EF4-FFF2-40B4-BE49-F238E27FC236}">
                <a16:creationId xmlns:a16="http://schemas.microsoft.com/office/drawing/2014/main" id="{5BFB083B-651B-47A8-9B23-E5189744A957}"/>
              </a:ext>
            </a:extLst>
          </p:cNvPr>
          <p:cNvSpPr>
            <a:spLocks xmlns:a="http://schemas.openxmlformats.org/drawingml/2006/main" noGrp="1"/>
          </p:cNvSpPr>
          <p:nvPr/>
        </p:nvSpPr>
        <p:spPr>
          <a:xfrm xmlns:a="http://schemas.openxmlformats.org/drawingml/2006/main">
            <a:off x="685800" y="1876425"/>
            <a:ext cx="2971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900" b="1">
                <a:solidFill>
                  <a:srgbClr val="000000"/>
                </a:solidFill>
                <a:latin typeface="Arial"/>
                <a:ea typeface="Arial"/>
                <a:cs typeface="Arial"/>
              </a:defRPr>
            </a:pPr>
            <a:r>
              <a:rPr sz="3900" b="1">
                <a:solidFill>
                  <a:srgbClr val="000000"/>
                </a:solidFill>
                <a:latin typeface="Arial"/>
                <a:ea typeface="Arial"/>
                <a:cs typeface="Arial"/>
              </a:rPr>
              <a:t>94.19%</a:t>
            </a:r>
          </a:p>
        </p:txBody>
      </p:sp>
      <p:sp>
        <p:nvSpPr>
          <p:cNvPr id="7" name="">
            <a:extLst xmlns:a="http://schemas.openxmlformats.org/drawingml/2006/main">
              <a:ext uri="{FF2B5EF4-FFF2-40B4-BE49-F238E27FC236}">
                <a16:creationId xmlns:a16="http://schemas.microsoft.com/office/drawing/2014/main" id="{0AA7BA2A-E516-44C8-90AC-19A107FE5B19}"/>
              </a:ext>
            </a:extLst>
          </p:cNvPr>
          <p:cNvSpPr>
            <a:spLocks xmlns:a="http://schemas.openxmlformats.org/drawingml/2006/main" noGrp="1"/>
          </p:cNvSpPr>
          <p:nvPr/>
        </p:nvSpPr>
        <p:spPr>
          <a:xfrm xmlns:a="http://schemas.openxmlformats.org/drawingml/2006/main">
            <a:off x="685800" y="2638425"/>
            <a:ext cx="2971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9616B"/>
                </a:solidFill>
                <a:latin typeface="Arial"/>
                <a:ea typeface="Arial"/>
                <a:cs typeface="Arial"/>
              </a:defRPr>
            </a:pPr>
            <a:r>
              <a:rPr sz="1650" b="0">
                <a:solidFill>
                  <a:srgbClr val="59616B"/>
                </a:solidFill>
                <a:latin typeface="Arial"/>
                <a:ea typeface="Arial"/>
                <a:cs typeface="Arial"/>
              </a:rPr>
              <a:t>test accuracy</a:t>
            </a:r>
          </a:p>
          <a:p xmlns:a="http://schemas.openxmlformats.org/drawingml/2006/main">
            <a:pPr algn="l">
              <a:defRPr sz="1650" b="0">
                <a:solidFill>
                  <a:srgbClr val="59616B"/>
                </a:solidFill>
                <a:latin typeface="Arial"/>
                <a:ea typeface="Arial"/>
                <a:cs typeface="Arial"/>
              </a:defRPr>
            </a:pPr>
            <a:r>
              <a:rPr sz="1650" b="0">
                <a:solidFill>
                  <a:srgbClr val="59616B"/>
                </a:solidFill>
                <a:latin typeface="Arial"/>
                <a:ea typeface="Arial"/>
                <a:cs typeface="Arial"/>
              </a:rPr>
              <a:t>95% CI: 93.35-95.00</a:t>
            </a:r>
          </a:p>
        </p:txBody>
      </p:sp>
      <p:sp>
        <p:nvSpPr>
          <p:cNvPr id="8" name="">
            <a:extLst xmlns:a="http://schemas.openxmlformats.org/drawingml/2006/main">
              <a:ext uri="{FF2B5EF4-FFF2-40B4-BE49-F238E27FC236}">
                <a16:creationId xmlns:a16="http://schemas.microsoft.com/office/drawing/2014/main" id="{515F36F5-4B43-4064-91B7-A8C5E4BC30AB}"/>
              </a:ext>
            </a:extLst>
          </p:cNvPr>
          <p:cNvSpPr>
            <a:spLocks xmlns:a="http://schemas.openxmlformats.org/drawingml/2006/main" noGrp="1"/>
          </p:cNvSpPr>
          <p:nvPr/>
        </p:nvSpPr>
        <p:spPr>
          <a:xfrm xmlns:a="http://schemas.openxmlformats.org/drawingml/2006/main">
            <a:off x="457200" y="3714750"/>
            <a:ext cx="3429000" cy="1809750"/>
          </a:xfrm>
          <a:prstGeom xmlns:a="http://schemas.openxmlformats.org/drawingml/2006/main" prst="rect">
            <a:avLst/>
          </a:prstGeom>
          <a:solidFill xmlns:a="http://schemas.openxmlformats.org/drawingml/2006/main">
            <a:srgbClr val="F2F2F2"/>
          </a:solidFill>
          <a:ln xmlns:a="http://schemas.openxmlformats.org/drawingml/2006/main" w="0">
            <a:solidFill>
              <a:srgbClr val="F2F2F2"/>
            </a:solidFill>
            <a:prstDash val="solid"/>
          </a:ln>
        </p:spPr>
      </p:sp>
      <p:sp>
        <p:nvSpPr>
          <p:cNvPr id="9" name="">
            <a:extLst xmlns:a="http://schemas.openxmlformats.org/drawingml/2006/main">
              <a:ext uri="{FF2B5EF4-FFF2-40B4-BE49-F238E27FC236}">
                <a16:creationId xmlns:a16="http://schemas.microsoft.com/office/drawing/2014/main" id="{49A060FF-0D63-4F66-92B0-43C883A08970}"/>
              </a:ext>
            </a:extLst>
          </p:cNvPr>
          <p:cNvSpPr>
            <a:spLocks xmlns:a="http://schemas.openxmlformats.org/drawingml/2006/main" noGrp="1"/>
          </p:cNvSpPr>
          <p:nvPr/>
        </p:nvSpPr>
        <p:spPr>
          <a:xfrm xmlns:a="http://schemas.openxmlformats.org/drawingml/2006/main">
            <a:off x="457200" y="3714750"/>
            <a:ext cx="3429000" cy="0"/>
          </a:xfrm>
          <a:prstGeom xmlns:a="http://schemas.openxmlformats.org/drawingml/2006/main" prst="line">
            <a:avLst/>
          </a:prstGeom>
          <a:noFill xmlns:a="http://schemas.openxmlformats.org/drawingml/2006/main"/>
          <a:ln xmlns:a="http://schemas.openxmlformats.org/drawingml/2006/main" w="66675">
            <a:solidFill>
              <a:srgbClr val="7B2CBF"/>
            </a:solidFill>
            <a:prstDash val="solid"/>
          </a:ln>
        </p:spPr>
      </p:sp>
      <p:sp>
        <p:nvSpPr>
          <p:cNvPr id="10" name="">
            <a:extLst xmlns:a="http://schemas.openxmlformats.org/drawingml/2006/main">
              <a:ext uri="{FF2B5EF4-FFF2-40B4-BE49-F238E27FC236}">
                <a16:creationId xmlns:a16="http://schemas.microsoft.com/office/drawing/2014/main" id="{726443A7-55F1-43BF-B5EB-2BDB242EC64C}"/>
              </a:ext>
            </a:extLst>
          </p:cNvPr>
          <p:cNvSpPr>
            <a:spLocks xmlns:a="http://schemas.openxmlformats.org/drawingml/2006/main" noGrp="1"/>
          </p:cNvSpPr>
          <p:nvPr/>
        </p:nvSpPr>
        <p:spPr>
          <a:xfrm xmlns:a="http://schemas.openxmlformats.org/drawingml/2006/main">
            <a:off x="685800" y="4019550"/>
            <a:ext cx="2971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900" b="1">
                <a:solidFill>
                  <a:srgbClr val="000000"/>
                </a:solidFill>
                <a:latin typeface="Arial"/>
                <a:ea typeface="Arial"/>
                <a:cs typeface="Arial"/>
              </a:defRPr>
            </a:pPr>
            <a:r>
              <a:rPr sz="3900" b="1">
                <a:solidFill>
                  <a:srgbClr val="000000"/>
                </a:solidFill>
                <a:latin typeface="Arial"/>
                <a:ea typeface="Arial"/>
                <a:cs typeface="Arial"/>
              </a:rPr>
              <a:t>0.9421</a:t>
            </a:r>
          </a:p>
        </p:txBody>
      </p:sp>
      <p:sp>
        <p:nvSpPr>
          <p:cNvPr id="11" name="">
            <a:extLst xmlns:a="http://schemas.openxmlformats.org/drawingml/2006/main">
              <a:ext uri="{FF2B5EF4-FFF2-40B4-BE49-F238E27FC236}">
                <a16:creationId xmlns:a16="http://schemas.microsoft.com/office/drawing/2014/main" id="{B7980D28-5EA2-4638-B417-62AD1F5B43D7}"/>
              </a:ext>
            </a:extLst>
          </p:cNvPr>
          <p:cNvSpPr>
            <a:spLocks xmlns:a="http://schemas.openxmlformats.org/drawingml/2006/main" noGrp="1"/>
          </p:cNvSpPr>
          <p:nvPr/>
        </p:nvSpPr>
        <p:spPr>
          <a:xfrm xmlns:a="http://schemas.openxmlformats.org/drawingml/2006/main">
            <a:off x="685800" y="4781550"/>
            <a:ext cx="2971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9616B"/>
                </a:solidFill>
                <a:latin typeface="Arial"/>
                <a:ea typeface="Arial"/>
                <a:cs typeface="Arial"/>
              </a:defRPr>
            </a:pPr>
            <a:r>
              <a:rPr sz="1650" b="0">
                <a:solidFill>
                  <a:srgbClr val="59616B"/>
                </a:solidFill>
                <a:latin typeface="Arial"/>
                <a:ea typeface="Arial"/>
                <a:cs typeface="Arial"/>
              </a:rPr>
              <a:t>test macro-F1</a:t>
            </a:r>
          </a:p>
          <a:p xmlns:a="http://schemas.openxmlformats.org/drawingml/2006/main">
            <a:pPr algn="l">
              <a:defRPr sz="1650" b="0">
                <a:solidFill>
                  <a:srgbClr val="59616B"/>
                </a:solidFill>
                <a:latin typeface="Arial"/>
                <a:ea typeface="Arial"/>
                <a:cs typeface="Arial"/>
              </a:defRPr>
            </a:pPr>
            <a:r>
              <a:rPr sz="1650" b="0">
                <a:solidFill>
                  <a:srgbClr val="59616B"/>
                </a:solidFill>
                <a:latin typeface="Arial"/>
                <a:ea typeface="Arial"/>
                <a:cs typeface="Arial"/>
              </a:rPr>
              <a:t>95% CI: 0.9338-0.9501</a:t>
            </a:r>
          </a:p>
        </p:txBody>
      </p:sp>
      <p:sp>
        <p:nvSpPr>
          <p:cNvPr id="12" name="">
            <a:extLst xmlns:a="http://schemas.openxmlformats.org/drawingml/2006/main">
              <a:ext uri="{FF2B5EF4-FFF2-40B4-BE49-F238E27FC236}">
                <a16:creationId xmlns:a16="http://schemas.microsoft.com/office/drawing/2014/main" id="{2DD0FF8B-0B34-4C25-989B-B45A101D1256}"/>
              </a:ext>
            </a:extLst>
          </p:cNvPr>
          <p:cNvSpPr>
            <a:spLocks xmlns:a="http://schemas.openxmlformats.org/drawingml/2006/main" noGrp="1"/>
          </p:cNvSpPr>
          <p:nvPr/>
        </p:nvSpPr>
        <p:spPr>
          <a:xfrm xmlns:a="http://schemas.openxmlformats.org/drawingml/2006/main">
            <a:off x="457200" y="58102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2A9D3F"/>
                </a:solidFill>
                <a:latin typeface="Arial"/>
                <a:ea typeface="Arial"/>
                <a:cs typeface="Arial"/>
              </a:defRPr>
            </a:pPr>
            <a:r>
              <a:rPr sz="1650" b="1">
                <a:solidFill>
                  <a:srgbClr val="2A9D3F"/>
                </a:solidFill>
                <a:latin typeface="Arial"/>
                <a:ea typeface="Arial"/>
                <a:cs typeface="Arial"/>
              </a:rPr>
              <a:t>Validation -&gt; test: -0.06 points</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1e694a4707334e38"/>
          <a:stretch xmlns:a="http://schemas.openxmlformats.org/drawingml/2006/main"/>
        </p:blipFill>
        <p:spPr>
          <a:xfrm xmlns:a="http://schemas.openxmlformats.org/drawingml/2006/main">
            <a:off x="5766681" y="1285875"/>
            <a:ext cx="5706889" cy="5048250"/>
          </a:xfrm>
          <a:prstGeom xmlns:a="http://schemas.openxmlformats.org/drawingml/2006/main" prst="rect">
            <a:avLst/>
          </a:prstGeom>
        </p:spPr>
      </p:pic>
    </p:spTree>
    <p:extLst>
      <p:ext uri="{BB962C8B-B14F-4D97-AF65-F5344CB8AC3E}">
        <p14:creationId xmlns:p14="http://schemas.microsoft.com/office/powerpoint/2010/main" val="93610586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66E00D3-E8D8-4225-B3AC-3B35830406FD}"/>
              </a:ext>
            </a:extLst>
          </p:cNvPr>
          <p:cNvSpPr>
            <a:spLocks xmlns:a="http://schemas.openxmlformats.org/drawingml/2006/main" noGrp="1"/>
          </p:cNvSpPr>
          <p:nvPr/>
        </p:nvSpPr>
        <p:spPr>
          <a:xfrm xmlns:a="http://schemas.openxmlformats.org/drawingml/2006/main">
            <a:off x="457200" y="23812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59616B"/>
                </a:solidFill>
                <a:latin typeface="Arial"/>
                <a:ea typeface="Arial"/>
                <a:cs typeface="Arial"/>
              </a:defRPr>
            </a:pPr>
            <a:r>
              <a:rPr sz="1200" b="1">
                <a:solidFill>
                  <a:srgbClr val="59616B"/>
                </a:solidFill>
                <a:latin typeface="Arial"/>
                <a:ea typeface="Arial"/>
                <a:cs typeface="Arial"/>
              </a:rPr>
              <a:t>SPEECH COMMANDS</a:t>
            </a:r>
          </a:p>
        </p:txBody>
      </p:sp>
      <p:sp>
        <p:nvSpPr>
          <p:cNvPr id="2" name="slide-13-title">
            <a:extLst xmlns:a="http://schemas.openxmlformats.org/drawingml/2006/main">
              <a:ext uri="{FF2B5EF4-FFF2-40B4-BE49-F238E27FC236}">
                <a16:creationId xmlns:a16="http://schemas.microsoft.com/office/drawing/2014/main" id="{3CE0901C-87F7-4DDE-811A-56F43F8A7DE3}"/>
              </a:ext>
            </a:extLst>
          </p:cNvPr>
          <p:cNvSpPr>
            <a:spLocks xmlns:a="http://schemas.openxmlformats.org/drawingml/2006/main" noGrp="1"/>
          </p:cNvSpPr>
          <p:nvPr/>
        </p:nvSpPr>
        <p:spPr>
          <a:xfrm xmlns:a="http://schemas.openxmlformats.org/drawingml/2006/main">
            <a:off x="457200" y="5143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000000"/>
                </a:solidFill>
                <a:latin typeface="Arial"/>
                <a:ea typeface="Arial"/>
                <a:cs typeface="Arial"/>
              </a:defRPr>
            </a:pPr>
            <a:r>
              <a:rPr sz="3600" b="1">
                <a:solidFill>
                  <a:srgbClr val="000000"/>
                </a:solidFill>
                <a:latin typeface="Arial"/>
                <a:ea typeface="Arial"/>
                <a:cs typeface="Arial"/>
              </a:rPr>
              <a:t>Noise remains the main failure axis</a:t>
            </a:r>
          </a:p>
        </p:txBody>
      </p:sp>
      <p:sp>
        <p:nvSpPr>
          <p:cNvPr id="3" name="">
            <a:extLst xmlns:a="http://schemas.openxmlformats.org/drawingml/2006/main">
              <a:ext uri="{FF2B5EF4-FFF2-40B4-BE49-F238E27FC236}">
                <a16:creationId xmlns:a16="http://schemas.microsoft.com/office/drawing/2014/main" id="{FFA61490-F115-42CE-AF54-1F2EB1177575}"/>
              </a:ext>
            </a:extLst>
          </p:cNvPr>
          <p:cNvSpPr>
            <a:spLocks xmlns:a="http://schemas.openxmlformats.org/drawingml/2006/main" noGrp="1"/>
          </p:cNvSpPr>
          <p:nvPr/>
        </p:nvSpPr>
        <p:spPr>
          <a:xfrm xmlns:a="http://schemas.openxmlformats.org/drawingml/2006/main">
            <a:off x="1123950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59616B"/>
                </a:solidFill>
                <a:latin typeface="Arial"/>
                <a:ea typeface="Arial"/>
                <a:cs typeface="Arial"/>
              </a:defRPr>
            </a:pPr>
            <a:r>
              <a:rPr sz="1050" b="0">
                <a:solidFill>
                  <a:srgbClr val="59616B"/>
                </a:solidFill>
                <a:latin typeface="Arial"/>
                <a:ea typeface="Arial"/>
                <a:cs typeface="Arial"/>
              </a:rPr>
              <a:t>13</a:t>
            </a:r>
          </a:p>
        </p:txBody>
      </p:sp>
      <p:graphicFrame>
        <p:nvGraphicFramePr>
          <p:cNvPr id="21" name="Chart"/>
          <p:cNvGraphicFramePr/>
          <p:nvPr/>
        </p:nvGraphicFramePr>
        <p:xfrm>
          <a:off xmlns:a="http://schemas.openxmlformats.org/drawingml/2006/main" x="457200" y="1524000"/>
          <a:ext xmlns:a="http://schemas.openxmlformats.org/drawingml/2006/main" cx="6096000" cy="4095750"/>
        </p:xfrm>
        <a:graphic xmlns:a="http://schemas.openxmlformats.org/drawingml/2006/main">
          <a:graphicData uri="http://schemas.openxmlformats.org/drawingml/2006/chart">
            <c:chart xmlns:r="http://schemas.openxmlformats.org/officeDocument/2006/relationships" xmlns:c="http://schemas.openxmlformats.org/drawingml/2006/chart" r:id="R831ec2ee9ba24863"/>
          </a:graphicData>
        </a:graphic>
      </p:graphicFrame>
      <p:sp>
        <p:nvSpPr>
          <p:cNvPr id="5" name="">
            <a:extLst xmlns:a="http://schemas.openxmlformats.org/drawingml/2006/main">
              <a:ext uri="{FF2B5EF4-FFF2-40B4-BE49-F238E27FC236}">
                <a16:creationId xmlns:a16="http://schemas.microsoft.com/office/drawing/2014/main" id="{318C4D07-7ECC-4B10-A548-522A83627716}"/>
              </a:ext>
            </a:extLst>
          </p:cNvPr>
          <p:cNvSpPr>
            <a:spLocks xmlns:a="http://schemas.openxmlformats.org/drawingml/2006/main" noGrp="1"/>
          </p:cNvSpPr>
          <p:nvPr/>
        </p:nvSpPr>
        <p:spPr>
          <a:xfrm xmlns:a="http://schemas.openxmlformats.org/drawingml/2006/main">
            <a:off x="1714500" y="1714500"/>
            <a:ext cx="61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000000"/>
                </a:solidFill>
                <a:latin typeface="Arial"/>
                <a:ea typeface="Arial"/>
                <a:cs typeface="Arial"/>
              </a:defRPr>
            </a:pPr>
            <a:r>
              <a:rPr sz="1500" b="1">
                <a:solidFill>
                  <a:srgbClr val="000000"/>
                </a:solidFill>
                <a:latin typeface="Arial"/>
                <a:ea typeface="Arial"/>
                <a:cs typeface="Arial"/>
              </a:rPr>
              <a:t>0.94</a:t>
            </a:r>
          </a:p>
        </p:txBody>
      </p:sp>
      <p:sp>
        <p:nvSpPr>
          <p:cNvPr id="6" name="">
            <a:extLst xmlns:a="http://schemas.openxmlformats.org/drawingml/2006/main">
              <a:ext uri="{FF2B5EF4-FFF2-40B4-BE49-F238E27FC236}">
                <a16:creationId xmlns:a16="http://schemas.microsoft.com/office/drawing/2014/main" id="{3C08F6A3-DC5C-46DE-A979-8D45ECBB5A35}"/>
              </a:ext>
            </a:extLst>
          </p:cNvPr>
          <p:cNvSpPr>
            <a:spLocks xmlns:a="http://schemas.openxmlformats.org/drawingml/2006/main" noGrp="1"/>
          </p:cNvSpPr>
          <p:nvPr/>
        </p:nvSpPr>
        <p:spPr>
          <a:xfrm xmlns:a="http://schemas.openxmlformats.org/drawingml/2006/main">
            <a:off x="3095625" y="1952625"/>
            <a:ext cx="61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000000"/>
                </a:solidFill>
                <a:latin typeface="Arial"/>
                <a:ea typeface="Arial"/>
                <a:cs typeface="Arial"/>
              </a:defRPr>
            </a:pPr>
            <a:r>
              <a:rPr sz="1500" b="1">
                <a:solidFill>
                  <a:srgbClr val="000000"/>
                </a:solidFill>
                <a:latin typeface="Arial"/>
                <a:ea typeface="Arial"/>
                <a:cs typeface="Arial"/>
              </a:rPr>
              <a:t>0.93</a:t>
            </a:r>
          </a:p>
        </p:txBody>
      </p:sp>
      <p:sp>
        <p:nvSpPr>
          <p:cNvPr id="7" name="">
            <a:extLst xmlns:a="http://schemas.openxmlformats.org/drawingml/2006/main">
              <a:ext uri="{FF2B5EF4-FFF2-40B4-BE49-F238E27FC236}">
                <a16:creationId xmlns:a16="http://schemas.microsoft.com/office/drawing/2014/main" id="{19045064-E5A4-429E-B79C-7EE356F60CAB}"/>
              </a:ext>
            </a:extLst>
          </p:cNvPr>
          <p:cNvSpPr>
            <a:spLocks xmlns:a="http://schemas.openxmlformats.org/drawingml/2006/main" noGrp="1"/>
          </p:cNvSpPr>
          <p:nvPr/>
        </p:nvSpPr>
        <p:spPr>
          <a:xfrm xmlns:a="http://schemas.openxmlformats.org/drawingml/2006/main">
            <a:off x="4429125" y="2286000"/>
            <a:ext cx="61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000000"/>
                </a:solidFill>
                <a:latin typeface="Arial"/>
                <a:ea typeface="Arial"/>
                <a:cs typeface="Arial"/>
              </a:defRPr>
            </a:pPr>
            <a:r>
              <a:rPr sz="1500" b="1">
                <a:solidFill>
                  <a:srgbClr val="000000"/>
                </a:solidFill>
                <a:latin typeface="Arial"/>
                <a:ea typeface="Arial"/>
                <a:cs typeface="Arial"/>
              </a:rPr>
              <a:t>0.91</a:t>
            </a:r>
          </a:p>
        </p:txBody>
      </p:sp>
      <p:sp>
        <p:nvSpPr>
          <p:cNvPr id="8" name="">
            <a:extLst xmlns:a="http://schemas.openxmlformats.org/drawingml/2006/main">
              <a:ext uri="{FF2B5EF4-FFF2-40B4-BE49-F238E27FC236}">
                <a16:creationId xmlns:a16="http://schemas.microsoft.com/office/drawing/2014/main" id="{F167DCAD-98CA-49C5-BC42-261BE5F9BC81}"/>
              </a:ext>
            </a:extLst>
          </p:cNvPr>
          <p:cNvSpPr>
            <a:spLocks xmlns:a="http://schemas.openxmlformats.org/drawingml/2006/main" noGrp="1"/>
          </p:cNvSpPr>
          <p:nvPr/>
        </p:nvSpPr>
        <p:spPr>
          <a:xfrm xmlns:a="http://schemas.openxmlformats.org/drawingml/2006/main">
            <a:off x="5715000" y="3762375"/>
            <a:ext cx="61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000000"/>
                </a:solidFill>
                <a:latin typeface="Arial"/>
                <a:ea typeface="Arial"/>
                <a:cs typeface="Arial"/>
              </a:defRPr>
            </a:pPr>
            <a:r>
              <a:rPr sz="1500" b="1">
                <a:solidFill>
                  <a:srgbClr val="000000"/>
                </a:solidFill>
                <a:latin typeface="Arial"/>
                <a:ea typeface="Arial"/>
                <a:cs typeface="Arial"/>
              </a:rPr>
              <a:t>0.81</a:t>
            </a:r>
          </a:p>
        </p:txBody>
      </p:sp>
      <p:sp>
        <p:nvSpPr>
          <p:cNvPr id="9" name="">
            <a:extLst xmlns:a="http://schemas.openxmlformats.org/drawingml/2006/main">
              <a:ext uri="{FF2B5EF4-FFF2-40B4-BE49-F238E27FC236}">
                <a16:creationId xmlns:a16="http://schemas.microsoft.com/office/drawing/2014/main" id="{210C4813-9B4D-4657-A4D9-9D3D64AE0E05}"/>
              </a:ext>
            </a:extLst>
          </p:cNvPr>
          <p:cNvSpPr>
            <a:spLocks xmlns:a="http://schemas.openxmlformats.org/drawingml/2006/main" noGrp="1"/>
          </p:cNvSpPr>
          <p:nvPr/>
        </p:nvSpPr>
        <p:spPr>
          <a:xfrm xmlns:a="http://schemas.openxmlformats.org/drawingml/2006/main">
            <a:off x="7048500" y="1476375"/>
            <a:ext cx="4191000" cy="1809750"/>
          </a:xfrm>
          <a:prstGeom xmlns:a="http://schemas.openxmlformats.org/drawingml/2006/main" prst="rect">
            <a:avLst/>
          </a:prstGeom>
          <a:solidFill xmlns:a="http://schemas.openxmlformats.org/drawingml/2006/main">
            <a:srgbClr val="F2F2F2"/>
          </a:solidFill>
          <a:ln xmlns:a="http://schemas.openxmlformats.org/drawingml/2006/main" w="0">
            <a:solidFill>
              <a:srgbClr val="F2F2F2"/>
            </a:solidFill>
            <a:prstDash val="solid"/>
          </a:ln>
        </p:spPr>
      </p:sp>
      <p:sp>
        <p:nvSpPr>
          <p:cNvPr id="10" name="">
            <a:extLst xmlns:a="http://schemas.openxmlformats.org/drawingml/2006/main">
              <a:ext uri="{FF2B5EF4-FFF2-40B4-BE49-F238E27FC236}">
                <a16:creationId xmlns:a16="http://schemas.microsoft.com/office/drawing/2014/main" id="{A983B76C-FE3F-499A-BD72-9C82727BAD3F}"/>
              </a:ext>
            </a:extLst>
          </p:cNvPr>
          <p:cNvSpPr>
            <a:spLocks xmlns:a="http://schemas.openxmlformats.org/drawingml/2006/main" noGrp="1"/>
          </p:cNvSpPr>
          <p:nvPr/>
        </p:nvSpPr>
        <p:spPr>
          <a:xfrm xmlns:a="http://schemas.openxmlformats.org/drawingml/2006/main">
            <a:off x="7048500" y="1476375"/>
            <a:ext cx="4191000" cy="0"/>
          </a:xfrm>
          <a:prstGeom xmlns:a="http://schemas.openxmlformats.org/drawingml/2006/main" prst="line">
            <a:avLst/>
          </a:prstGeom>
          <a:noFill xmlns:a="http://schemas.openxmlformats.org/drawingml/2006/main"/>
          <a:ln xmlns:a="http://schemas.openxmlformats.org/drawingml/2006/main" w="66675">
            <a:solidFill>
              <a:srgbClr val="7B2CBF"/>
            </a:solidFill>
            <a:prstDash val="solid"/>
          </a:ln>
        </p:spPr>
      </p:sp>
      <p:sp>
        <p:nvSpPr>
          <p:cNvPr id="11" name="">
            <a:extLst xmlns:a="http://schemas.openxmlformats.org/drawingml/2006/main">
              <a:ext uri="{FF2B5EF4-FFF2-40B4-BE49-F238E27FC236}">
                <a16:creationId xmlns:a16="http://schemas.microsoft.com/office/drawing/2014/main" id="{5F83185C-67E1-4A46-B75F-56150559EDE7}"/>
              </a:ext>
            </a:extLst>
          </p:cNvPr>
          <p:cNvSpPr>
            <a:spLocks xmlns:a="http://schemas.openxmlformats.org/drawingml/2006/main" noGrp="1"/>
          </p:cNvSpPr>
          <p:nvPr/>
        </p:nvSpPr>
        <p:spPr>
          <a:xfrm xmlns:a="http://schemas.openxmlformats.org/drawingml/2006/main">
            <a:off x="7277100" y="1781175"/>
            <a:ext cx="3733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900" b="1">
                <a:solidFill>
                  <a:srgbClr val="000000"/>
                </a:solidFill>
                <a:latin typeface="Arial"/>
                <a:ea typeface="Arial"/>
                <a:cs typeface="Arial"/>
              </a:defRPr>
            </a:pPr>
            <a:r>
              <a:rPr sz="3900" b="1">
                <a:solidFill>
                  <a:srgbClr val="000000"/>
                </a:solidFill>
                <a:latin typeface="Arial"/>
                <a:ea typeface="Arial"/>
                <a:cs typeface="Arial"/>
              </a:rPr>
              <a:t>0.0198</a:t>
            </a:r>
          </a:p>
        </p:txBody>
      </p:sp>
      <p:sp>
        <p:nvSpPr>
          <p:cNvPr id="12" name="">
            <a:extLst xmlns:a="http://schemas.openxmlformats.org/drawingml/2006/main">
              <a:ext uri="{FF2B5EF4-FFF2-40B4-BE49-F238E27FC236}">
                <a16:creationId xmlns:a16="http://schemas.microsoft.com/office/drawing/2014/main" id="{9078E7C6-F7CE-4627-B952-211B3D36945F}"/>
              </a:ext>
            </a:extLst>
          </p:cNvPr>
          <p:cNvSpPr>
            <a:spLocks xmlns:a="http://schemas.openxmlformats.org/drawingml/2006/main" noGrp="1"/>
          </p:cNvSpPr>
          <p:nvPr/>
        </p:nvSpPr>
        <p:spPr>
          <a:xfrm xmlns:a="http://schemas.openxmlformats.org/drawingml/2006/main">
            <a:off x="7277100" y="2543175"/>
            <a:ext cx="3733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9616B"/>
                </a:solidFill>
                <a:latin typeface="Arial"/>
                <a:ea typeface="Arial"/>
                <a:cs typeface="Arial"/>
              </a:defRPr>
            </a:pPr>
            <a:r>
              <a:rPr sz="1650" b="0">
                <a:solidFill>
                  <a:srgbClr val="59616B"/>
                </a:solidFill>
                <a:latin typeface="Arial"/>
                <a:ea typeface="Arial"/>
                <a:cs typeface="Arial"/>
              </a:rPr>
              <a:t>expected calibration error</a:t>
            </a:r>
          </a:p>
        </p:txBody>
      </p:sp>
      <p:sp>
        <p:nvSpPr>
          <p:cNvPr id="13" name="">
            <a:extLst xmlns:a="http://schemas.openxmlformats.org/drawingml/2006/main">
              <a:ext uri="{FF2B5EF4-FFF2-40B4-BE49-F238E27FC236}">
                <a16:creationId xmlns:a16="http://schemas.microsoft.com/office/drawing/2014/main" id="{E94D57DA-A938-4F82-9C24-A8917D5C0D49}"/>
              </a:ext>
            </a:extLst>
          </p:cNvPr>
          <p:cNvSpPr>
            <a:spLocks xmlns:a="http://schemas.openxmlformats.org/drawingml/2006/main" noGrp="1"/>
          </p:cNvSpPr>
          <p:nvPr/>
        </p:nvSpPr>
        <p:spPr>
          <a:xfrm xmlns:a="http://schemas.openxmlformats.org/drawingml/2006/main">
            <a:off x="7048500" y="3476625"/>
            <a:ext cx="4191000" cy="1809750"/>
          </a:xfrm>
          <a:prstGeom xmlns:a="http://schemas.openxmlformats.org/drawingml/2006/main" prst="rect">
            <a:avLst/>
          </a:prstGeom>
          <a:solidFill xmlns:a="http://schemas.openxmlformats.org/drawingml/2006/main">
            <a:srgbClr val="F2F2F2"/>
          </a:solidFill>
          <a:ln xmlns:a="http://schemas.openxmlformats.org/drawingml/2006/main" w="0">
            <a:solidFill>
              <a:srgbClr val="F2F2F2"/>
            </a:solidFill>
            <a:prstDash val="solid"/>
          </a:ln>
        </p:spPr>
      </p:sp>
      <p:sp>
        <p:nvSpPr>
          <p:cNvPr id="14" name="">
            <a:extLst xmlns:a="http://schemas.openxmlformats.org/drawingml/2006/main">
              <a:ext uri="{FF2B5EF4-FFF2-40B4-BE49-F238E27FC236}">
                <a16:creationId xmlns:a16="http://schemas.microsoft.com/office/drawing/2014/main" id="{CA272344-F24B-44F2-87FC-2ADEC4E7BAC5}"/>
              </a:ext>
            </a:extLst>
          </p:cNvPr>
          <p:cNvSpPr>
            <a:spLocks xmlns:a="http://schemas.openxmlformats.org/drawingml/2006/main" noGrp="1"/>
          </p:cNvSpPr>
          <p:nvPr/>
        </p:nvSpPr>
        <p:spPr>
          <a:xfrm xmlns:a="http://schemas.openxmlformats.org/drawingml/2006/main">
            <a:off x="7048500" y="3476625"/>
            <a:ext cx="4191000" cy="0"/>
          </a:xfrm>
          <a:prstGeom xmlns:a="http://schemas.openxmlformats.org/drawingml/2006/main" prst="line">
            <a:avLst/>
          </a:prstGeom>
          <a:noFill xmlns:a="http://schemas.openxmlformats.org/drawingml/2006/main"/>
          <a:ln xmlns:a="http://schemas.openxmlformats.org/drawingml/2006/main" w="66675">
            <a:solidFill>
              <a:srgbClr val="3D8DFF"/>
            </a:solidFill>
            <a:prstDash val="solid"/>
          </a:ln>
        </p:spPr>
      </p:sp>
      <p:sp>
        <p:nvSpPr>
          <p:cNvPr id="15" name="">
            <a:extLst xmlns:a="http://schemas.openxmlformats.org/drawingml/2006/main">
              <a:ext uri="{FF2B5EF4-FFF2-40B4-BE49-F238E27FC236}">
                <a16:creationId xmlns:a16="http://schemas.microsoft.com/office/drawing/2014/main" id="{DDC466D8-3FBB-4570-962C-540B918A8640}"/>
              </a:ext>
            </a:extLst>
          </p:cNvPr>
          <p:cNvSpPr>
            <a:spLocks xmlns:a="http://schemas.openxmlformats.org/drawingml/2006/main" noGrp="1"/>
          </p:cNvSpPr>
          <p:nvPr/>
        </p:nvSpPr>
        <p:spPr>
          <a:xfrm xmlns:a="http://schemas.openxmlformats.org/drawingml/2006/main">
            <a:off x="7277100" y="3781425"/>
            <a:ext cx="3733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900" b="1">
                <a:solidFill>
                  <a:srgbClr val="000000"/>
                </a:solidFill>
                <a:latin typeface="Arial"/>
                <a:ea typeface="Arial"/>
                <a:cs typeface="Arial"/>
              </a:defRPr>
            </a:pPr>
            <a:r>
              <a:rPr sz="3900" b="1">
                <a:solidFill>
                  <a:srgbClr val="000000"/>
                </a:solidFill>
                <a:latin typeface="Arial"/>
                <a:ea typeface="Arial"/>
                <a:cs typeface="Arial"/>
              </a:rPr>
              <a:t>3.41 ms</a:t>
            </a:r>
          </a:p>
        </p:txBody>
      </p:sp>
      <p:sp>
        <p:nvSpPr>
          <p:cNvPr id="16" name="">
            <a:extLst xmlns:a="http://schemas.openxmlformats.org/drawingml/2006/main">
              <a:ext uri="{FF2B5EF4-FFF2-40B4-BE49-F238E27FC236}">
                <a16:creationId xmlns:a16="http://schemas.microsoft.com/office/drawing/2014/main" id="{F99292DF-EBDF-4A0A-8DC4-35090FB498C2}"/>
              </a:ext>
            </a:extLst>
          </p:cNvPr>
          <p:cNvSpPr>
            <a:spLocks xmlns:a="http://schemas.openxmlformats.org/drawingml/2006/main" noGrp="1"/>
          </p:cNvSpPr>
          <p:nvPr/>
        </p:nvSpPr>
        <p:spPr>
          <a:xfrm xmlns:a="http://schemas.openxmlformats.org/drawingml/2006/main">
            <a:off x="7277100" y="4543425"/>
            <a:ext cx="3733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9616B"/>
                </a:solidFill>
                <a:latin typeface="Arial"/>
                <a:ea typeface="Arial"/>
                <a:cs typeface="Arial"/>
              </a:defRPr>
            </a:pPr>
            <a:r>
              <a:rPr sz="1650" b="0">
                <a:solidFill>
                  <a:srgbClr val="59616B"/>
                </a:solidFill>
                <a:latin typeface="Arial"/>
                <a:ea typeface="Arial"/>
                <a:cs typeface="Arial"/>
              </a:rPr>
              <a:t>median CPU end-to-end latency</a:t>
            </a:r>
          </a:p>
        </p:txBody>
      </p:sp>
      <p:sp>
        <p:nvSpPr>
          <p:cNvPr id="17" name="">
            <a:extLst xmlns:a="http://schemas.openxmlformats.org/drawingml/2006/main">
              <a:ext uri="{FF2B5EF4-FFF2-40B4-BE49-F238E27FC236}">
                <a16:creationId xmlns:a16="http://schemas.microsoft.com/office/drawing/2014/main" id="{267E93FF-D8E0-4835-A97F-16592E0FCC47}"/>
              </a:ext>
            </a:extLst>
          </p:cNvPr>
          <p:cNvSpPr>
            <a:spLocks xmlns:a="http://schemas.openxmlformats.org/drawingml/2006/main" noGrp="1"/>
          </p:cNvSpPr>
          <p:nvPr/>
        </p:nvSpPr>
        <p:spPr>
          <a:xfrm xmlns:a="http://schemas.openxmlformats.org/drawingml/2006/main">
            <a:off x="6858000" y="5715000"/>
            <a:ext cx="4667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575" b="1">
                <a:solidFill>
                  <a:srgbClr val="000000"/>
                </a:solidFill>
                <a:latin typeface="Arial"/>
                <a:ea typeface="Arial"/>
                <a:cs typeface="Arial"/>
              </a:defRPr>
            </a:pPr>
            <a:r>
              <a:rPr sz="1575" b="1">
                <a:solidFill>
                  <a:srgbClr val="000000"/>
                </a:solidFill>
                <a:latin typeface="Arial"/>
                <a:ea typeface="Arial"/>
                <a:cs typeface="Arial"/>
              </a:rPr>
              <a:t>3.42 MiB serialized  |  +/-100 ms shift costs at most 0.34 points</a:t>
            </a:r>
          </a:p>
        </p:txBody>
      </p:sp>
    </p:spTree>
    <p:extLst>
      <p:ext uri="{BB962C8B-B14F-4D97-AF65-F5344CB8AC3E}">
        <p14:creationId xmlns:p14="http://schemas.microsoft.com/office/powerpoint/2010/main" val="92112259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6B817B8-1D6C-41DC-BAC0-FC395AD6D27A}"/>
              </a:ext>
            </a:extLst>
          </p:cNvPr>
          <p:cNvSpPr>
            <a:spLocks xmlns:a="http://schemas.openxmlformats.org/drawingml/2006/main" noGrp="1"/>
          </p:cNvSpPr>
          <p:nvPr/>
        </p:nvSpPr>
        <p:spPr>
          <a:xfrm xmlns:a="http://schemas.openxmlformats.org/drawingml/2006/main">
            <a:off x="457200" y="23812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59616B"/>
                </a:solidFill>
                <a:latin typeface="Arial"/>
                <a:ea typeface="Arial"/>
                <a:cs typeface="Arial"/>
              </a:defRPr>
            </a:pPr>
            <a:r>
              <a:rPr sz="1200" b="1">
                <a:solidFill>
                  <a:srgbClr val="59616B"/>
                </a:solidFill>
                <a:latin typeface="Arial"/>
                <a:ea typeface="Arial"/>
                <a:cs typeface="Arial"/>
              </a:rPr>
              <a:t>SPEECH COMMANDS</a:t>
            </a:r>
          </a:p>
        </p:txBody>
      </p:sp>
      <p:sp>
        <p:nvSpPr>
          <p:cNvPr id="2" name="slide-14-title">
            <a:extLst xmlns:a="http://schemas.openxmlformats.org/drawingml/2006/main">
              <a:ext uri="{FF2B5EF4-FFF2-40B4-BE49-F238E27FC236}">
                <a16:creationId xmlns:a16="http://schemas.microsoft.com/office/drawing/2014/main" id="{2C126FD0-808A-410A-8D5F-726A8C7518AA}"/>
              </a:ext>
            </a:extLst>
          </p:cNvPr>
          <p:cNvSpPr>
            <a:spLocks xmlns:a="http://schemas.openxmlformats.org/drawingml/2006/main" noGrp="1"/>
          </p:cNvSpPr>
          <p:nvPr/>
        </p:nvSpPr>
        <p:spPr>
          <a:xfrm xmlns:a="http://schemas.openxmlformats.org/drawingml/2006/main">
            <a:off x="457200" y="5143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000000"/>
                </a:solidFill>
                <a:latin typeface="Arial"/>
                <a:ea typeface="Arial"/>
                <a:cs typeface="Arial"/>
              </a:defRPr>
            </a:pPr>
            <a:r>
              <a:rPr sz="3600" b="1">
                <a:solidFill>
                  <a:srgbClr val="000000"/>
                </a:solidFill>
                <a:latin typeface="Arial"/>
                <a:ea typeface="Arial"/>
                <a:cs typeface="Arial"/>
              </a:rPr>
              <a:t>Rare confident failures survive good calibration</a:t>
            </a:r>
          </a:p>
        </p:txBody>
      </p:sp>
      <p:sp>
        <p:nvSpPr>
          <p:cNvPr id="3" name="">
            <a:extLst xmlns:a="http://schemas.openxmlformats.org/drawingml/2006/main">
              <a:ext uri="{FF2B5EF4-FFF2-40B4-BE49-F238E27FC236}">
                <a16:creationId xmlns:a16="http://schemas.microsoft.com/office/drawing/2014/main" id="{35F907BF-702D-4F49-9737-33EBE012A3F1}"/>
              </a:ext>
            </a:extLst>
          </p:cNvPr>
          <p:cNvSpPr>
            <a:spLocks xmlns:a="http://schemas.openxmlformats.org/drawingml/2006/main" noGrp="1"/>
          </p:cNvSpPr>
          <p:nvPr/>
        </p:nvSpPr>
        <p:spPr>
          <a:xfrm xmlns:a="http://schemas.openxmlformats.org/drawingml/2006/main">
            <a:off x="1123950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59616B"/>
                </a:solidFill>
                <a:latin typeface="Arial"/>
                <a:ea typeface="Arial"/>
                <a:cs typeface="Arial"/>
              </a:defRPr>
            </a:pPr>
            <a:r>
              <a:rPr sz="1050" b="0">
                <a:solidFill>
                  <a:srgbClr val="59616B"/>
                </a:solidFill>
                <a:latin typeface="Arial"/>
                <a:ea typeface="Arial"/>
                <a:cs typeface="Arial"/>
              </a:rPr>
              <a:t>14</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133dcdf5d12045f5"/>
          <a:stretch xmlns:a="http://schemas.openxmlformats.org/drawingml/2006/main"/>
        </p:blipFill>
        <p:spPr>
          <a:xfrm xmlns:a="http://schemas.openxmlformats.org/drawingml/2006/main">
            <a:off x="457200" y="1722973"/>
            <a:ext cx="7477125" cy="2935804"/>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C82B097-8D63-46BF-AC14-5A87406B2737}"/>
              </a:ext>
            </a:extLst>
          </p:cNvPr>
          <p:cNvSpPr>
            <a:spLocks xmlns:a="http://schemas.openxmlformats.org/drawingml/2006/main" noGrp="1"/>
          </p:cNvSpPr>
          <p:nvPr/>
        </p:nvSpPr>
        <p:spPr>
          <a:xfrm xmlns:a="http://schemas.openxmlformats.org/drawingml/2006/main">
            <a:off x="762000" y="5000625"/>
            <a:ext cx="685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000000"/>
                </a:solidFill>
                <a:latin typeface="Arial"/>
                <a:ea typeface="Arial"/>
                <a:cs typeface="Arial"/>
              </a:defRPr>
            </a:pPr>
            <a:r>
              <a:rPr sz="1875" b="1">
                <a:solidFill>
                  <a:srgbClr val="000000"/>
                </a:solidFill>
                <a:latin typeface="Arial"/>
                <a:ea typeface="Arial"/>
                <a:cs typeface="Arial"/>
              </a:rPr>
              <a:t>Every gallery item links to a playable WAV for listening during the defense.</a:t>
            </a:r>
          </a:p>
        </p:txBody>
      </p:sp>
      <p:sp>
        <p:nvSpPr>
          <p:cNvPr id="6" name="">
            <a:extLst xmlns:a="http://schemas.openxmlformats.org/drawingml/2006/main">
              <a:ext uri="{FF2B5EF4-FFF2-40B4-BE49-F238E27FC236}">
                <a16:creationId xmlns:a16="http://schemas.microsoft.com/office/drawing/2014/main" id="{317154DF-26FF-4318-B828-0B1B22F3A7B2}"/>
              </a:ext>
            </a:extLst>
          </p:cNvPr>
          <p:cNvSpPr>
            <a:spLocks xmlns:a="http://schemas.openxmlformats.org/drawingml/2006/main" noGrp="1"/>
          </p:cNvSpPr>
          <p:nvPr/>
        </p:nvSpPr>
        <p:spPr>
          <a:xfrm xmlns:a="http://schemas.openxmlformats.org/drawingml/2006/main">
            <a:off x="8286750" y="1619250"/>
            <a:ext cx="3143250" cy="3905250"/>
          </a:xfrm>
          <a:prstGeom xmlns:a="http://schemas.openxmlformats.org/drawingml/2006/main" prst="rect">
            <a:avLst/>
          </a:prstGeom>
          <a:solidFill xmlns:a="http://schemas.openxmlformats.org/drawingml/2006/main">
            <a:srgbClr val="F2F2F2"/>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EDFD7A08-B1A7-4F45-BC50-8B91077DC758}"/>
              </a:ext>
            </a:extLst>
          </p:cNvPr>
          <p:cNvSpPr>
            <a:spLocks xmlns:a="http://schemas.openxmlformats.org/drawingml/2006/main" noGrp="1"/>
          </p:cNvSpPr>
          <p:nvPr/>
        </p:nvSpPr>
        <p:spPr>
          <a:xfrm xmlns:a="http://schemas.openxmlformats.org/drawingml/2006/main">
            <a:off x="8572500" y="1952625"/>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59616B"/>
                </a:solidFill>
                <a:latin typeface="Arial"/>
                <a:ea typeface="Arial"/>
                <a:cs typeface="Arial"/>
              </a:defRPr>
            </a:pPr>
            <a:r>
              <a:rPr sz="1650" b="1">
                <a:solidFill>
                  <a:srgbClr val="59616B"/>
                </a:solidFill>
                <a:latin typeface="Arial"/>
                <a:ea typeface="Arial"/>
                <a:cs typeface="Arial"/>
              </a:rPr>
              <a:t>Weakest class</a:t>
            </a:r>
          </a:p>
        </p:txBody>
      </p:sp>
      <p:sp>
        <p:nvSpPr>
          <p:cNvPr id="8" name="">
            <a:extLst xmlns:a="http://schemas.openxmlformats.org/drawingml/2006/main">
              <a:ext uri="{FF2B5EF4-FFF2-40B4-BE49-F238E27FC236}">
                <a16:creationId xmlns:a16="http://schemas.microsoft.com/office/drawing/2014/main" id="{B401331C-E8F2-4C86-9D49-130452804400}"/>
              </a:ext>
            </a:extLst>
          </p:cNvPr>
          <p:cNvSpPr>
            <a:spLocks xmlns:a="http://schemas.openxmlformats.org/drawingml/2006/main" noGrp="1"/>
          </p:cNvSpPr>
          <p:nvPr/>
        </p:nvSpPr>
        <p:spPr>
          <a:xfrm xmlns:a="http://schemas.openxmlformats.org/drawingml/2006/main">
            <a:off x="8572500" y="2333625"/>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000000"/>
                </a:solidFill>
                <a:latin typeface="Arial"/>
                <a:ea typeface="Arial"/>
                <a:cs typeface="Arial"/>
              </a:defRPr>
            </a:pPr>
            <a:r>
              <a:rPr sz="2175" b="1">
                <a:solidFill>
                  <a:srgbClr val="000000"/>
                </a:solidFill>
                <a:latin typeface="Arial"/>
                <a:ea typeface="Arial"/>
                <a:cs typeface="Arial"/>
              </a:rPr>
              <a:t>unknown  F1 = 0.854</a:t>
            </a:r>
          </a:p>
        </p:txBody>
      </p:sp>
      <p:sp>
        <p:nvSpPr>
          <p:cNvPr id="9" name="">
            <a:extLst xmlns:a="http://schemas.openxmlformats.org/drawingml/2006/main">
              <a:ext uri="{FF2B5EF4-FFF2-40B4-BE49-F238E27FC236}">
                <a16:creationId xmlns:a16="http://schemas.microsoft.com/office/drawing/2014/main" id="{498DE47A-F379-413D-9363-75E772BD7655}"/>
              </a:ext>
            </a:extLst>
          </p:cNvPr>
          <p:cNvSpPr>
            <a:spLocks xmlns:a="http://schemas.openxmlformats.org/drawingml/2006/main" noGrp="1"/>
          </p:cNvSpPr>
          <p:nvPr/>
        </p:nvSpPr>
        <p:spPr>
          <a:xfrm xmlns:a="http://schemas.openxmlformats.org/drawingml/2006/main">
            <a:off x="8572500" y="3095625"/>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59616B"/>
                </a:solidFill>
                <a:latin typeface="Arial"/>
                <a:ea typeface="Arial"/>
                <a:cs typeface="Arial"/>
              </a:defRPr>
            </a:pPr>
            <a:r>
              <a:rPr sz="1650" b="1">
                <a:solidFill>
                  <a:srgbClr val="59616B"/>
                </a:solidFill>
                <a:latin typeface="Arial"/>
                <a:ea typeface="Arial"/>
                <a:cs typeface="Arial"/>
              </a:rPr>
              <a:t>Most common error</a:t>
            </a:r>
          </a:p>
        </p:txBody>
      </p:sp>
      <p:sp>
        <p:nvSpPr>
          <p:cNvPr id="10" name="">
            <a:extLst xmlns:a="http://schemas.openxmlformats.org/drawingml/2006/main">
              <a:ext uri="{FF2B5EF4-FFF2-40B4-BE49-F238E27FC236}">
                <a16:creationId xmlns:a16="http://schemas.microsoft.com/office/drawing/2014/main" id="{F781EA84-9F9D-4266-981C-0E4B5D0E678D}"/>
              </a:ext>
            </a:extLst>
          </p:cNvPr>
          <p:cNvSpPr>
            <a:spLocks xmlns:a="http://schemas.openxmlformats.org/drawingml/2006/main" noGrp="1"/>
          </p:cNvSpPr>
          <p:nvPr/>
        </p:nvSpPr>
        <p:spPr>
          <a:xfrm xmlns:a="http://schemas.openxmlformats.org/drawingml/2006/main">
            <a:off x="8572500" y="3476625"/>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000000"/>
                </a:solidFill>
                <a:latin typeface="Arial"/>
                <a:ea typeface="Arial"/>
                <a:cs typeface="Arial"/>
              </a:defRPr>
            </a:pPr>
            <a:r>
              <a:rPr sz="2100" b="1">
                <a:solidFill>
                  <a:srgbClr val="000000"/>
                </a:solidFill>
                <a:latin typeface="Arial"/>
                <a:ea typeface="Arial"/>
                <a:cs typeface="Arial"/>
              </a:rPr>
              <a:t>down -&gt; no  (14 clips)</a:t>
            </a:r>
          </a:p>
        </p:txBody>
      </p:sp>
      <p:sp>
        <p:nvSpPr>
          <p:cNvPr id="11" name="">
            <a:extLst xmlns:a="http://schemas.openxmlformats.org/drawingml/2006/main">
              <a:ext uri="{FF2B5EF4-FFF2-40B4-BE49-F238E27FC236}">
                <a16:creationId xmlns:a16="http://schemas.microsoft.com/office/drawing/2014/main" id="{5E2D7775-34C7-45FF-85D6-D4AC7BCF1C35}"/>
              </a:ext>
            </a:extLst>
          </p:cNvPr>
          <p:cNvSpPr>
            <a:spLocks xmlns:a="http://schemas.openxmlformats.org/drawingml/2006/main" noGrp="1"/>
          </p:cNvSpPr>
          <p:nvPr/>
        </p:nvSpPr>
        <p:spPr>
          <a:xfrm xmlns:a="http://schemas.openxmlformats.org/drawingml/2006/main">
            <a:off x="8572500" y="42862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59616B"/>
                </a:solidFill>
                <a:latin typeface="Arial"/>
                <a:ea typeface="Arial"/>
                <a:cs typeface="Arial"/>
              </a:defRPr>
            </a:pPr>
            <a:r>
              <a:rPr sz="1650" b="1">
                <a:solidFill>
                  <a:srgbClr val="59616B"/>
                </a:solidFill>
                <a:latin typeface="Arial"/>
                <a:ea typeface="Arial"/>
                <a:cs typeface="Arial"/>
              </a:rPr>
              <a:t>6 confident errors</a:t>
            </a:r>
          </a:p>
        </p:txBody>
      </p:sp>
      <p:sp>
        <p:nvSpPr>
          <p:cNvPr id="12" name="">
            <a:extLst xmlns:a="http://schemas.openxmlformats.org/drawingml/2006/main">
              <a:ext uri="{FF2B5EF4-FFF2-40B4-BE49-F238E27FC236}">
                <a16:creationId xmlns:a16="http://schemas.microsoft.com/office/drawing/2014/main" id="{2479BE41-FD32-481E-9131-51F5A2149066}"/>
              </a:ext>
            </a:extLst>
          </p:cNvPr>
          <p:cNvSpPr>
            <a:spLocks xmlns:a="http://schemas.openxmlformats.org/drawingml/2006/main" noGrp="1"/>
          </p:cNvSpPr>
          <p:nvPr/>
        </p:nvSpPr>
        <p:spPr>
          <a:xfrm xmlns:a="http://schemas.openxmlformats.org/drawingml/2006/main">
            <a:off x="8572500" y="4667250"/>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C23B3B"/>
                </a:solidFill>
                <a:latin typeface="Arial"/>
                <a:ea typeface="Arial"/>
                <a:cs typeface="Arial"/>
              </a:defRPr>
            </a:pPr>
            <a:r>
              <a:rPr sz="2025" b="1">
                <a:solidFill>
                  <a:srgbClr val="C23B3B"/>
                </a:solidFill>
                <a:latin typeface="Arial"/>
                <a:ea typeface="Arial"/>
                <a:cs typeface="Arial"/>
              </a:rPr>
              <a:t>all confidence &gt;= 0.998</a:t>
            </a:r>
          </a:p>
        </p:txBody>
      </p:sp>
    </p:spTree>
    <p:extLst>
      <p:ext uri="{BB962C8B-B14F-4D97-AF65-F5344CB8AC3E}">
        <p14:creationId xmlns:p14="http://schemas.microsoft.com/office/powerpoint/2010/main" val="184703202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74A1E69-C6A4-404C-8155-07D5F9C570C3}"/>
              </a:ext>
            </a:extLst>
          </p:cNvPr>
          <p:cNvSpPr>
            <a:spLocks xmlns:a="http://schemas.openxmlformats.org/drawingml/2006/main" noGrp="1"/>
          </p:cNvSpPr>
          <p:nvPr/>
        </p:nvSpPr>
        <p:spPr>
          <a:xfrm xmlns:a="http://schemas.openxmlformats.org/drawingml/2006/main">
            <a:off x="457200" y="333375"/>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59616B"/>
                </a:solidFill>
                <a:latin typeface="Arial"/>
                <a:ea typeface="Arial"/>
                <a:cs typeface="Arial"/>
              </a:defRPr>
            </a:pPr>
            <a:r>
              <a:rPr sz="1350" b="1">
                <a:solidFill>
                  <a:srgbClr val="59616B"/>
                </a:solidFill>
                <a:latin typeface="Arial"/>
                <a:ea typeface="Arial"/>
                <a:cs typeface="Arial"/>
              </a:rPr>
              <a:t>CONCLUSION</a:t>
            </a:r>
          </a:p>
        </p:txBody>
      </p:sp>
      <p:sp>
        <p:nvSpPr>
          <p:cNvPr id="2" name="">
            <a:extLst xmlns:a="http://schemas.openxmlformats.org/drawingml/2006/main">
              <a:ext uri="{FF2B5EF4-FFF2-40B4-BE49-F238E27FC236}">
                <a16:creationId xmlns:a16="http://schemas.microsoft.com/office/drawing/2014/main" id="{95B92577-FBFA-4FE9-9436-47BC1D6C6E22}"/>
              </a:ext>
            </a:extLst>
          </p:cNvPr>
          <p:cNvSpPr>
            <a:spLocks xmlns:a="http://schemas.openxmlformats.org/drawingml/2006/main" noGrp="1"/>
          </p:cNvSpPr>
          <p:nvPr/>
        </p:nvSpPr>
        <p:spPr>
          <a:xfrm xmlns:a="http://schemas.openxmlformats.org/drawingml/2006/main">
            <a:off x="457200" y="8572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050" b="1">
                <a:solidFill>
                  <a:srgbClr val="000000"/>
                </a:solidFill>
                <a:latin typeface="Arial"/>
                <a:ea typeface="Arial"/>
                <a:cs typeface="Arial"/>
              </a:defRPr>
            </a:pPr>
            <a:r>
              <a:rPr sz="4050" b="1">
                <a:solidFill>
                  <a:srgbClr val="000000"/>
                </a:solidFill>
                <a:latin typeface="Arial"/>
                <a:ea typeface="Arial"/>
                <a:cs typeface="Arial"/>
              </a:rPr>
              <a:t>Protocol matters as much as architecture</a:t>
            </a:r>
          </a:p>
        </p:txBody>
      </p:sp>
      <p:sp>
        <p:nvSpPr>
          <p:cNvPr id="3" name="">
            <a:extLst xmlns:a="http://schemas.openxmlformats.org/drawingml/2006/main">
              <a:ext uri="{FF2B5EF4-FFF2-40B4-BE49-F238E27FC236}">
                <a16:creationId xmlns:a16="http://schemas.microsoft.com/office/drawing/2014/main" id="{6B429AED-5CCB-4E02-9A36-1BA619711768}"/>
              </a:ext>
            </a:extLst>
          </p:cNvPr>
          <p:cNvSpPr>
            <a:spLocks xmlns:a="http://schemas.openxmlformats.org/drawingml/2006/main" noGrp="1"/>
          </p:cNvSpPr>
          <p:nvPr/>
        </p:nvSpPr>
        <p:spPr>
          <a:xfrm xmlns:a="http://schemas.openxmlformats.org/drawingml/2006/main">
            <a:off x="457200" y="2190750"/>
            <a:ext cx="66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8F27DF9F-7AAE-4067-922A-C19488711779}"/>
              </a:ext>
            </a:extLst>
          </p:cNvPr>
          <p:cNvSpPr>
            <a:spLocks xmlns:a="http://schemas.openxmlformats.org/drawingml/2006/main" noGrp="1"/>
          </p:cNvSpPr>
          <p:nvPr/>
        </p:nvSpPr>
        <p:spPr>
          <a:xfrm xmlns:a="http://schemas.openxmlformats.org/drawingml/2006/main">
            <a:off x="1381125" y="217170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000000"/>
                </a:solidFill>
                <a:latin typeface="Arial"/>
                <a:ea typeface="Arial"/>
                <a:cs typeface="Arial"/>
              </a:defRPr>
            </a:pPr>
            <a:r>
              <a:rPr sz="2100" b="1">
                <a:solidFill>
                  <a:srgbClr val="000000"/>
                </a:solidFill>
                <a:latin typeface="Arial"/>
                <a:ea typeface="Arial"/>
                <a:cs typeface="Arial"/>
              </a:rPr>
              <a:t>Structure</a:t>
            </a:r>
          </a:p>
        </p:txBody>
      </p:sp>
      <p:sp>
        <p:nvSpPr>
          <p:cNvPr id="5" name="">
            <a:extLst xmlns:a="http://schemas.openxmlformats.org/drawingml/2006/main">
              <a:ext uri="{FF2B5EF4-FFF2-40B4-BE49-F238E27FC236}">
                <a16:creationId xmlns:a16="http://schemas.microsoft.com/office/drawing/2014/main" id="{0F52652F-06C5-473D-A872-DC9EB56FE331}"/>
              </a:ext>
            </a:extLst>
          </p:cNvPr>
          <p:cNvSpPr>
            <a:spLocks xmlns:a="http://schemas.openxmlformats.org/drawingml/2006/main" noGrp="1"/>
          </p:cNvSpPr>
          <p:nvPr/>
        </p:nvSpPr>
        <p:spPr>
          <a:xfrm xmlns:a="http://schemas.openxmlformats.org/drawingml/2006/main">
            <a:off x="3619500" y="2190750"/>
            <a:ext cx="7620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59616B"/>
                </a:solidFill>
                <a:latin typeface="Arial"/>
                <a:ea typeface="Arial"/>
                <a:cs typeface="Arial"/>
              </a:defRPr>
            </a:pPr>
            <a:r>
              <a:rPr sz="1725" b="0">
                <a:solidFill>
                  <a:srgbClr val="59616B"/>
                </a:solidFill>
                <a:latin typeface="Arial"/>
                <a:ea typeface="Arial"/>
                <a:cs typeface="Arial"/>
              </a:rPr>
              <a:t>Log-Mel convolution plus temporal recurrence reached 0.9421 test macro-F1.</a:t>
            </a:r>
          </a:p>
        </p:txBody>
      </p:sp>
      <p:sp>
        <p:nvSpPr>
          <p:cNvPr id="6" name="">
            <a:extLst xmlns:a="http://schemas.openxmlformats.org/drawingml/2006/main">
              <a:ext uri="{FF2B5EF4-FFF2-40B4-BE49-F238E27FC236}">
                <a16:creationId xmlns:a16="http://schemas.microsoft.com/office/drawing/2014/main" id="{06050FD9-598D-4209-8EE7-2A5EDC8D739C}"/>
              </a:ext>
            </a:extLst>
          </p:cNvPr>
          <p:cNvSpPr>
            <a:spLocks xmlns:a="http://schemas.openxmlformats.org/drawingml/2006/main" noGrp="1"/>
          </p:cNvSpPr>
          <p:nvPr/>
        </p:nvSpPr>
        <p:spPr>
          <a:xfrm xmlns:a="http://schemas.openxmlformats.org/drawingml/2006/main">
            <a:off x="457200" y="2952750"/>
            <a:ext cx="1076325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E79BD166-4C70-45E8-BD9F-92D13CAE8F45}"/>
              </a:ext>
            </a:extLst>
          </p:cNvPr>
          <p:cNvSpPr>
            <a:spLocks xmlns:a="http://schemas.openxmlformats.org/drawingml/2006/main" noGrp="1"/>
          </p:cNvSpPr>
          <p:nvPr/>
        </p:nvSpPr>
        <p:spPr>
          <a:xfrm xmlns:a="http://schemas.openxmlformats.org/drawingml/2006/main">
            <a:off x="457200" y="3381375"/>
            <a:ext cx="66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8ED4C2B7-2B91-445E-BE92-3DABCA2DC789}"/>
              </a:ext>
            </a:extLst>
          </p:cNvPr>
          <p:cNvSpPr>
            <a:spLocks xmlns:a="http://schemas.openxmlformats.org/drawingml/2006/main" noGrp="1"/>
          </p:cNvSpPr>
          <p:nvPr/>
        </p:nvSpPr>
        <p:spPr>
          <a:xfrm xmlns:a="http://schemas.openxmlformats.org/drawingml/2006/main">
            <a:off x="1381125" y="3362325"/>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000000"/>
                </a:solidFill>
                <a:latin typeface="Arial"/>
                <a:ea typeface="Arial"/>
                <a:cs typeface="Arial"/>
              </a:defRPr>
            </a:pPr>
            <a:r>
              <a:rPr sz="2100" b="1">
                <a:solidFill>
                  <a:srgbClr val="000000"/>
                </a:solidFill>
                <a:latin typeface="Arial"/>
                <a:ea typeface="Arial"/>
                <a:cs typeface="Arial"/>
              </a:rPr>
              <a:t>Trade-offs</a:t>
            </a:r>
          </a:p>
        </p:txBody>
      </p:sp>
      <p:sp>
        <p:nvSpPr>
          <p:cNvPr id="9" name="">
            <a:extLst xmlns:a="http://schemas.openxmlformats.org/drawingml/2006/main">
              <a:ext uri="{FF2B5EF4-FFF2-40B4-BE49-F238E27FC236}">
                <a16:creationId xmlns:a16="http://schemas.microsoft.com/office/drawing/2014/main" id="{9ACB62D3-9596-44F4-888D-8FDB3D9DFB80}"/>
              </a:ext>
            </a:extLst>
          </p:cNvPr>
          <p:cNvSpPr>
            <a:spLocks xmlns:a="http://schemas.openxmlformats.org/drawingml/2006/main" noGrp="1"/>
          </p:cNvSpPr>
          <p:nvPr/>
        </p:nvSpPr>
        <p:spPr>
          <a:xfrm xmlns:a="http://schemas.openxmlformats.org/drawingml/2006/main">
            <a:off x="3619500" y="3381375"/>
            <a:ext cx="7620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59616B"/>
                </a:solidFill>
                <a:latin typeface="Arial"/>
                <a:ea typeface="Arial"/>
                <a:cs typeface="Arial"/>
              </a:defRPr>
            </a:pPr>
            <a:r>
              <a:rPr sz="1725" b="0">
                <a:solidFill>
                  <a:srgbClr val="59616B"/>
                </a:solidFill>
                <a:latin typeface="Arial"/>
                <a:ea typeface="Arial"/>
                <a:cs typeface="Arial"/>
              </a:rPr>
              <a:t>A 46.9k-parameter DS-CNN remains compelling when footprint matters.</a:t>
            </a:r>
          </a:p>
        </p:txBody>
      </p:sp>
      <p:sp>
        <p:nvSpPr>
          <p:cNvPr id="10" name="">
            <a:extLst xmlns:a="http://schemas.openxmlformats.org/drawingml/2006/main">
              <a:ext uri="{FF2B5EF4-FFF2-40B4-BE49-F238E27FC236}">
                <a16:creationId xmlns:a16="http://schemas.microsoft.com/office/drawing/2014/main" id="{632B3EE6-01A2-47D1-926C-F6BBA4E1F79A}"/>
              </a:ext>
            </a:extLst>
          </p:cNvPr>
          <p:cNvSpPr>
            <a:spLocks xmlns:a="http://schemas.openxmlformats.org/drawingml/2006/main" noGrp="1"/>
          </p:cNvSpPr>
          <p:nvPr/>
        </p:nvSpPr>
        <p:spPr>
          <a:xfrm xmlns:a="http://schemas.openxmlformats.org/drawingml/2006/main">
            <a:off x="457200" y="4143375"/>
            <a:ext cx="1076325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11" name="">
            <a:extLst xmlns:a="http://schemas.openxmlformats.org/drawingml/2006/main">
              <a:ext uri="{FF2B5EF4-FFF2-40B4-BE49-F238E27FC236}">
                <a16:creationId xmlns:a16="http://schemas.microsoft.com/office/drawing/2014/main" id="{01B8CA24-A94A-460D-849B-747736C100A9}"/>
              </a:ext>
            </a:extLst>
          </p:cNvPr>
          <p:cNvSpPr>
            <a:spLocks xmlns:a="http://schemas.openxmlformats.org/drawingml/2006/main" noGrp="1"/>
          </p:cNvSpPr>
          <p:nvPr/>
        </p:nvSpPr>
        <p:spPr>
          <a:xfrm xmlns:a="http://schemas.openxmlformats.org/drawingml/2006/main">
            <a:off x="457200" y="4572000"/>
            <a:ext cx="66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0104232C-101C-400B-920B-16B6D8E4E4F8}"/>
              </a:ext>
            </a:extLst>
          </p:cNvPr>
          <p:cNvSpPr>
            <a:spLocks xmlns:a="http://schemas.openxmlformats.org/drawingml/2006/main" noGrp="1"/>
          </p:cNvSpPr>
          <p:nvPr/>
        </p:nvSpPr>
        <p:spPr>
          <a:xfrm xmlns:a="http://schemas.openxmlformats.org/drawingml/2006/main">
            <a:off x="1381125" y="455295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000000"/>
                </a:solidFill>
                <a:latin typeface="Arial"/>
                <a:ea typeface="Arial"/>
                <a:cs typeface="Arial"/>
              </a:defRPr>
            </a:pPr>
            <a:r>
              <a:rPr sz="2100" b="1">
                <a:solidFill>
                  <a:srgbClr val="000000"/>
                </a:solidFill>
                <a:latin typeface="Arial"/>
                <a:ea typeface="Arial"/>
                <a:cs typeface="Arial"/>
              </a:rPr>
              <a:t>Honest limits</a:t>
            </a:r>
          </a:p>
        </p:txBody>
      </p:sp>
      <p:sp>
        <p:nvSpPr>
          <p:cNvPr id="13" name="">
            <a:extLst xmlns:a="http://schemas.openxmlformats.org/drawingml/2006/main">
              <a:ext uri="{FF2B5EF4-FFF2-40B4-BE49-F238E27FC236}">
                <a16:creationId xmlns:a16="http://schemas.microsoft.com/office/drawing/2014/main" id="{CE613110-FB2B-4C76-ACD2-00BC5B84FCB7}"/>
              </a:ext>
            </a:extLst>
          </p:cNvPr>
          <p:cNvSpPr>
            <a:spLocks xmlns:a="http://schemas.openxmlformats.org/drawingml/2006/main" noGrp="1"/>
          </p:cNvSpPr>
          <p:nvPr/>
        </p:nvSpPr>
        <p:spPr>
          <a:xfrm xmlns:a="http://schemas.openxmlformats.org/drawingml/2006/main">
            <a:off x="3619500" y="4572000"/>
            <a:ext cx="7620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59616B"/>
                </a:solidFill>
                <a:latin typeface="Arial"/>
                <a:ea typeface="Arial"/>
                <a:cs typeface="Arial"/>
              </a:defRPr>
            </a:pPr>
            <a:r>
              <a:rPr sz="1725" b="0">
                <a:solidFill>
                  <a:srgbClr val="59616B"/>
                </a:solidFill>
                <a:latin typeface="Arial"/>
                <a:ea typeface="Arial"/>
                <a:cs typeface="Arial"/>
              </a:rPr>
              <a:t>Noise, unknown speech, and rare overconfidence remain the deployment risks.</a:t>
            </a:r>
          </a:p>
        </p:txBody>
      </p:sp>
      <p:sp>
        <p:nvSpPr>
          <p:cNvPr id="14" name="">
            <a:extLst xmlns:a="http://schemas.openxmlformats.org/drawingml/2006/main">
              <a:ext uri="{FF2B5EF4-FFF2-40B4-BE49-F238E27FC236}">
                <a16:creationId xmlns:a16="http://schemas.microsoft.com/office/drawing/2014/main" id="{8C828840-247A-45A7-A06F-2235DE218B58}"/>
              </a:ext>
            </a:extLst>
          </p:cNvPr>
          <p:cNvSpPr>
            <a:spLocks xmlns:a="http://schemas.openxmlformats.org/drawingml/2006/main" noGrp="1"/>
          </p:cNvSpPr>
          <p:nvPr/>
        </p:nvSpPr>
        <p:spPr>
          <a:xfrm xmlns:a="http://schemas.openxmlformats.org/drawingml/2006/main">
            <a:off x="457200" y="5810250"/>
            <a:ext cx="10763250" cy="552450"/>
          </a:xfrm>
          <a:prstGeom xmlns:a="http://schemas.openxmlformats.org/drawingml/2006/main" prst="rect">
            <a:avLst/>
          </a:prstGeom>
          <a:solidFill xmlns:a="http://schemas.openxmlformats.org/drawingml/2006/main">
            <a:srgbClr val="D0EDFA"/>
          </a:solidFill>
          <a:ln xmlns:a="http://schemas.openxmlformats.org/drawingml/2006/main" w="9525">
            <a:solidFill>
              <a:srgbClr val="3D8DFF"/>
            </a:solidFill>
            <a:prstDash val="solid"/>
          </a:ln>
        </p:spPr>
      </p:sp>
      <p:sp>
        <p:nvSpPr>
          <p:cNvPr id="15" name="">
            <a:extLst xmlns:a="http://schemas.openxmlformats.org/drawingml/2006/main">
              <a:ext uri="{FF2B5EF4-FFF2-40B4-BE49-F238E27FC236}">
                <a16:creationId xmlns:a16="http://schemas.microsoft.com/office/drawing/2014/main" id="{29108A4E-40E4-42E1-B038-82592295E370}"/>
              </a:ext>
            </a:extLst>
          </p:cNvPr>
          <p:cNvSpPr>
            <a:spLocks xmlns:a="http://schemas.openxmlformats.org/drawingml/2006/main" noGrp="1"/>
          </p:cNvSpPr>
          <p:nvPr/>
        </p:nvSpPr>
        <p:spPr>
          <a:xfrm xmlns:a="http://schemas.openxmlformats.org/drawingml/2006/main">
            <a:off x="685800" y="5953125"/>
            <a:ext cx="1028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000000"/>
                </a:solidFill>
                <a:latin typeface="Arial"/>
                <a:ea typeface="Arial"/>
                <a:cs typeface="Arial"/>
              </a:defRPr>
            </a:pPr>
            <a:r>
              <a:rPr sz="1650" b="1">
                <a:solidFill>
                  <a:srgbClr val="000000"/>
                </a:solidFill>
                <a:latin typeface="Arial"/>
                <a:ea typeface="Arial"/>
                <a:cs typeface="Arial"/>
              </a:rPr>
              <a:t>Reproducible: manifest, five runs, frozen weights, bootstrap, WAV gallery, CLI demo.</a:t>
            </a:r>
          </a:p>
        </p:txBody>
      </p:sp>
      <p:sp>
        <p:nvSpPr>
          <p:cNvPr id="16" name="">
            <a:extLst xmlns:a="http://schemas.openxmlformats.org/drawingml/2006/main">
              <a:ext uri="{FF2B5EF4-FFF2-40B4-BE49-F238E27FC236}">
                <a16:creationId xmlns:a16="http://schemas.microsoft.com/office/drawing/2014/main" id="{311FD109-C85B-41D6-BC27-9AFAB33FF50E}"/>
              </a:ext>
            </a:extLst>
          </p:cNvPr>
          <p:cNvSpPr>
            <a:spLocks xmlns:a="http://schemas.openxmlformats.org/drawingml/2006/main" noGrp="1"/>
          </p:cNvSpPr>
          <p:nvPr/>
        </p:nvSpPr>
        <p:spPr>
          <a:xfrm xmlns:a="http://schemas.openxmlformats.org/drawingml/2006/main">
            <a:off x="11239500" y="64770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59616B"/>
                </a:solidFill>
                <a:latin typeface="Arial"/>
                <a:ea typeface="Arial"/>
                <a:cs typeface="Arial"/>
              </a:defRPr>
            </a:pPr>
            <a:r>
              <a:rPr sz="1050" b="0">
                <a:solidFill>
                  <a:srgbClr val="59616B"/>
                </a:solidFill>
                <a:latin typeface="Arial"/>
                <a:ea typeface="Arial"/>
                <a:cs typeface="Arial"/>
              </a:rPr>
              <a:t>15</a:t>
            </a:r>
          </a:p>
        </p:txBody>
      </p:sp>
    </p:spTree>
    <p:extLst>
      <p:ext uri="{BB962C8B-B14F-4D97-AF65-F5344CB8AC3E}">
        <p14:creationId xmlns:p14="http://schemas.microsoft.com/office/powerpoint/2010/main" val="12829084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2026-08-26T17:25:31.4580000Z</dcterms:created>
  <dcterms:modified xsi:type="dcterms:W3CDTF">2026-08-26T17:25:31.4580000Z</dcterms:modified>
</coreProperties>
</file>